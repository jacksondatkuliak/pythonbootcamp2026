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94" r:id="rId1"/>
  </p:sldMasterIdLst>
  <p:notesMasterIdLst>
    <p:notesMasterId r:id="rId20"/>
  </p:notesMasterIdLst>
  <p:sldIdLst>
    <p:sldId id="256" r:id="rId2"/>
    <p:sldId id="276" r:id="rId3"/>
    <p:sldId id="277" r:id="rId4"/>
    <p:sldId id="290" r:id="rId5"/>
    <p:sldId id="278" r:id="rId6"/>
    <p:sldId id="288" r:id="rId7"/>
    <p:sldId id="285" r:id="rId8"/>
    <p:sldId id="286" r:id="rId9"/>
    <p:sldId id="262" r:id="rId10"/>
    <p:sldId id="291" r:id="rId11"/>
    <p:sldId id="261" r:id="rId12"/>
    <p:sldId id="266" r:id="rId13"/>
    <p:sldId id="263" r:id="rId14"/>
    <p:sldId id="287" r:id="rId15"/>
    <p:sldId id="257" r:id="rId16"/>
    <p:sldId id="292" r:id="rId17"/>
    <p:sldId id="267" r:id="rId18"/>
    <p:sldId id="28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574"/>
    <p:restoredTop sz="86950"/>
  </p:normalViewPr>
  <p:slideViewPr>
    <p:cSldViewPr snapToGrid="0" snapToObjects="1">
      <p:cViewPr varScale="1">
        <p:scale>
          <a:sx n="106" d="100"/>
          <a:sy n="106" d="100"/>
        </p:scale>
        <p:origin x="47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9A0B7E-B595-B14C-B05F-40313997F4EC}" type="datetimeFigureOut">
              <a:rPr lang="en-US" smtClean="0"/>
              <a:t>5/11/26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7A27FD-C524-254A-A05F-2F794142324C}" type="slidenum">
              <a:rPr lang="en-US" smtClean="0"/>
              <a:t>‹#›</a:t>
            </a:fld>
            <a:endParaRPr lang="en-US"/>
          </a:p>
        </p:txBody>
      </p:sp>
    </p:spTree>
    <p:extLst>
      <p:ext uri="{BB962C8B-B14F-4D97-AF65-F5344CB8AC3E}">
        <p14:creationId xmlns:p14="http://schemas.microsoft.com/office/powerpoint/2010/main" val="975208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today we are going to focus on getting everyone setup with Python. Then we will will do the group challenge, and exercises after if we have time.</a:t>
            </a:r>
          </a:p>
        </p:txBody>
      </p:sp>
      <p:sp>
        <p:nvSpPr>
          <p:cNvPr id="4" name="Slide Number Placeholder 3"/>
          <p:cNvSpPr>
            <a:spLocks noGrp="1"/>
          </p:cNvSpPr>
          <p:nvPr>
            <p:ph type="sldNum" sz="quarter" idx="5"/>
          </p:nvPr>
        </p:nvSpPr>
        <p:spPr/>
        <p:txBody>
          <a:bodyPr/>
          <a:lstStyle/>
          <a:p>
            <a:fld id="{A57A27FD-C524-254A-A05F-2F794142324C}" type="slidenum">
              <a:rPr lang="en-US" smtClean="0"/>
              <a:t>3</a:t>
            </a:fld>
            <a:endParaRPr lang="en-US"/>
          </a:p>
        </p:txBody>
      </p:sp>
    </p:spTree>
    <p:extLst>
      <p:ext uri="{BB962C8B-B14F-4D97-AF65-F5344CB8AC3E}">
        <p14:creationId xmlns:p14="http://schemas.microsoft.com/office/powerpoint/2010/main" val="1506217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1E971-E891-C4BA-D0D8-184421F8C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E5608B-1ECE-2D28-0A02-0122C2FAD5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88E2E6-F27E-5D4D-4428-4C65DE18F4C4}"/>
              </a:ext>
            </a:extLst>
          </p:cNvPr>
          <p:cNvSpPr>
            <a:spLocks noGrp="1"/>
          </p:cNvSpPr>
          <p:nvPr>
            <p:ph type="body" idx="1"/>
          </p:nvPr>
        </p:nvSpPr>
        <p:spPr/>
        <p:txBody>
          <a:bodyPr/>
          <a:lstStyle/>
          <a:p>
            <a:r>
              <a:rPr lang="en-US" dirty="0"/>
              <a:t>In the past, students have started to notice the usefulness of the concepts covered in the later sessions around July – mind them and you’ll be thanking yourself later.</a:t>
            </a:r>
          </a:p>
        </p:txBody>
      </p:sp>
      <p:sp>
        <p:nvSpPr>
          <p:cNvPr id="4" name="Slide Number Placeholder 3">
            <a:extLst>
              <a:ext uri="{FF2B5EF4-FFF2-40B4-BE49-F238E27FC236}">
                <a16:creationId xmlns:a16="http://schemas.microsoft.com/office/drawing/2014/main" id="{74E57D08-B789-DC50-12EE-15CFC17AE017}"/>
              </a:ext>
            </a:extLst>
          </p:cNvPr>
          <p:cNvSpPr>
            <a:spLocks noGrp="1"/>
          </p:cNvSpPr>
          <p:nvPr>
            <p:ph type="sldNum" sz="quarter" idx="5"/>
          </p:nvPr>
        </p:nvSpPr>
        <p:spPr/>
        <p:txBody>
          <a:bodyPr/>
          <a:lstStyle/>
          <a:p>
            <a:fld id="{A57A27FD-C524-254A-A05F-2F794142324C}" type="slidenum">
              <a:rPr lang="en-US" smtClean="0"/>
              <a:t>4</a:t>
            </a:fld>
            <a:endParaRPr lang="en-US"/>
          </a:p>
        </p:txBody>
      </p:sp>
    </p:spTree>
    <p:extLst>
      <p:ext uri="{BB962C8B-B14F-4D97-AF65-F5344CB8AC3E}">
        <p14:creationId xmlns:p14="http://schemas.microsoft.com/office/powerpoint/2010/main" val="2306822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Ask how many people have done python coding for: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Undergraduate research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School/class project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Personal projects/for fun</a:t>
            </a:r>
          </a:p>
          <a:p>
            <a:endParaRPr lang="en-US" dirty="0"/>
          </a:p>
        </p:txBody>
      </p:sp>
      <p:sp>
        <p:nvSpPr>
          <p:cNvPr id="4" name="Slide Number Placeholder 3"/>
          <p:cNvSpPr>
            <a:spLocks noGrp="1"/>
          </p:cNvSpPr>
          <p:nvPr>
            <p:ph type="sldNum" sz="quarter" idx="5"/>
          </p:nvPr>
        </p:nvSpPr>
        <p:spPr/>
        <p:txBody>
          <a:bodyPr/>
          <a:lstStyle/>
          <a:p>
            <a:fld id="{A57A27FD-C524-254A-A05F-2F794142324C}" type="slidenum">
              <a:rPr lang="en-US" smtClean="0"/>
              <a:t>5</a:t>
            </a:fld>
            <a:endParaRPr lang="en-US"/>
          </a:p>
        </p:txBody>
      </p:sp>
    </p:spTree>
    <p:extLst>
      <p:ext uri="{BB962C8B-B14F-4D97-AF65-F5344CB8AC3E}">
        <p14:creationId xmlns:p14="http://schemas.microsoft.com/office/powerpoint/2010/main" val="16649494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E2503-03B6-3C1E-6833-9C4ED22EB0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7B953F-9645-6855-D271-1CBAFFE139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53F8D5-95A4-EA17-A7DA-B54746CA0D12}"/>
              </a:ext>
            </a:extLst>
          </p:cNvPr>
          <p:cNvSpPr>
            <a:spLocks noGrp="1"/>
          </p:cNvSpPr>
          <p:nvPr>
            <p:ph type="body" idx="1"/>
          </p:nvPr>
        </p:nvSpPr>
        <p:spPr/>
        <p:txBody>
          <a:bodyPr/>
          <a:lstStyle/>
          <a:p>
            <a:r>
              <a:rPr lang="en-US" dirty="0"/>
              <a:t>We will provide some notebooks to learn and review material, but many of the exercises and group challenges are best done in text files. I encourage everyone to practice using text files in this bootcamp, since most of you are less familiar with that way of coding.</a:t>
            </a:r>
          </a:p>
          <a:p>
            <a:endParaRPr lang="en-US" dirty="0"/>
          </a:p>
          <a:p>
            <a:r>
              <a:rPr lang="en-US" dirty="0"/>
              <a:t>Ask who the person that responded they have written shell scripts before is. Have that person help guide people through </a:t>
            </a:r>
            <a:r>
              <a:rPr lang="en-US" dirty="0" err="1"/>
              <a:t>Bashlandia</a:t>
            </a:r>
            <a:endParaRPr lang="en-US" dirty="0"/>
          </a:p>
        </p:txBody>
      </p:sp>
      <p:sp>
        <p:nvSpPr>
          <p:cNvPr id="4" name="Slide Number Placeholder 3">
            <a:extLst>
              <a:ext uri="{FF2B5EF4-FFF2-40B4-BE49-F238E27FC236}">
                <a16:creationId xmlns:a16="http://schemas.microsoft.com/office/drawing/2014/main" id="{643BA0E9-0DC0-201E-B7BA-EE7F5D49F807}"/>
              </a:ext>
            </a:extLst>
          </p:cNvPr>
          <p:cNvSpPr>
            <a:spLocks noGrp="1"/>
          </p:cNvSpPr>
          <p:nvPr>
            <p:ph type="sldNum" sz="quarter" idx="5"/>
          </p:nvPr>
        </p:nvSpPr>
        <p:spPr/>
        <p:txBody>
          <a:bodyPr/>
          <a:lstStyle/>
          <a:p>
            <a:fld id="{A57A27FD-C524-254A-A05F-2F794142324C}" type="slidenum">
              <a:rPr lang="en-US" smtClean="0"/>
              <a:t>6</a:t>
            </a:fld>
            <a:endParaRPr lang="en-US"/>
          </a:p>
        </p:txBody>
      </p:sp>
    </p:spTree>
    <p:extLst>
      <p:ext uri="{BB962C8B-B14F-4D97-AF65-F5344CB8AC3E}">
        <p14:creationId xmlns:p14="http://schemas.microsoft.com/office/powerpoint/2010/main" val="18710779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show them how to download the course material after we talk about terminal commands.</a:t>
            </a:r>
          </a:p>
        </p:txBody>
      </p:sp>
      <p:sp>
        <p:nvSpPr>
          <p:cNvPr id="4" name="Slide Number Placeholder 3"/>
          <p:cNvSpPr>
            <a:spLocks noGrp="1"/>
          </p:cNvSpPr>
          <p:nvPr>
            <p:ph type="sldNum" sz="quarter" idx="5"/>
          </p:nvPr>
        </p:nvSpPr>
        <p:spPr/>
        <p:txBody>
          <a:bodyPr/>
          <a:lstStyle/>
          <a:p>
            <a:fld id="{A57A27FD-C524-254A-A05F-2F794142324C}" type="slidenum">
              <a:rPr lang="en-US" smtClean="0"/>
              <a:t>7</a:t>
            </a:fld>
            <a:endParaRPr lang="en-US"/>
          </a:p>
        </p:txBody>
      </p:sp>
    </p:spTree>
    <p:extLst>
      <p:ext uri="{BB962C8B-B14F-4D97-AF65-F5344CB8AC3E}">
        <p14:creationId xmlns:p14="http://schemas.microsoft.com/office/powerpoint/2010/main" val="4285958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Developed Python and a good start for a refresher or new to Python, 2) </a:t>
            </a:r>
            <a:r>
              <a:rPr lang="en-US" dirty="0" err="1"/>
              <a:t>LearnPython</a:t>
            </a:r>
            <a:r>
              <a:rPr lang="en-US" dirty="0"/>
              <a:t> is an app and website and a good way to learn syntax and get it running, 3) </a:t>
            </a:r>
            <a:r>
              <a:rPr lang="en-US" dirty="0" err="1"/>
              <a:t>CodeAcademy</a:t>
            </a:r>
            <a:r>
              <a:rPr lang="en-US" dirty="0"/>
              <a:t> is a great tool too, plenty of resources</a:t>
            </a:r>
          </a:p>
          <a:p>
            <a:endParaRPr lang="en-US" dirty="0"/>
          </a:p>
        </p:txBody>
      </p:sp>
      <p:sp>
        <p:nvSpPr>
          <p:cNvPr id="4" name="Slide Number Placeholder 3"/>
          <p:cNvSpPr>
            <a:spLocks noGrp="1"/>
          </p:cNvSpPr>
          <p:nvPr>
            <p:ph type="sldNum" sz="quarter" idx="5"/>
          </p:nvPr>
        </p:nvSpPr>
        <p:spPr/>
        <p:txBody>
          <a:bodyPr/>
          <a:lstStyle/>
          <a:p>
            <a:fld id="{A57A27FD-C524-254A-A05F-2F794142324C}" type="slidenum">
              <a:rPr lang="en-US" smtClean="0"/>
              <a:t>8</a:t>
            </a:fld>
            <a:endParaRPr lang="en-US"/>
          </a:p>
        </p:txBody>
      </p:sp>
    </p:spTree>
    <p:extLst>
      <p:ext uri="{BB962C8B-B14F-4D97-AF65-F5344CB8AC3E}">
        <p14:creationId xmlns:p14="http://schemas.microsoft.com/office/powerpoint/2010/main" val="4985882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recommend VS code because its lightweight and it has a huge number of extensions that add functionality for many programming languages and development environments. It also integrates really well with WSL if you are on Windows.</a:t>
            </a:r>
          </a:p>
        </p:txBody>
      </p:sp>
      <p:sp>
        <p:nvSpPr>
          <p:cNvPr id="4" name="Slide Number Placeholder 3"/>
          <p:cNvSpPr>
            <a:spLocks noGrp="1"/>
          </p:cNvSpPr>
          <p:nvPr>
            <p:ph type="sldNum" sz="quarter" idx="5"/>
          </p:nvPr>
        </p:nvSpPr>
        <p:spPr/>
        <p:txBody>
          <a:bodyPr/>
          <a:lstStyle/>
          <a:p>
            <a:fld id="{A57A27FD-C524-254A-A05F-2F794142324C}" type="slidenum">
              <a:rPr lang="en-US" smtClean="0"/>
              <a:t>9</a:t>
            </a:fld>
            <a:endParaRPr lang="en-US"/>
          </a:p>
        </p:txBody>
      </p:sp>
    </p:spTree>
    <p:extLst>
      <p:ext uri="{BB962C8B-B14F-4D97-AF65-F5344CB8AC3E}">
        <p14:creationId xmlns:p14="http://schemas.microsoft.com/office/powerpoint/2010/main" val="5776531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AD044-38F6-29C3-BD0C-F5BD29244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EF071D-8419-ABD8-479D-2E4D7C3AFF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DCEF03-865B-16FB-8DF0-909BE64F3647}"/>
              </a:ext>
            </a:extLst>
          </p:cNvPr>
          <p:cNvSpPr>
            <a:spLocks noGrp="1"/>
          </p:cNvSpPr>
          <p:nvPr>
            <p:ph type="body" idx="1"/>
          </p:nvPr>
        </p:nvSpPr>
        <p:spPr/>
        <p:txBody>
          <a:bodyPr/>
          <a:lstStyle/>
          <a:p>
            <a:r>
              <a:rPr lang="en-US" dirty="0"/>
              <a:t>As mentioned before, a text editor is a useful tool when coding with Python as not everything can be done in notebooks. If you’ve ever written a file that ends in .</a:t>
            </a:r>
            <a:r>
              <a:rPr lang="en-US" dirty="0" err="1"/>
              <a:t>py</a:t>
            </a:r>
            <a:r>
              <a:rPr lang="en-US" dirty="0"/>
              <a:t>, that’s a python text file while notebooks typically end in .</a:t>
            </a:r>
            <a:r>
              <a:rPr lang="en-US" dirty="0" err="1"/>
              <a:t>ipynb</a:t>
            </a:r>
            <a:r>
              <a:rPr lang="en-US" dirty="0"/>
              <a:t>. IDE’s differ from notebooks in that they will provide you with debugging and other language features while a </a:t>
            </a:r>
            <a:r>
              <a:rPr lang="en-US" dirty="0" err="1"/>
              <a:t>Jupyter</a:t>
            </a:r>
            <a:r>
              <a:rPr lang="en-US" dirty="0"/>
              <a:t> notebook is just running your code. IDE’s are sometimes built specifically for one programming language. Whereas with other text editors, you can use multiple languages. </a:t>
            </a:r>
          </a:p>
        </p:txBody>
      </p:sp>
      <p:sp>
        <p:nvSpPr>
          <p:cNvPr id="4" name="Slide Number Placeholder 3">
            <a:extLst>
              <a:ext uri="{FF2B5EF4-FFF2-40B4-BE49-F238E27FC236}">
                <a16:creationId xmlns:a16="http://schemas.microsoft.com/office/drawing/2014/main" id="{7A947096-3B59-0CC9-6F0D-8A650482DDC7}"/>
              </a:ext>
            </a:extLst>
          </p:cNvPr>
          <p:cNvSpPr>
            <a:spLocks noGrp="1"/>
          </p:cNvSpPr>
          <p:nvPr>
            <p:ph type="sldNum" sz="quarter" idx="5"/>
          </p:nvPr>
        </p:nvSpPr>
        <p:spPr/>
        <p:txBody>
          <a:bodyPr/>
          <a:lstStyle/>
          <a:p>
            <a:fld id="{A57A27FD-C524-254A-A05F-2F794142324C}" type="slidenum">
              <a:rPr lang="en-US" smtClean="0"/>
              <a:t>10</a:t>
            </a:fld>
            <a:endParaRPr lang="en-US"/>
          </a:p>
        </p:txBody>
      </p:sp>
    </p:spTree>
    <p:extLst>
      <p:ext uri="{BB962C8B-B14F-4D97-AF65-F5344CB8AC3E}">
        <p14:creationId xmlns:p14="http://schemas.microsoft.com/office/powerpoint/2010/main" val="11144532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default MacOS terminal is bad, iTerm2 allows you to have different terminal tabs and switch between them with </a:t>
            </a:r>
            <a:r>
              <a:rPr lang="en-US" dirty="0" err="1"/>
              <a:t>keybinds</a:t>
            </a:r>
            <a:r>
              <a:rPr lang="en-US" dirty="0"/>
              <a:t>. </a:t>
            </a:r>
          </a:p>
        </p:txBody>
      </p:sp>
      <p:sp>
        <p:nvSpPr>
          <p:cNvPr id="4" name="Slide Number Placeholder 3"/>
          <p:cNvSpPr>
            <a:spLocks noGrp="1"/>
          </p:cNvSpPr>
          <p:nvPr>
            <p:ph type="sldNum" sz="quarter" idx="5"/>
          </p:nvPr>
        </p:nvSpPr>
        <p:spPr/>
        <p:txBody>
          <a:bodyPr/>
          <a:lstStyle/>
          <a:p>
            <a:fld id="{A57A27FD-C524-254A-A05F-2F794142324C}" type="slidenum">
              <a:rPr lang="en-US" smtClean="0"/>
              <a:t>11</a:t>
            </a:fld>
            <a:endParaRPr lang="en-US"/>
          </a:p>
        </p:txBody>
      </p:sp>
    </p:spTree>
    <p:extLst>
      <p:ext uri="{BB962C8B-B14F-4D97-AF65-F5344CB8AC3E}">
        <p14:creationId xmlns:p14="http://schemas.microsoft.com/office/powerpoint/2010/main" val="37957986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We’ll sit down at the end of this session with anyone running windows and help them set up the Windows Subsystem for Linux (WSL)</a:t>
            </a:r>
          </a:p>
        </p:txBody>
      </p:sp>
      <p:sp>
        <p:nvSpPr>
          <p:cNvPr id="4" name="Slide Number Placeholder 3"/>
          <p:cNvSpPr>
            <a:spLocks noGrp="1"/>
          </p:cNvSpPr>
          <p:nvPr>
            <p:ph type="sldNum" sz="quarter" idx="5"/>
          </p:nvPr>
        </p:nvSpPr>
        <p:spPr/>
        <p:txBody>
          <a:bodyPr/>
          <a:lstStyle/>
          <a:p>
            <a:fld id="{A57A27FD-C524-254A-A05F-2F794142324C}" type="slidenum">
              <a:rPr lang="en-US" smtClean="0"/>
              <a:t>12</a:t>
            </a:fld>
            <a:endParaRPr lang="en-US"/>
          </a:p>
        </p:txBody>
      </p:sp>
    </p:spTree>
    <p:extLst>
      <p:ext uri="{BB962C8B-B14F-4D97-AF65-F5344CB8AC3E}">
        <p14:creationId xmlns:p14="http://schemas.microsoft.com/office/powerpoint/2010/main" val="884930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won’t be using this in the bootcamp but is a good tool to use. It’s an example of a cloud-computing server, meaning that when you run a notebook on </a:t>
            </a:r>
            <a:r>
              <a:rPr lang="en-US" dirty="0" err="1"/>
              <a:t>SciServer</a:t>
            </a:r>
            <a:r>
              <a:rPr lang="en-US" dirty="0"/>
              <a:t>, instead of it being ran by your computer, it’s being ran by their own server. You will probably user </a:t>
            </a:r>
            <a:r>
              <a:rPr lang="en-US" dirty="0" err="1"/>
              <a:t>SciServer</a:t>
            </a:r>
            <a:r>
              <a:rPr lang="en-US" dirty="0"/>
              <a:t> or OSC in your research or in an astronomy class at some point.</a:t>
            </a:r>
          </a:p>
        </p:txBody>
      </p:sp>
      <p:sp>
        <p:nvSpPr>
          <p:cNvPr id="4" name="Slide Number Placeholder 3"/>
          <p:cNvSpPr>
            <a:spLocks noGrp="1"/>
          </p:cNvSpPr>
          <p:nvPr>
            <p:ph type="sldNum" sz="quarter" idx="5"/>
          </p:nvPr>
        </p:nvSpPr>
        <p:spPr/>
        <p:txBody>
          <a:bodyPr/>
          <a:lstStyle/>
          <a:p>
            <a:fld id="{A57A27FD-C524-254A-A05F-2F794142324C}" type="slidenum">
              <a:rPr lang="en-US" smtClean="0"/>
              <a:t>13</a:t>
            </a:fld>
            <a:endParaRPr lang="en-US"/>
          </a:p>
        </p:txBody>
      </p:sp>
    </p:spTree>
    <p:extLst>
      <p:ext uri="{BB962C8B-B14F-4D97-AF65-F5344CB8AC3E}">
        <p14:creationId xmlns:p14="http://schemas.microsoft.com/office/powerpoint/2010/main" val="37983757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python 2.7 is deprecated (no longer supported) because the number of stubborn researchers still using it is surprisingly high. If given code that runs on 2.7, they should come talk to us.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you haven’t already, you’ll need to get Python. We won’t be going over Python itself today, but this is just so you guys have some time to get familiar with the tools around programming and have time to download and install your platform of choice. If you don’t know if you have Python, go to this link and it will install Python, Anaconda and </a:t>
            </a:r>
            <a:r>
              <a:rPr lang="en-US" dirty="0" err="1"/>
              <a:t>Jupyter</a:t>
            </a:r>
            <a:r>
              <a:rPr lang="en-US" dirty="0"/>
              <a:t> Notebooks for you. I use Anaconda to get to </a:t>
            </a:r>
            <a:r>
              <a:rPr lang="en-US" dirty="0" err="1"/>
              <a:t>Jupyter</a:t>
            </a:r>
            <a:r>
              <a:rPr lang="en-US" dirty="0"/>
              <a:t> Notebooks and Spyder, so it’s kind of like a main menu of all the different ways you can run Python. We will talk more in depth about Anaconda and things you can do with it later in the bootcamp course. Python 2.7 and below are deprecated, which means the programmers who run Python do not offer support or code for any versions older than Python 2.7. So, again, this website will let you download Python if it’s not already installed and update it if your machine has it pre-installed with the latest version of Python.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If you have a Windows machine, you should be able to install anaconda in your WSL environment and still have the full graphical user interface. Software development is typically a lot easier to manage on Linux than Windows, so I strongly recommend that you figure out how to get anaconda setup in a Linux environment now to save yourself trouble later.</a:t>
            </a:r>
          </a:p>
          <a:p>
            <a:endParaRPr lang="en-US" dirty="0"/>
          </a:p>
        </p:txBody>
      </p:sp>
      <p:sp>
        <p:nvSpPr>
          <p:cNvPr id="4" name="Slide Number Placeholder 3"/>
          <p:cNvSpPr>
            <a:spLocks noGrp="1"/>
          </p:cNvSpPr>
          <p:nvPr>
            <p:ph type="sldNum" sz="quarter" idx="5"/>
          </p:nvPr>
        </p:nvSpPr>
        <p:spPr/>
        <p:txBody>
          <a:bodyPr/>
          <a:lstStyle/>
          <a:p>
            <a:fld id="{A57A27FD-C524-254A-A05F-2F794142324C}" type="slidenum">
              <a:rPr lang="en-US" smtClean="0"/>
              <a:t>14</a:t>
            </a:fld>
            <a:endParaRPr lang="en-US"/>
          </a:p>
        </p:txBody>
      </p:sp>
    </p:spTree>
    <p:extLst>
      <p:ext uri="{BB962C8B-B14F-4D97-AF65-F5344CB8AC3E}">
        <p14:creationId xmlns:p14="http://schemas.microsoft.com/office/powerpoint/2010/main" val="35675399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7A27FD-C524-254A-A05F-2F794142324C}" type="slidenum">
              <a:rPr lang="en-US" smtClean="0"/>
              <a:t>15</a:t>
            </a:fld>
            <a:endParaRPr lang="en-US"/>
          </a:p>
        </p:txBody>
      </p:sp>
    </p:spTree>
    <p:extLst>
      <p:ext uri="{BB962C8B-B14F-4D97-AF65-F5344CB8AC3E}">
        <p14:creationId xmlns:p14="http://schemas.microsoft.com/office/powerpoint/2010/main" val="41354213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D21D6-51A8-CDD5-A7EA-5871195C8E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DED4D1-1A48-86FE-497A-6DC3C41DC9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39D5E5-00EE-1B86-CB3F-C3BFB37BFEBD}"/>
              </a:ext>
            </a:extLst>
          </p:cNvPr>
          <p:cNvSpPr>
            <a:spLocks noGrp="1"/>
          </p:cNvSpPr>
          <p:nvPr>
            <p:ph type="body" idx="1"/>
          </p:nvPr>
        </p:nvSpPr>
        <p:spPr/>
        <p:txBody>
          <a:bodyPr/>
          <a:lstStyle/>
          <a:p>
            <a:r>
              <a:rPr lang="en-US" dirty="0"/>
              <a:t>This bootcamp is for YOU – there are no grades, no penalty if you don’t get through all the material. We want to start developing good habits that you will rely on the rest of your career.</a:t>
            </a:r>
          </a:p>
          <a:p>
            <a:endParaRPr lang="en-US" dirty="0"/>
          </a:p>
          <a:p>
            <a:r>
              <a:rPr lang="en-US" dirty="0"/>
              <a:t>Note on LLMs: They can be incredibly useful for programming once you know you way around Python, but you need to be the software engineer. Do not vibe code research projects. The companies pushing AI/LLMs can often afford to have mistakes in their code. We as scientists cannot.</a:t>
            </a:r>
          </a:p>
        </p:txBody>
      </p:sp>
      <p:sp>
        <p:nvSpPr>
          <p:cNvPr id="4" name="Slide Number Placeholder 3">
            <a:extLst>
              <a:ext uri="{FF2B5EF4-FFF2-40B4-BE49-F238E27FC236}">
                <a16:creationId xmlns:a16="http://schemas.microsoft.com/office/drawing/2014/main" id="{4E4F9606-7E65-1CB5-4404-FF3CF1B30954}"/>
              </a:ext>
            </a:extLst>
          </p:cNvPr>
          <p:cNvSpPr>
            <a:spLocks noGrp="1"/>
          </p:cNvSpPr>
          <p:nvPr>
            <p:ph type="sldNum" sz="quarter" idx="5"/>
          </p:nvPr>
        </p:nvSpPr>
        <p:spPr/>
        <p:txBody>
          <a:bodyPr/>
          <a:lstStyle/>
          <a:p>
            <a:fld id="{A57A27FD-C524-254A-A05F-2F794142324C}" type="slidenum">
              <a:rPr lang="en-US" smtClean="0"/>
              <a:t>16</a:t>
            </a:fld>
            <a:endParaRPr lang="en-US"/>
          </a:p>
        </p:txBody>
      </p:sp>
    </p:spTree>
    <p:extLst>
      <p:ext uri="{BB962C8B-B14F-4D97-AF65-F5344CB8AC3E}">
        <p14:creationId xmlns:p14="http://schemas.microsoft.com/office/powerpoint/2010/main" val="33738412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680322" y="2733709"/>
            <a:ext cx="8144134" cy="1373070"/>
          </a:xfrm>
        </p:spPr>
        <p:txBody>
          <a:bodyPr anchor="b">
            <a:noAutofit/>
          </a:bodyPr>
          <a:lstStyle>
            <a:lvl1pPr algn="r">
              <a:defRPr sz="5400">
                <a:latin typeface="Times New Roman" charset="0"/>
                <a:ea typeface="Times New Roman" charset="0"/>
                <a:cs typeface="Times New Roman" charset="0"/>
              </a:defRPr>
            </a:lvl1pPr>
          </a:lstStyle>
          <a:p>
            <a:r>
              <a:rPr lang="en-US" dirty="0"/>
              <a:t>Click to edit Master title style</a:t>
            </a:r>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51673806-0BCD-1F42-BAA8-2011034B3C6A}" type="datetimeFigureOut">
              <a:rPr lang="en-US" smtClean="0"/>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255346" y="2750337"/>
            <a:ext cx="1171888" cy="1356442"/>
          </a:xfrm>
        </p:spPr>
        <p:txBody>
          <a:bodyPr/>
          <a:lstStyle/>
          <a:p>
            <a:fld id="{6E91FEF2-9535-6649-9966-C0D43DCC741C}" type="slidenum">
              <a:rPr lang="en-US" smtClean="0"/>
              <a:t>‹#›</a:t>
            </a:fld>
            <a:endParaRPr lang="en-US"/>
          </a:p>
        </p:txBody>
      </p: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673806-0BCD-1F42-BAA8-2011034B3C6A}" type="datetimeFigureOut">
              <a:rPr lang="en-US" smtClean="0"/>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91FEF2-9535-6649-9966-C0D43DCC741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673806-0BCD-1F42-BAA8-2011034B3C6A}" type="datetimeFigureOut">
              <a:rPr lang="en-US" smtClean="0"/>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729455" y="2869895"/>
            <a:ext cx="1154151" cy="1090789"/>
          </a:xfrm>
        </p:spPr>
        <p:txBody>
          <a:bodyPr/>
          <a:lstStyle/>
          <a:p>
            <a:fld id="{6E91FEF2-9535-6649-9966-C0D43DCC741C}" type="slidenum">
              <a:rPr lang="en-US" smtClean="0"/>
              <a:t>‹#›</a:t>
            </a:fld>
            <a:endParaRPr lang="en-US"/>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1673806-0BCD-1F42-BAA8-2011034B3C6A}" type="datetimeFigureOut">
              <a:rPr lang="en-US" smtClean="0"/>
              <a:t>5/11/26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91FEF2-9535-6649-9966-C0D43DCC741C}" type="slidenum">
              <a:rPr lang="en-US" smtClean="0"/>
              <a:t>‹#›</a:t>
            </a:fld>
            <a:endParaRPr lang="en-US"/>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1673806-0BCD-1F42-BAA8-2011034B3C6A}" type="datetimeFigureOut">
              <a:rPr lang="en-US" smtClean="0"/>
              <a:t>5/11/26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91FEF2-9535-6649-9966-C0D43DCC741C}" type="slidenum">
              <a:rPr lang="en-US" smtClean="0"/>
              <a:t>‹#›</a:t>
            </a:fld>
            <a:endParaRPr lang="en-US"/>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1673806-0BCD-1F42-BAA8-2011034B3C6A}" type="datetimeFigureOut">
              <a:rPr lang="en-US" smtClean="0"/>
              <a:t>5/11/26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91FEF2-9535-6649-9966-C0D43DCC741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51673806-0BCD-1F42-BAA8-2011034B3C6A}" type="datetimeFigureOut">
              <a:rPr lang="en-US" smtClean="0"/>
              <a:t>5/11/26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91FEF2-9535-6649-9966-C0D43DCC741C}" type="slidenum">
              <a:rPr lang="en-US" smtClean="0"/>
              <a:t>‹#›</a:t>
            </a:fld>
            <a:endParaRPr lang="en-US"/>
          </a:p>
        </p:txBody>
      </p:sp>
    </p:spTree>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673806-0BCD-1F42-BAA8-2011034B3C6A}" type="datetimeFigureOut">
              <a:rPr lang="en-US" smtClean="0"/>
              <a:t>5/11/26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91FEF2-9535-6649-9966-C0D43DCC741C}" type="slidenum">
              <a:rPr lang="en-US" smtClean="0"/>
              <a:t>‹#›</a:t>
            </a:fld>
            <a:endParaRPr lang="en-US"/>
          </a:p>
        </p:txBody>
      </p:sp>
    </p:spTree>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673806-0BCD-1F42-BAA8-2011034B3C6A}" type="datetimeFigureOut">
              <a:rPr lang="en-US" smtClean="0"/>
              <a:t>5/11/26</a:t>
            </a:fld>
            <a:endParaRPr lang="en-US"/>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E91FEF2-9535-6649-9966-C0D43DCC741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673806-0BCD-1F42-BAA8-2011034B3C6A}" type="datetimeFigureOut">
              <a:rPr lang="en-US" smtClean="0"/>
              <a:t>5/11/26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309"/>
            <a:ext cx="1154151" cy="1090789"/>
          </a:xfrm>
        </p:spPr>
        <p:txBody>
          <a:bodyPr/>
          <a:lstStyle/>
          <a:p>
            <a:fld id="{6E91FEF2-9535-6649-9966-C0D43DCC741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673806-0BCD-1F42-BAA8-2011034B3C6A}" type="datetimeFigureOut">
              <a:rPr lang="en-US" smtClean="0"/>
              <a:t>5/11/26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6E91FEF2-9535-6649-9966-C0D43DCC741C}"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673806-0BCD-1F42-BAA8-2011034B3C6A}" type="datetimeFigureOut">
              <a:rPr lang="en-US" smtClean="0"/>
              <a:t>5/11/26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6E91FEF2-9535-6649-9966-C0D43DCC741C}" type="slidenum">
              <a:rPr lang="en-US" smtClean="0"/>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673806-0BCD-1F42-BAA8-2011034B3C6A}" type="datetimeFigureOut">
              <a:rPr lang="en-US" smtClean="0"/>
              <a:t>5/11/26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6E91FEF2-9535-6649-9966-C0D43DCC741C}"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1673806-0BCD-1F42-BAA8-2011034B3C6A}" type="datetimeFigureOut">
              <a:rPr lang="en-US" smtClean="0"/>
              <a:t>5/11/26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91FEF2-9535-6649-9966-C0D43DCC741C}"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Drag picture to placeholder or click icon to add</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Drag picture to placeholder or click icon to add</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Drag picture to placeholder or click icon to add</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1673806-0BCD-1F42-BAA8-2011034B3C6A}" type="datetimeFigureOut">
              <a:rPr lang="en-US" smtClean="0"/>
              <a:t>5/11/26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91FEF2-9535-6649-9966-C0D43DCC741C}"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673806-0BCD-1F42-BAA8-2011034B3C6A}" type="datetimeFigureOut">
              <a:rPr lang="en-US" smtClean="0"/>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91FEF2-9535-6649-9966-C0D43DCC741C}"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51673806-0BCD-1F42-BAA8-2011034B3C6A}" type="datetimeFigureOut">
              <a:rPr lang="en-US" smtClean="0"/>
              <a:t>5/11/26</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E91FEF2-9535-6649-9966-C0D43DCC741C}" type="slidenum">
              <a:rPr lang="en-US" smtClean="0"/>
              <a:t>‹#›</a:t>
            </a:fld>
            <a:endParaRPr lang="en-US"/>
          </a:p>
        </p:txBody>
      </p:sp>
    </p:spTree>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latin typeface="Times New Roman" charset="0"/>
                <a:ea typeface="Times New Roman" charset="0"/>
                <a:cs typeface="Times New Roman" charset="0"/>
              </a:defRPr>
            </a:lvl1pPr>
          </a:lstStyle>
          <a:p>
            <a:fld id="{51673806-0BCD-1F42-BAA8-2011034B3C6A}" type="datetimeFigureOut">
              <a:rPr lang="en-US" smtClean="0"/>
              <a:pPr/>
              <a:t>5/11/26</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latin typeface="Times New Roman" charset="0"/>
                <a:ea typeface="Times New Roman" charset="0"/>
                <a:cs typeface="Times New Roman" charset="0"/>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latin typeface="Times New Roman" charset="0"/>
                <a:ea typeface="Times New Roman" charset="0"/>
                <a:cs typeface="Times New Roman" charset="0"/>
              </a:defRPr>
            </a:lvl1pPr>
          </a:lstStyle>
          <a:p>
            <a:fld id="{6E91FEF2-9535-6649-9966-C0D43DCC741C}" type="slidenum">
              <a:rPr lang="en-US" smtClean="0"/>
              <a:pPr/>
              <a:t>‹#›</a:t>
            </a:fld>
            <a:endParaRPr lang="en-US" dirty="0"/>
          </a:p>
        </p:txBody>
      </p:sp>
    </p:spTree>
    <p:extLst>
      <p:ext uri="{BB962C8B-B14F-4D97-AF65-F5344CB8AC3E}">
        <p14:creationId xmlns:p14="http://schemas.microsoft.com/office/powerpoint/2010/main" val="2069047378"/>
      </p:ext>
    </p:extLst>
  </p:cSld>
  <p:clrMap bg1="dk1" tx1="lt1" bg2="dk2" tx2="lt2" accent1="accent1" accent2="accent2" accent3="accent3" accent4="accent4" accent5="accent5" accent6="accent6" hlink="hlink" folHlink="folHlink"/>
  <p:sldLayoutIdLst>
    <p:sldLayoutId id="2147484295" r:id="rId1"/>
    <p:sldLayoutId id="2147484296" r:id="rId2"/>
    <p:sldLayoutId id="2147484297" r:id="rId3"/>
    <p:sldLayoutId id="2147484298" r:id="rId4"/>
    <p:sldLayoutId id="2147484299" r:id="rId5"/>
    <p:sldLayoutId id="2147484300" r:id="rId6"/>
    <p:sldLayoutId id="2147484301" r:id="rId7"/>
    <p:sldLayoutId id="2147484302" r:id="rId8"/>
    <p:sldLayoutId id="2147484303" r:id="rId9"/>
    <p:sldLayoutId id="2147484304" r:id="rId10"/>
    <p:sldLayoutId id="2147484305" r:id="rId11"/>
    <p:sldLayoutId id="2147484306" r:id="rId12"/>
    <p:sldLayoutId id="2147484307" r:id="rId13"/>
    <p:sldLayoutId id="2147484308" r:id="rId14"/>
    <p:sldLayoutId id="2147484309" r:id="rId15"/>
    <p:sldLayoutId id="2147484310" r:id="rId16"/>
    <p:sldLayoutId id="2147484311" r:id="rId17"/>
  </p:sldLayoutIdLst>
  <p:txStyles>
    <p:titleStyle>
      <a:lvl1pPr algn="l" defTabSz="914400" rtl="0" eaLnBrk="1" latinLnBrk="0" hangingPunct="1">
        <a:lnSpc>
          <a:spcPct val="90000"/>
        </a:lnSpc>
        <a:spcBef>
          <a:spcPct val="0"/>
        </a:spcBef>
        <a:buNone/>
        <a:defRPr sz="3600" kern="1200">
          <a:solidFill>
            <a:schemeClr val="tx1"/>
          </a:solidFill>
          <a:latin typeface="Times New Roman" charset="0"/>
          <a:ea typeface="Times New Roman" charset="0"/>
          <a:cs typeface="Times New Roman"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Times New Roman" charset="0"/>
          <a:ea typeface="Times New Roman" charset="0"/>
          <a:cs typeface="Times New Roman"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charset="0"/>
          <a:ea typeface="Times New Roman" charset="0"/>
          <a:cs typeface="Times New Roman"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charset="0"/>
          <a:ea typeface="Times New Roman" charset="0"/>
          <a:cs typeface="Times New Roman"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Times New Roman" charset="0"/>
          <a:ea typeface="Times New Roman" charset="0"/>
          <a:cs typeface="Times New Roman"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Times New Roman" charset="0"/>
          <a:ea typeface="Times New Roman" charset="0"/>
          <a:cs typeface="Times New Roman"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python.org/about/gettingstarted/"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hyperlink" Target="https://www.codecademy.com/learn/learn-python-3" TargetMode="External"/><Relationship Id="rId4" Type="http://schemas.openxmlformats.org/officeDocument/2006/relationships/hyperlink" Target="https://www.learnpython.org/"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code.visualstudio.co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iterm2.com/"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hyperlink" Target="https://apps.microsoft.com/detail/9n0dx20hk701"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sciserver.org/"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hyperlink" Target="https://www.anaconda.com/products/individual"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jacksondatkuliak/PythonBootcamp2026"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a:t>
            </a:r>
          </a:p>
        </p:txBody>
      </p:sp>
      <p:sp>
        <p:nvSpPr>
          <p:cNvPr id="3" name="Subtitle 2"/>
          <p:cNvSpPr>
            <a:spLocks noGrp="1"/>
          </p:cNvSpPr>
          <p:nvPr>
            <p:ph type="subTitle" idx="1"/>
          </p:nvPr>
        </p:nvSpPr>
        <p:spPr/>
        <p:txBody>
          <a:bodyPr>
            <a:normAutofit lnSpcReduction="10000"/>
          </a:bodyPr>
          <a:lstStyle/>
          <a:p>
            <a:r>
              <a:rPr lang="en-US" dirty="0"/>
              <a:t>SURP 2025 Python Bootcamp</a:t>
            </a:r>
          </a:p>
          <a:p>
            <a:r>
              <a:rPr lang="en-US" dirty="0"/>
              <a:t>Ohio State Astronomy </a:t>
            </a:r>
          </a:p>
          <a:p>
            <a:r>
              <a:rPr lang="en-US" dirty="0"/>
              <a:t>Slides by: James W. Johnson, Liam Dubay, and Jackson Datkuliak</a:t>
            </a:r>
          </a:p>
        </p:txBody>
      </p:sp>
    </p:spTree>
    <p:extLst>
      <p:ext uri="{BB962C8B-B14F-4D97-AF65-F5344CB8AC3E}">
        <p14:creationId xmlns:p14="http://schemas.microsoft.com/office/powerpoint/2010/main" val="1750027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Hello!</a:t>
            </a:r>
          </a:p>
        </p:txBody>
      </p:sp>
      <p:sp>
        <p:nvSpPr>
          <p:cNvPr id="3" name="Content Placeholder 2"/>
          <p:cNvSpPr>
            <a:spLocks noGrp="1"/>
          </p:cNvSpPr>
          <p:nvPr>
            <p:ph idx="1"/>
          </p:nvPr>
        </p:nvSpPr>
        <p:spPr>
          <a:xfrm>
            <a:off x="680321" y="2336872"/>
            <a:ext cx="11288766" cy="4050279"/>
          </a:xfrm>
        </p:spPr>
        <p:txBody>
          <a:bodyPr>
            <a:normAutofit/>
          </a:bodyPr>
          <a:lstStyle/>
          <a:p>
            <a:pPr marL="0" indent="0">
              <a:lnSpc>
                <a:spcPct val="100000"/>
              </a:lnSpc>
              <a:spcBef>
                <a:spcPts val="0"/>
              </a:spcBef>
              <a:buNone/>
            </a:pPr>
            <a:endParaRPr lang="en-US" dirty="0"/>
          </a:p>
          <a:p>
            <a:pPr marL="0" indent="0">
              <a:lnSpc>
                <a:spcPct val="100000"/>
              </a:lnSpc>
              <a:spcBef>
                <a:spcPts val="0"/>
              </a:spcBef>
              <a:buNone/>
            </a:pPr>
            <a:r>
              <a:rPr lang="en-US" dirty="0"/>
              <a:t>We’d like to introduce ourselves</a:t>
            </a:r>
          </a:p>
          <a:p>
            <a:pPr lvl="1">
              <a:lnSpc>
                <a:spcPct val="100000"/>
              </a:lnSpc>
              <a:spcBef>
                <a:spcPts val="0"/>
              </a:spcBef>
            </a:pPr>
            <a:r>
              <a:rPr lang="en-US" sz="2400" dirty="0"/>
              <a:t>Tawny Sit (5</a:t>
            </a:r>
            <a:r>
              <a:rPr lang="en-US" sz="2400" baseline="30000" dirty="0"/>
              <a:t>th</a:t>
            </a:r>
            <a:r>
              <a:rPr lang="en-US" sz="2400" dirty="0"/>
              <a:t> year grad)</a:t>
            </a:r>
          </a:p>
          <a:p>
            <a:pPr lvl="1">
              <a:lnSpc>
                <a:spcPct val="100000"/>
              </a:lnSpc>
              <a:spcBef>
                <a:spcPts val="0"/>
              </a:spcBef>
            </a:pPr>
            <a:r>
              <a:rPr lang="en-US" sz="2400" dirty="0"/>
              <a:t>Jack Roberts (6</a:t>
            </a:r>
            <a:r>
              <a:rPr lang="en-US" sz="2400" baseline="30000" dirty="0"/>
              <a:t>th</a:t>
            </a:r>
            <a:r>
              <a:rPr lang="en-US" sz="2400" dirty="0"/>
              <a:t> year grad)</a:t>
            </a:r>
          </a:p>
          <a:p>
            <a:pPr lvl="1">
              <a:lnSpc>
                <a:spcPct val="100000"/>
              </a:lnSpc>
              <a:spcBef>
                <a:spcPts val="0"/>
              </a:spcBef>
            </a:pPr>
            <a:r>
              <a:rPr lang="en-US" sz="2400" dirty="0"/>
              <a:t>Jackson Datkuliak (5</a:t>
            </a:r>
            <a:r>
              <a:rPr lang="en-US" sz="2400" baseline="30000" dirty="0"/>
              <a:t>th</a:t>
            </a:r>
            <a:r>
              <a:rPr lang="en-US" sz="2400" dirty="0"/>
              <a:t> year undergrad)</a:t>
            </a:r>
          </a:p>
        </p:txBody>
      </p:sp>
    </p:spTree>
    <p:extLst>
      <p:ext uri="{BB962C8B-B14F-4D97-AF65-F5344CB8AC3E}">
        <p14:creationId xmlns:p14="http://schemas.microsoft.com/office/powerpoint/2010/main" val="856954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Format</a:t>
            </a:r>
          </a:p>
        </p:txBody>
      </p:sp>
      <p:sp>
        <p:nvSpPr>
          <p:cNvPr id="3" name="Content Placeholder 2"/>
          <p:cNvSpPr>
            <a:spLocks noGrp="1"/>
          </p:cNvSpPr>
          <p:nvPr>
            <p:ph idx="1"/>
          </p:nvPr>
        </p:nvSpPr>
        <p:spPr>
          <a:xfrm>
            <a:off x="680321" y="2336872"/>
            <a:ext cx="11288766" cy="4314299"/>
          </a:xfrm>
        </p:spPr>
        <p:txBody>
          <a:bodyPr>
            <a:normAutofit/>
          </a:bodyPr>
          <a:lstStyle/>
          <a:p>
            <a:pPr marL="0" indent="0">
              <a:lnSpc>
                <a:spcPct val="100000"/>
              </a:lnSpc>
              <a:spcBef>
                <a:spcPts val="0"/>
              </a:spcBef>
              <a:buNone/>
            </a:pPr>
            <a:endParaRPr lang="en-US" dirty="0"/>
          </a:p>
          <a:p>
            <a:pPr marL="0" indent="0">
              <a:lnSpc>
                <a:spcPct val="100000"/>
              </a:lnSpc>
              <a:spcBef>
                <a:spcPts val="0"/>
              </a:spcBef>
              <a:buNone/>
            </a:pPr>
            <a:r>
              <a:rPr lang="en-US" dirty="0"/>
              <a:t>Emphasis on hands-on experience and group coding</a:t>
            </a:r>
          </a:p>
          <a:p>
            <a:pPr lvl="1">
              <a:lnSpc>
                <a:spcPct val="100000"/>
              </a:lnSpc>
              <a:spcBef>
                <a:spcPts val="0"/>
              </a:spcBef>
            </a:pPr>
            <a:r>
              <a:rPr lang="en-US" dirty="0"/>
              <a:t>There will be some slides, but not many</a:t>
            </a:r>
          </a:p>
          <a:p>
            <a:pPr lvl="1">
              <a:lnSpc>
                <a:spcPct val="100000"/>
              </a:lnSpc>
              <a:spcBef>
                <a:spcPts val="0"/>
              </a:spcBef>
            </a:pPr>
            <a:r>
              <a:rPr lang="en-US" dirty="0"/>
              <a:t>Slides from previous years are available as a reference</a:t>
            </a:r>
          </a:p>
          <a:p>
            <a:pPr marL="0" indent="0">
              <a:lnSpc>
                <a:spcPct val="100000"/>
              </a:lnSpc>
              <a:spcBef>
                <a:spcPts val="0"/>
              </a:spcBef>
              <a:buNone/>
            </a:pPr>
            <a:endParaRPr lang="en-US" dirty="0"/>
          </a:p>
          <a:p>
            <a:pPr marL="0" indent="0">
              <a:lnSpc>
                <a:spcPct val="100000"/>
              </a:lnSpc>
              <a:spcBef>
                <a:spcPts val="0"/>
              </a:spcBef>
              <a:buNone/>
            </a:pPr>
            <a:r>
              <a:rPr lang="en-US" dirty="0"/>
              <a:t>Start by going through a guided </a:t>
            </a:r>
            <a:r>
              <a:rPr lang="en-US" dirty="0" err="1"/>
              <a:t>Jupyter</a:t>
            </a:r>
            <a:r>
              <a:rPr lang="en-US" dirty="0"/>
              <a:t> notebook</a:t>
            </a:r>
          </a:p>
          <a:p>
            <a:pPr lvl="1">
              <a:lnSpc>
                <a:spcPct val="100000"/>
              </a:lnSpc>
              <a:spcBef>
                <a:spcPts val="0"/>
              </a:spcBef>
            </a:pPr>
            <a:r>
              <a:rPr lang="en-US" dirty="0"/>
              <a:t>Exercises are included, but won’t be graded – this isn’t a course</a:t>
            </a:r>
          </a:p>
          <a:p>
            <a:pPr lvl="1">
              <a:lnSpc>
                <a:spcPct val="100000"/>
              </a:lnSpc>
              <a:spcBef>
                <a:spcPts val="0"/>
              </a:spcBef>
            </a:pPr>
            <a:r>
              <a:rPr lang="en-US" dirty="0"/>
              <a:t>Ask us if you have questions at any time!</a:t>
            </a:r>
          </a:p>
          <a:p>
            <a:pPr marL="0" indent="0">
              <a:lnSpc>
                <a:spcPct val="100000"/>
              </a:lnSpc>
              <a:spcBef>
                <a:spcPts val="0"/>
              </a:spcBef>
              <a:buNone/>
            </a:pPr>
            <a:endParaRPr lang="en-US" dirty="0"/>
          </a:p>
          <a:p>
            <a:pPr marL="0" indent="0">
              <a:lnSpc>
                <a:spcPct val="100000"/>
              </a:lnSpc>
              <a:spcBef>
                <a:spcPts val="0"/>
              </a:spcBef>
              <a:buNone/>
            </a:pPr>
            <a:r>
              <a:rPr lang="en-US" dirty="0"/>
              <a:t>Each day will have a group coding challenge</a:t>
            </a:r>
          </a:p>
        </p:txBody>
      </p:sp>
    </p:spTree>
    <p:extLst>
      <p:ext uri="{BB962C8B-B14F-4D97-AF65-F5344CB8AC3E}">
        <p14:creationId xmlns:p14="http://schemas.microsoft.com/office/powerpoint/2010/main" val="2394451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82CFC-95A6-68DA-D81D-FF4B0CA894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27A9F7-69B7-B54D-5709-5C2696A23D4C}"/>
              </a:ext>
            </a:extLst>
          </p:cNvPr>
          <p:cNvSpPr>
            <a:spLocks noGrp="1"/>
          </p:cNvSpPr>
          <p:nvPr>
            <p:ph type="title"/>
          </p:nvPr>
        </p:nvSpPr>
        <p:spPr/>
        <p:txBody>
          <a:bodyPr/>
          <a:lstStyle/>
          <a:p>
            <a:r>
              <a:rPr lang="en-US" dirty="0"/>
              <a:t>Format</a:t>
            </a:r>
          </a:p>
        </p:txBody>
      </p:sp>
      <p:sp>
        <p:nvSpPr>
          <p:cNvPr id="3" name="Content Placeholder 2">
            <a:extLst>
              <a:ext uri="{FF2B5EF4-FFF2-40B4-BE49-F238E27FC236}">
                <a16:creationId xmlns:a16="http://schemas.microsoft.com/office/drawing/2014/main" id="{F4847E2E-0236-1B7D-7BB2-3EF63BD50A82}"/>
              </a:ext>
            </a:extLst>
          </p:cNvPr>
          <p:cNvSpPr>
            <a:spLocks noGrp="1"/>
          </p:cNvSpPr>
          <p:nvPr>
            <p:ph idx="1"/>
          </p:nvPr>
        </p:nvSpPr>
        <p:spPr>
          <a:xfrm>
            <a:off x="680321" y="2336872"/>
            <a:ext cx="11288766" cy="4314299"/>
          </a:xfrm>
        </p:spPr>
        <p:txBody>
          <a:bodyPr>
            <a:normAutofit/>
          </a:bodyPr>
          <a:lstStyle/>
          <a:p>
            <a:pPr marL="0" indent="0">
              <a:lnSpc>
                <a:spcPct val="100000"/>
              </a:lnSpc>
              <a:spcBef>
                <a:spcPts val="0"/>
              </a:spcBef>
              <a:buNone/>
            </a:pPr>
            <a:endParaRPr lang="en-US" dirty="0"/>
          </a:p>
          <a:p>
            <a:pPr marL="0" indent="0">
              <a:lnSpc>
                <a:spcPct val="100000"/>
              </a:lnSpc>
              <a:spcBef>
                <a:spcPts val="0"/>
              </a:spcBef>
              <a:buNone/>
            </a:pPr>
            <a:endParaRPr lang="en-US" dirty="0"/>
          </a:p>
          <a:p>
            <a:pPr marL="0" indent="0">
              <a:lnSpc>
                <a:spcPct val="100000"/>
              </a:lnSpc>
              <a:spcBef>
                <a:spcPts val="0"/>
              </a:spcBef>
              <a:buNone/>
            </a:pPr>
            <a:r>
              <a:rPr lang="en-US" dirty="0"/>
              <a:t>Material is very condensed to fit into five sessions – mastery of these skills will come over time, even beyond this summer.</a:t>
            </a:r>
          </a:p>
          <a:p>
            <a:pPr marL="0" indent="0">
              <a:lnSpc>
                <a:spcPct val="100000"/>
              </a:lnSpc>
              <a:spcBef>
                <a:spcPts val="0"/>
              </a:spcBef>
              <a:buNone/>
            </a:pPr>
            <a:endParaRPr lang="en-US" dirty="0"/>
          </a:p>
          <a:p>
            <a:pPr marL="0" indent="0">
              <a:lnSpc>
                <a:spcPct val="100000"/>
              </a:lnSpc>
              <a:spcBef>
                <a:spcPts val="0"/>
              </a:spcBef>
              <a:buNone/>
            </a:pPr>
            <a:endParaRPr lang="en-US" dirty="0"/>
          </a:p>
          <a:p>
            <a:pPr marL="0" indent="0">
              <a:lnSpc>
                <a:spcPct val="100000"/>
              </a:lnSpc>
              <a:spcBef>
                <a:spcPts val="0"/>
              </a:spcBef>
              <a:buNone/>
            </a:pPr>
            <a:r>
              <a:rPr lang="en-US" dirty="0"/>
              <a:t>I will go through some of the slides quickly, so we don’t expect you to get everything right away. You can always review them later.</a:t>
            </a:r>
          </a:p>
          <a:p>
            <a:pPr marL="0" indent="0">
              <a:lnSpc>
                <a:spcPct val="100000"/>
              </a:lnSpc>
              <a:spcBef>
                <a:spcPts val="0"/>
              </a:spcBef>
              <a:buNone/>
            </a:pPr>
            <a:endParaRPr lang="en-US" dirty="0"/>
          </a:p>
        </p:txBody>
      </p:sp>
    </p:spTree>
    <p:extLst>
      <p:ext uri="{BB962C8B-B14F-4D97-AF65-F5344CB8AC3E}">
        <p14:creationId xmlns:p14="http://schemas.microsoft.com/office/powerpoint/2010/main" val="2668682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C610D2AE-07EF-436A-9755-AA8DF4B93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6CACDD17-9043-46DF-882D-420365B79C1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Rectangle 13">
            <a:extLst>
              <a:ext uri="{FF2B5EF4-FFF2-40B4-BE49-F238E27FC236}">
                <a16:creationId xmlns:a16="http://schemas.microsoft.com/office/drawing/2014/main" id="{CF2D8AD5-434A-4C0E-9F5B-C1AFD645F3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4959094"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3F378CC-8012-274B-8C9D-6231752E4668}"/>
              </a:ext>
            </a:extLst>
          </p:cNvPr>
          <p:cNvSpPr>
            <a:spLocks noGrp="1"/>
          </p:cNvSpPr>
          <p:nvPr>
            <p:ph type="title"/>
          </p:nvPr>
        </p:nvSpPr>
        <p:spPr>
          <a:xfrm>
            <a:off x="680321" y="753228"/>
            <a:ext cx="4136123" cy="1080938"/>
          </a:xfrm>
        </p:spPr>
        <p:txBody>
          <a:bodyPr>
            <a:normAutofit/>
          </a:bodyPr>
          <a:lstStyle/>
          <a:p>
            <a:r>
              <a:rPr lang="en-US" dirty="0"/>
              <a:t>Survey Responses</a:t>
            </a:r>
          </a:p>
        </p:txBody>
      </p:sp>
      <p:pic>
        <p:nvPicPr>
          <p:cNvPr id="16" name="Picture 15">
            <a:extLst>
              <a:ext uri="{FF2B5EF4-FFF2-40B4-BE49-F238E27FC236}">
                <a16:creationId xmlns:a16="http://schemas.microsoft.com/office/drawing/2014/main" id="{E92B246D-47CC-40F8-8DE7-B65D409E945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 y="1970241"/>
            <a:ext cx="4956048" cy="199787"/>
          </a:xfrm>
          <a:prstGeom prst="rect">
            <a:avLst/>
          </a:prstGeom>
        </p:spPr>
      </p:pic>
      <p:sp>
        <p:nvSpPr>
          <p:cNvPr id="3" name="Content Placeholder 2">
            <a:extLst>
              <a:ext uri="{FF2B5EF4-FFF2-40B4-BE49-F238E27FC236}">
                <a16:creationId xmlns:a16="http://schemas.microsoft.com/office/drawing/2014/main" id="{1C85B543-9AF9-A44E-8AAA-F6968CFDA768}"/>
              </a:ext>
            </a:extLst>
          </p:cNvPr>
          <p:cNvSpPr>
            <a:spLocks noGrp="1"/>
          </p:cNvSpPr>
          <p:nvPr>
            <p:ph idx="1"/>
          </p:nvPr>
        </p:nvSpPr>
        <p:spPr>
          <a:xfrm>
            <a:off x="500509" y="2306103"/>
            <a:ext cx="4956048" cy="3599316"/>
          </a:xfrm>
        </p:spPr>
        <p:txBody>
          <a:bodyPr>
            <a:noAutofit/>
          </a:bodyPr>
          <a:lstStyle/>
          <a:p>
            <a:pPr marL="0" indent="0">
              <a:buNone/>
            </a:pPr>
            <a:endParaRPr lang="en-US" dirty="0"/>
          </a:p>
          <a:p>
            <a:pPr marL="0" indent="0">
              <a:buNone/>
            </a:pPr>
            <a:r>
              <a:rPr lang="en-US" dirty="0"/>
              <a:t>Q1: How would you describe your skill level in Python?</a:t>
            </a:r>
          </a:p>
          <a:p>
            <a:pPr marL="0" indent="0">
              <a:buNone/>
            </a:pPr>
            <a:endParaRPr lang="en-US" dirty="0"/>
          </a:p>
          <a:p>
            <a:pPr marL="0" indent="0">
              <a:buNone/>
            </a:pPr>
            <a:r>
              <a:rPr lang="en-US" dirty="0"/>
              <a:t>A wide range of skills, but most have experience in Python</a:t>
            </a:r>
          </a:p>
          <a:p>
            <a:pPr marL="0" indent="0">
              <a:buNone/>
            </a:pPr>
            <a:endParaRPr lang="en-US" dirty="0"/>
          </a:p>
          <a:p>
            <a:pPr marL="0" indent="0">
              <a:buNone/>
            </a:pPr>
            <a:r>
              <a:rPr lang="en-US" dirty="0"/>
              <a:t>We’re aiming to get you familiar with the most important parts of Python for astronomy research</a:t>
            </a:r>
          </a:p>
        </p:txBody>
      </p:sp>
      <p:pic>
        <p:nvPicPr>
          <p:cNvPr id="5" name="Picture 4" descr="A graph with red lines&#10;&#10;AI-generated content may be incorrect.">
            <a:extLst>
              <a:ext uri="{FF2B5EF4-FFF2-40B4-BE49-F238E27FC236}">
                <a16:creationId xmlns:a16="http://schemas.microsoft.com/office/drawing/2014/main" id="{9EBD7A61-A07C-F356-0C1F-4D5D987E7E88}"/>
              </a:ext>
            </a:extLst>
          </p:cNvPr>
          <p:cNvPicPr>
            <a:picLocks noChangeAspect="1"/>
          </p:cNvPicPr>
          <p:nvPr/>
        </p:nvPicPr>
        <p:blipFill>
          <a:blip r:embed="rId5"/>
          <a:stretch>
            <a:fillRect/>
          </a:stretch>
        </p:blipFill>
        <p:spPr>
          <a:xfrm rot="5400000">
            <a:off x="5447618" y="663885"/>
            <a:ext cx="6573509" cy="5554612"/>
          </a:xfrm>
          <a:prstGeom prst="rect">
            <a:avLst/>
          </a:prstGeom>
          <a:ln>
            <a:noFill/>
          </a:ln>
          <a:effectLst>
            <a:outerShdw blurRad="76200" dist="63500" dir="5040000" algn="tl" rotWithShape="0">
              <a:srgbClr val="000000">
                <a:alpha val="41000"/>
              </a:srgbClr>
            </a:outerShdw>
          </a:effectLst>
        </p:spPr>
      </p:pic>
    </p:spTree>
    <p:extLst>
      <p:ext uri="{BB962C8B-B14F-4D97-AF65-F5344CB8AC3E}">
        <p14:creationId xmlns:p14="http://schemas.microsoft.com/office/powerpoint/2010/main" val="1435778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06F6A-72AE-098C-F054-D7FE479166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1AC80-7950-99E6-8D2D-2D672EF59A6E}"/>
              </a:ext>
            </a:extLst>
          </p:cNvPr>
          <p:cNvSpPr>
            <a:spLocks noGrp="1"/>
          </p:cNvSpPr>
          <p:nvPr>
            <p:ph type="title"/>
          </p:nvPr>
        </p:nvSpPr>
        <p:spPr/>
        <p:txBody>
          <a:bodyPr/>
          <a:lstStyle/>
          <a:p>
            <a:r>
              <a:rPr lang="en-US" dirty="0"/>
              <a:t>Survey Responses</a:t>
            </a:r>
          </a:p>
        </p:txBody>
      </p:sp>
      <p:sp>
        <p:nvSpPr>
          <p:cNvPr id="3" name="Content Placeholder 2">
            <a:extLst>
              <a:ext uri="{FF2B5EF4-FFF2-40B4-BE49-F238E27FC236}">
                <a16:creationId xmlns:a16="http://schemas.microsoft.com/office/drawing/2014/main" id="{9118AC7E-FDC9-9B9F-C326-9FBC6B6577D7}"/>
              </a:ext>
            </a:extLst>
          </p:cNvPr>
          <p:cNvSpPr>
            <a:spLocks noGrp="1"/>
          </p:cNvSpPr>
          <p:nvPr>
            <p:ph idx="1"/>
          </p:nvPr>
        </p:nvSpPr>
        <p:spPr>
          <a:xfrm>
            <a:off x="433387" y="2336873"/>
            <a:ext cx="11181963" cy="4234408"/>
          </a:xfrm>
        </p:spPr>
        <p:txBody>
          <a:bodyPr/>
          <a:lstStyle/>
          <a:p>
            <a:endParaRPr lang="en-US" dirty="0"/>
          </a:p>
          <a:p>
            <a:r>
              <a:rPr lang="en-US" dirty="0"/>
              <a:t>Most have used libraries like matplotlib and </a:t>
            </a:r>
            <a:r>
              <a:rPr lang="en-US" dirty="0" err="1"/>
              <a:t>numpy</a:t>
            </a:r>
            <a:endParaRPr lang="en-US" dirty="0"/>
          </a:p>
          <a:p>
            <a:r>
              <a:rPr lang="en-US" dirty="0"/>
              <a:t>Mostly solo coding experience</a:t>
            </a:r>
          </a:p>
          <a:p>
            <a:r>
              <a:rPr lang="en-US" dirty="0"/>
              <a:t>Range of comfort levels on basic Python syntax (if/else, loops, functions)</a:t>
            </a:r>
          </a:p>
          <a:p>
            <a:r>
              <a:rPr lang="en-US" dirty="0"/>
              <a:t>Most use </a:t>
            </a:r>
            <a:r>
              <a:rPr lang="en-US" dirty="0" err="1"/>
              <a:t>Jupyter</a:t>
            </a:r>
            <a:r>
              <a:rPr lang="en-US" dirty="0"/>
              <a:t> notebooks and are not super comfortable with the terminal</a:t>
            </a:r>
          </a:p>
          <a:p>
            <a:r>
              <a:rPr lang="en-US" dirty="0"/>
              <a:t>Lots of experience with other languages, especially C/C#/C++ </a:t>
            </a:r>
          </a:p>
          <a:p>
            <a:r>
              <a:rPr lang="en-US" dirty="0"/>
              <a:t>Most have not opened a FITS file</a:t>
            </a:r>
          </a:p>
          <a:p>
            <a:endParaRPr lang="en-US" dirty="0"/>
          </a:p>
        </p:txBody>
      </p:sp>
    </p:spTree>
    <p:extLst>
      <p:ext uri="{BB962C8B-B14F-4D97-AF65-F5344CB8AC3E}">
        <p14:creationId xmlns:p14="http://schemas.microsoft.com/office/powerpoint/2010/main" val="2719879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Survey Responses </a:t>
            </a:r>
          </a:p>
        </p:txBody>
      </p:sp>
      <p:sp>
        <p:nvSpPr>
          <p:cNvPr id="3" name="Content Placeholder 2"/>
          <p:cNvSpPr>
            <a:spLocks noGrp="1"/>
          </p:cNvSpPr>
          <p:nvPr>
            <p:ph idx="1"/>
          </p:nvPr>
        </p:nvSpPr>
        <p:spPr>
          <a:xfrm>
            <a:off x="680321" y="2336873"/>
            <a:ext cx="10770151" cy="4350530"/>
          </a:xfrm>
        </p:spPr>
        <p:txBody>
          <a:bodyPr>
            <a:normAutofit/>
          </a:bodyPr>
          <a:lstStyle/>
          <a:p>
            <a:pPr marL="0" indent="0">
              <a:buNone/>
            </a:pPr>
            <a:r>
              <a:rPr lang="en-US" dirty="0"/>
              <a:t>New material:</a:t>
            </a:r>
          </a:p>
          <a:p>
            <a:pPr lvl="1"/>
            <a:r>
              <a:rPr lang="en-US" dirty="0"/>
              <a:t>For many of you: the terminal, object-oriented programming, FITS files</a:t>
            </a:r>
          </a:p>
          <a:p>
            <a:pPr lvl="1"/>
            <a:r>
              <a:rPr lang="en-US" dirty="0"/>
              <a:t>For about half of you:</a:t>
            </a:r>
          </a:p>
          <a:p>
            <a:pPr lvl="2"/>
            <a:r>
              <a:rPr lang="en-US" dirty="0"/>
              <a:t>How to import your own code from elsewhere in your computer (packaging may be new to some)</a:t>
            </a:r>
          </a:p>
          <a:p>
            <a:pPr marL="0" indent="0">
              <a:buNone/>
            </a:pPr>
            <a:endParaRPr lang="en-US" dirty="0"/>
          </a:p>
          <a:p>
            <a:pPr marL="0" indent="0">
              <a:buNone/>
            </a:pPr>
            <a:endParaRPr lang="en-US" dirty="0"/>
          </a:p>
          <a:p>
            <a:pPr marL="0" indent="0">
              <a:buNone/>
            </a:pPr>
            <a:r>
              <a:rPr lang="en-US" dirty="0"/>
              <a:t>Some of the material is either impossible or quite difficult when coding in a notebook. I advise all of you to use this bootcamp as practice for working in text files.</a:t>
            </a:r>
          </a:p>
        </p:txBody>
      </p:sp>
    </p:spTree>
    <p:extLst>
      <p:ext uri="{BB962C8B-B14F-4D97-AF65-F5344CB8AC3E}">
        <p14:creationId xmlns:p14="http://schemas.microsoft.com/office/powerpoint/2010/main" val="3274408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Additional Learning Material</a:t>
            </a:r>
          </a:p>
        </p:txBody>
      </p:sp>
      <p:sp>
        <p:nvSpPr>
          <p:cNvPr id="3" name="Content Placeholder 2"/>
          <p:cNvSpPr>
            <a:spLocks noGrp="1"/>
          </p:cNvSpPr>
          <p:nvPr>
            <p:ph idx="1"/>
          </p:nvPr>
        </p:nvSpPr>
        <p:spPr>
          <a:xfrm>
            <a:off x="680321" y="2336872"/>
            <a:ext cx="10968340" cy="4077179"/>
          </a:xfrm>
        </p:spPr>
        <p:txBody>
          <a:bodyPr>
            <a:normAutofit/>
          </a:bodyPr>
          <a:lstStyle/>
          <a:p>
            <a:pPr marL="0" lvl="0" indent="0">
              <a:lnSpc>
                <a:spcPct val="100000"/>
              </a:lnSpc>
              <a:spcBef>
                <a:spcPts val="0"/>
              </a:spcBef>
              <a:buNone/>
            </a:pPr>
            <a:r>
              <a:rPr lang="en-US" dirty="0"/>
              <a:t>Those of you new to Python – we strongly advise going through some of this ahead of tomorrow’s session, which will be a crash course</a:t>
            </a:r>
          </a:p>
          <a:p>
            <a:pPr marL="0" lvl="0" indent="0">
              <a:lnSpc>
                <a:spcPct val="100000"/>
              </a:lnSpc>
              <a:spcBef>
                <a:spcPts val="0"/>
              </a:spcBef>
              <a:buNone/>
            </a:pPr>
            <a:endParaRPr lang="en-US" dirty="0"/>
          </a:p>
          <a:p>
            <a:pPr marL="0" lvl="0" indent="0">
              <a:lnSpc>
                <a:spcPct val="100000"/>
              </a:lnSpc>
              <a:spcBef>
                <a:spcPts val="0"/>
              </a:spcBef>
              <a:buNone/>
            </a:pPr>
            <a:endParaRPr lang="en-US" dirty="0"/>
          </a:p>
          <a:p>
            <a:pPr marL="0" lvl="0" indent="0">
              <a:lnSpc>
                <a:spcPct val="100000"/>
              </a:lnSpc>
              <a:spcBef>
                <a:spcPts val="0"/>
              </a:spcBef>
              <a:buNone/>
            </a:pPr>
            <a:r>
              <a:rPr lang="en-US" dirty="0"/>
              <a:t>Python Foundation’s Beginner’s Guide: </a:t>
            </a:r>
            <a:r>
              <a:rPr lang="en-US" dirty="0">
                <a:hlinkClick r:id="rId3"/>
              </a:rPr>
              <a:t>https://www.python.org/about/gettingstarted/</a:t>
            </a:r>
            <a:endParaRPr lang="en-US" dirty="0"/>
          </a:p>
          <a:p>
            <a:pPr marL="0" lvl="0" indent="0">
              <a:lnSpc>
                <a:spcPct val="100000"/>
              </a:lnSpc>
              <a:spcBef>
                <a:spcPts val="0"/>
              </a:spcBef>
              <a:buNone/>
            </a:pPr>
            <a:endParaRPr lang="en-US" dirty="0"/>
          </a:p>
          <a:p>
            <a:pPr marL="0" lvl="0" indent="0">
              <a:lnSpc>
                <a:spcPct val="100000"/>
              </a:lnSpc>
              <a:spcBef>
                <a:spcPts val="0"/>
              </a:spcBef>
              <a:buNone/>
            </a:pPr>
            <a:r>
              <a:rPr lang="en-US" dirty="0">
                <a:hlinkClick r:id="rId4"/>
              </a:rPr>
              <a:t>https://www.learnpython.org/</a:t>
            </a:r>
            <a:r>
              <a:rPr lang="en-US" dirty="0"/>
              <a:t> - There is also an iOS app for this </a:t>
            </a:r>
          </a:p>
          <a:p>
            <a:pPr marL="0" lvl="0" indent="0">
              <a:lnSpc>
                <a:spcPct val="100000"/>
              </a:lnSpc>
              <a:spcBef>
                <a:spcPts val="0"/>
              </a:spcBef>
              <a:buNone/>
            </a:pPr>
            <a:endParaRPr lang="en-US" dirty="0"/>
          </a:p>
          <a:p>
            <a:pPr marL="0" lvl="0" indent="0">
              <a:lnSpc>
                <a:spcPct val="100000"/>
              </a:lnSpc>
              <a:spcBef>
                <a:spcPts val="0"/>
              </a:spcBef>
              <a:buNone/>
            </a:pPr>
            <a:r>
              <a:rPr lang="en-US" dirty="0" err="1"/>
              <a:t>Codecademy</a:t>
            </a:r>
            <a:r>
              <a:rPr lang="en-US" dirty="0"/>
              <a:t>: </a:t>
            </a:r>
            <a:r>
              <a:rPr lang="en-US" dirty="0">
                <a:hlinkClick r:id="rId5"/>
              </a:rPr>
              <a:t>https://www.codecademy.com/learn/learn-python-3</a:t>
            </a:r>
            <a:endParaRPr lang="en-US" dirty="0"/>
          </a:p>
          <a:p>
            <a:pPr marL="0" lvl="0" indent="0">
              <a:lnSpc>
                <a:spcPct val="100000"/>
              </a:lnSpc>
              <a:spcBef>
                <a:spcPts val="0"/>
              </a:spcBef>
              <a:buNone/>
            </a:pPr>
            <a:endParaRPr lang="en-US" dirty="0"/>
          </a:p>
        </p:txBody>
      </p:sp>
    </p:spTree>
    <p:extLst>
      <p:ext uri="{BB962C8B-B14F-4D97-AF65-F5344CB8AC3E}">
        <p14:creationId xmlns:p14="http://schemas.microsoft.com/office/powerpoint/2010/main" val="1157819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Tools: An IDE</a:t>
            </a:r>
          </a:p>
        </p:txBody>
      </p:sp>
      <p:sp>
        <p:nvSpPr>
          <p:cNvPr id="3" name="Content Placeholder 2"/>
          <p:cNvSpPr>
            <a:spLocks noGrp="1"/>
          </p:cNvSpPr>
          <p:nvPr>
            <p:ph idx="1"/>
          </p:nvPr>
        </p:nvSpPr>
        <p:spPr>
          <a:xfrm>
            <a:off x="680322" y="2336872"/>
            <a:ext cx="4164633" cy="4077575"/>
          </a:xfrm>
        </p:spPr>
        <p:txBody>
          <a:bodyPr>
            <a:normAutofit fontScale="92500" lnSpcReduction="10000"/>
          </a:bodyPr>
          <a:lstStyle/>
          <a:p>
            <a:pPr marL="0" indent="0">
              <a:buNone/>
            </a:pPr>
            <a:r>
              <a:rPr lang="en-US" i="1" dirty="0"/>
              <a:t>Integrated Development Environment </a:t>
            </a:r>
            <a:r>
              <a:rPr lang="en-US" dirty="0"/>
              <a:t>(IDE) – can edit &amp; run code, organize projects</a:t>
            </a:r>
          </a:p>
          <a:p>
            <a:pPr marL="0" indent="0">
              <a:buNone/>
            </a:pPr>
            <a:endParaRPr lang="en-US" dirty="0"/>
          </a:p>
          <a:p>
            <a:pPr marL="0" indent="0">
              <a:buNone/>
            </a:pPr>
            <a:r>
              <a:rPr lang="en-US" dirty="0"/>
              <a:t>Examples: PyCharm, Spyder, </a:t>
            </a:r>
            <a:r>
              <a:rPr lang="en-US" dirty="0" err="1"/>
              <a:t>VSCode</a:t>
            </a:r>
            <a:endParaRPr lang="en-US" dirty="0"/>
          </a:p>
          <a:p>
            <a:pPr marL="0" indent="0">
              <a:buNone/>
            </a:pPr>
            <a:endParaRPr lang="en-US" dirty="0"/>
          </a:p>
          <a:p>
            <a:pPr marL="0" indent="0">
              <a:buNone/>
            </a:pPr>
            <a:r>
              <a:rPr lang="en-US" dirty="0"/>
              <a:t>I recommend VS Code</a:t>
            </a:r>
          </a:p>
          <a:p>
            <a:pPr marL="0" indent="0">
              <a:buNone/>
            </a:pPr>
            <a:r>
              <a:rPr lang="en-US" dirty="0">
                <a:hlinkClick r:id="rId3"/>
              </a:rPr>
              <a:t>https://code.visualstudio.com/</a:t>
            </a:r>
            <a:endParaRPr lang="en-US" dirty="0"/>
          </a:p>
          <a:p>
            <a:pPr marL="0" indent="0">
              <a:buNone/>
            </a:pPr>
            <a:r>
              <a:rPr lang="en-US" dirty="0"/>
              <a:t>Free, lots of plugins, supports </a:t>
            </a:r>
            <a:r>
              <a:rPr lang="en-US" dirty="0" err="1"/>
              <a:t>Jupyter</a:t>
            </a:r>
            <a:r>
              <a:rPr lang="en-US" dirty="0"/>
              <a:t> notebooks too!</a:t>
            </a: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99715" y="2310014"/>
            <a:ext cx="6500882" cy="4063052"/>
          </a:xfrm>
          <a:prstGeom prst="rect">
            <a:avLst/>
          </a:prstGeom>
        </p:spPr>
      </p:pic>
    </p:spTree>
    <p:extLst>
      <p:ext uri="{BB962C8B-B14F-4D97-AF65-F5344CB8AC3E}">
        <p14:creationId xmlns:p14="http://schemas.microsoft.com/office/powerpoint/2010/main" val="371056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AAB08-3F0E-5393-BF44-4CACF29A77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A0FFA8-6CCB-48BA-3596-B395FA2E42A1}"/>
              </a:ext>
            </a:extLst>
          </p:cNvPr>
          <p:cNvSpPr>
            <a:spLocks noGrp="1"/>
          </p:cNvSpPr>
          <p:nvPr>
            <p:ph type="title"/>
          </p:nvPr>
        </p:nvSpPr>
        <p:spPr/>
        <p:txBody>
          <a:bodyPr/>
          <a:lstStyle/>
          <a:p>
            <a:r>
              <a:rPr lang="en-US" dirty="0"/>
              <a:t>Tools: A Text Editor </a:t>
            </a:r>
          </a:p>
        </p:txBody>
      </p:sp>
      <p:sp>
        <p:nvSpPr>
          <p:cNvPr id="3" name="Content Placeholder 2">
            <a:extLst>
              <a:ext uri="{FF2B5EF4-FFF2-40B4-BE49-F238E27FC236}">
                <a16:creationId xmlns:a16="http://schemas.microsoft.com/office/drawing/2014/main" id="{2570F197-5B06-919A-1C46-DDCF70FABE7A}"/>
              </a:ext>
            </a:extLst>
          </p:cNvPr>
          <p:cNvSpPr>
            <a:spLocks noGrp="1"/>
          </p:cNvSpPr>
          <p:nvPr>
            <p:ph idx="1"/>
          </p:nvPr>
        </p:nvSpPr>
        <p:spPr>
          <a:xfrm>
            <a:off x="680322" y="2336872"/>
            <a:ext cx="4164633" cy="4077575"/>
          </a:xfrm>
        </p:spPr>
        <p:txBody>
          <a:bodyPr>
            <a:normAutofit lnSpcReduction="10000"/>
          </a:bodyPr>
          <a:lstStyle/>
          <a:p>
            <a:pPr marL="0" indent="0">
              <a:buNone/>
            </a:pPr>
            <a:r>
              <a:rPr lang="en-US" dirty="0"/>
              <a:t>Differs from an IDE </a:t>
            </a:r>
            <a:r>
              <a:rPr lang="mr-IN" dirty="0"/>
              <a:t>–</a:t>
            </a:r>
            <a:r>
              <a:rPr lang="en-US" dirty="0"/>
              <a:t> all they do is open, create, edit, and save plain text files </a:t>
            </a:r>
          </a:p>
          <a:p>
            <a:pPr marL="0" indent="0">
              <a:buNone/>
            </a:pPr>
            <a:endParaRPr lang="en-US" dirty="0"/>
          </a:p>
          <a:p>
            <a:pPr marL="0" indent="0">
              <a:buNone/>
            </a:pPr>
            <a:r>
              <a:rPr lang="en-US" dirty="0"/>
              <a:t>Lots of options – some run right in the terminal (Emacs, VIM, nano)</a:t>
            </a:r>
          </a:p>
          <a:p>
            <a:pPr marL="0" indent="0">
              <a:buNone/>
            </a:pPr>
            <a:endParaRPr lang="en-US" dirty="0"/>
          </a:p>
          <a:p>
            <a:pPr marL="0" indent="0">
              <a:buNone/>
            </a:pPr>
            <a:r>
              <a:rPr lang="en-US" dirty="0"/>
              <a:t>I recommend using VS Code for a GUI text editor and vim or nano for a command line editor.</a:t>
            </a:r>
          </a:p>
        </p:txBody>
      </p:sp>
      <p:pic>
        <p:nvPicPr>
          <p:cNvPr id="5" name="Picture 4">
            <a:extLst>
              <a:ext uri="{FF2B5EF4-FFF2-40B4-BE49-F238E27FC236}">
                <a16:creationId xmlns:a16="http://schemas.microsoft.com/office/drawing/2014/main" id="{8373A701-2BAA-C7AC-CB7F-C88B3FFA86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99715" y="2310014"/>
            <a:ext cx="6500882" cy="4063052"/>
          </a:xfrm>
          <a:prstGeom prst="rect">
            <a:avLst/>
          </a:prstGeom>
        </p:spPr>
      </p:pic>
    </p:spTree>
    <p:extLst>
      <p:ext uri="{BB962C8B-B14F-4D97-AF65-F5344CB8AC3E}">
        <p14:creationId xmlns:p14="http://schemas.microsoft.com/office/powerpoint/2010/main" val="214101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Tools: A Terminal </a:t>
            </a:r>
          </a:p>
        </p:txBody>
      </p:sp>
      <p:sp>
        <p:nvSpPr>
          <p:cNvPr id="3" name="Content Placeholder 2"/>
          <p:cNvSpPr>
            <a:spLocks noGrp="1"/>
          </p:cNvSpPr>
          <p:nvPr>
            <p:ph idx="1"/>
          </p:nvPr>
        </p:nvSpPr>
        <p:spPr>
          <a:xfrm>
            <a:off x="680322" y="2336873"/>
            <a:ext cx="5133624" cy="4377826"/>
          </a:xfrm>
        </p:spPr>
        <p:txBody>
          <a:bodyPr>
            <a:normAutofit lnSpcReduction="10000"/>
          </a:bodyPr>
          <a:lstStyle/>
          <a:p>
            <a:pPr marL="0" indent="0">
              <a:buNone/>
            </a:pPr>
            <a:r>
              <a:rPr lang="en-US" dirty="0"/>
              <a:t>I recommend iTerm2 for MacOS and the Windows Terminal for Windows</a:t>
            </a:r>
          </a:p>
          <a:p>
            <a:pPr lvl="1"/>
            <a:r>
              <a:rPr lang="en-US" dirty="0">
                <a:hlinkClick r:id="rId3"/>
              </a:rPr>
              <a:t>https://www.iterm2.com/</a:t>
            </a:r>
            <a:r>
              <a:rPr lang="en-US" dirty="0"/>
              <a:t> </a:t>
            </a:r>
          </a:p>
          <a:p>
            <a:pPr lvl="1"/>
            <a:r>
              <a:rPr lang="en-US" dirty="0">
                <a:hlinkClick r:id="rId4"/>
              </a:rPr>
              <a:t>https://apps.microsoft.com/detail/9n0dx20hk701</a:t>
            </a:r>
            <a:r>
              <a:rPr lang="en-US" dirty="0"/>
              <a:t> </a:t>
            </a:r>
          </a:p>
          <a:p>
            <a:pPr marL="0" indent="0">
              <a:buNone/>
            </a:pPr>
            <a:r>
              <a:rPr lang="en-US" dirty="0"/>
              <a:t>Think of the terminal as an alternative to having a graphical user interface (the desktop)</a:t>
            </a:r>
          </a:p>
          <a:p>
            <a:pPr marL="0" indent="0">
              <a:buNone/>
            </a:pPr>
            <a:endParaRPr lang="en-US" dirty="0"/>
          </a:p>
          <a:p>
            <a:pPr marL="0" indent="0">
              <a:buNone/>
            </a:pPr>
            <a:r>
              <a:rPr lang="en-US" dirty="0"/>
              <a:t>Tip: you can run python line-by-line in a terminal using interactive Python shell (</a:t>
            </a:r>
            <a:r>
              <a:rPr lang="en-US" i="1" dirty="0"/>
              <a:t>python </a:t>
            </a:r>
            <a:r>
              <a:rPr lang="en-US" dirty="0"/>
              <a:t>or </a:t>
            </a:r>
            <a:r>
              <a:rPr lang="en-US" i="1" dirty="0" err="1"/>
              <a:t>ipython</a:t>
            </a:r>
            <a:r>
              <a:rPr lang="en-US" dirty="0"/>
              <a:t>)</a:t>
            </a:r>
            <a:endParaRPr lang="en-US" i="1" dirty="0"/>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90778" y="2336873"/>
            <a:ext cx="5845755" cy="3921953"/>
          </a:xfrm>
          <a:prstGeom prst="rect">
            <a:avLst/>
          </a:prstGeom>
        </p:spPr>
      </p:pic>
    </p:spTree>
    <p:extLst>
      <p:ext uri="{BB962C8B-B14F-4D97-AF65-F5344CB8AC3E}">
        <p14:creationId xmlns:p14="http://schemas.microsoft.com/office/powerpoint/2010/main" val="1342594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Tools: A Terminal </a:t>
            </a:r>
          </a:p>
        </p:txBody>
      </p:sp>
      <p:sp>
        <p:nvSpPr>
          <p:cNvPr id="3" name="Content Placeholder 2"/>
          <p:cNvSpPr>
            <a:spLocks noGrp="1"/>
          </p:cNvSpPr>
          <p:nvPr>
            <p:ph idx="1"/>
          </p:nvPr>
        </p:nvSpPr>
        <p:spPr>
          <a:xfrm>
            <a:off x="680322" y="2336873"/>
            <a:ext cx="5133624" cy="4377826"/>
          </a:xfrm>
        </p:spPr>
        <p:txBody>
          <a:bodyPr>
            <a:normAutofit lnSpcReduction="10000"/>
          </a:bodyPr>
          <a:lstStyle/>
          <a:p>
            <a:pPr marL="0" indent="0">
              <a:buNone/>
            </a:pPr>
            <a:r>
              <a:rPr lang="en-US" dirty="0"/>
              <a:t>If you’re running Windows, you will need to install WSL (Windows Subsystem for Linux), which will give you a Linux terminal and allow you to install Linux programs on your computer. </a:t>
            </a:r>
          </a:p>
          <a:p>
            <a:pPr marL="0" indent="0">
              <a:buNone/>
            </a:pPr>
            <a:endParaRPr lang="en-US" dirty="0"/>
          </a:p>
          <a:p>
            <a:pPr marL="0" indent="0">
              <a:buNone/>
            </a:pPr>
            <a:r>
              <a:rPr lang="en-US" dirty="0"/>
              <a:t>Linux has a steep learning curve to begin with, but gets easier as you get more comfortable.</a:t>
            </a:r>
          </a:p>
          <a:p>
            <a:pPr marL="0" indent="0">
              <a:buNone/>
            </a:pPr>
            <a:endParaRPr lang="en-US" dirty="0"/>
          </a:p>
          <a:p>
            <a:pPr marL="0" indent="0">
              <a:buNone/>
            </a:pPr>
            <a:r>
              <a:rPr lang="en-US" dirty="0"/>
              <a:t>Talk to me if you need help with this! </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0778" y="2336873"/>
            <a:ext cx="5845755" cy="3921953"/>
          </a:xfrm>
          <a:prstGeom prst="rect">
            <a:avLst/>
          </a:prstGeom>
        </p:spPr>
      </p:pic>
    </p:spTree>
    <p:extLst>
      <p:ext uri="{BB962C8B-B14F-4D97-AF65-F5344CB8AC3E}">
        <p14:creationId xmlns:p14="http://schemas.microsoft.com/office/powerpoint/2010/main" val="7344689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Tools: Cloud Computing </a:t>
            </a:r>
          </a:p>
        </p:txBody>
      </p:sp>
      <p:sp>
        <p:nvSpPr>
          <p:cNvPr id="3" name="Content Placeholder 2"/>
          <p:cNvSpPr>
            <a:spLocks noGrp="1"/>
          </p:cNvSpPr>
          <p:nvPr>
            <p:ph idx="1"/>
          </p:nvPr>
        </p:nvSpPr>
        <p:spPr>
          <a:xfrm>
            <a:off x="680321" y="2336873"/>
            <a:ext cx="10592730" cy="4405121"/>
          </a:xfrm>
        </p:spPr>
        <p:txBody>
          <a:bodyPr>
            <a:normAutofit/>
          </a:bodyPr>
          <a:lstStyle/>
          <a:p>
            <a:pPr marL="0" lvl="0" indent="0">
              <a:lnSpc>
                <a:spcPct val="100000"/>
              </a:lnSpc>
              <a:spcBef>
                <a:spcPts val="0"/>
              </a:spcBef>
              <a:buNone/>
            </a:pPr>
            <a:r>
              <a:rPr lang="en-US" dirty="0"/>
              <a:t>Allows you to run python on a remote server </a:t>
            </a:r>
          </a:p>
          <a:p>
            <a:pPr marL="0" lvl="0" indent="0">
              <a:lnSpc>
                <a:spcPct val="100000"/>
              </a:lnSpc>
              <a:spcBef>
                <a:spcPts val="0"/>
              </a:spcBef>
              <a:buNone/>
            </a:pPr>
            <a:endParaRPr lang="en-US" dirty="0"/>
          </a:p>
          <a:p>
            <a:pPr marL="0" lvl="0" indent="0">
              <a:lnSpc>
                <a:spcPct val="100000"/>
              </a:lnSpc>
              <a:spcBef>
                <a:spcPts val="0"/>
              </a:spcBef>
              <a:buNone/>
            </a:pPr>
            <a:r>
              <a:rPr lang="en-US" dirty="0" err="1"/>
              <a:t>SciServer</a:t>
            </a:r>
            <a:r>
              <a:rPr lang="en-US" dirty="0"/>
              <a:t> is a popular platform across many STEM fields: </a:t>
            </a:r>
          </a:p>
          <a:p>
            <a:pPr marL="0" indent="0">
              <a:lnSpc>
                <a:spcPct val="100000"/>
              </a:lnSpc>
              <a:spcBef>
                <a:spcPts val="0"/>
              </a:spcBef>
              <a:buNone/>
            </a:pPr>
            <a:r>
              <a:rPr lang="en-US" dirty="0">
                <a:hlinkClick r:id="rId3"/>
              </a:rPr>
              <a:t>https://www.sciserver.org/</a:t>
            </a:r>
            <a:r>
              <a:rPr lang="en-US" dirty="0"/>
              <a:t> </a:t>
            </a:r>
          </a:p>
          <a:p>
            <a:pPr marL="0" lvl="0" indent="0">
              <a:lnSpc>
                <a:spcPct val="100000"/>
              </a:lnSpc>
              <a:spcBef>
                <a:spcPts val="0"/>
              </a:spcBef>
              <a:buNone/>
            </a:pPr>
            <a:endParaRPr lang="en-US" dirty="0"/>
          </a:p>
          <a:p>
            <a:pPr marL="0" lvl="0" indent="0">
              <a:lnSpc>
                <a:spcPct val="100000"/>
              </a:lnSpc>
              <a:spcBef>
                <a:spcPts val="0"/>
              </a:spcBef>
              <a:buNone/>
            </a:pPr>
            <a:endParaRPr lang="en-US" i="1" dirty="0"/>
          </a:p>
          <a:p>
            <a:pPr marL="0" lvl="0" indent="0">
              <a:lnSpc>
                <a:spcPct val="100000"/>
              </a:lnSpc>
              <a:spcBef>
                <a:spcPts val="0"/>
              </a:spcBef>
              <a:buNone/>
            </a:pPr>
            <a:endParaRPr lang="en-US" i="1" dirty="0"/>
          </a:p>
          <a:p>
            <a:pPr marL="0" lvl="0" indent="0">
              <a:lnSpc>
                <a:spcPct val="100000"/>
              </a:lnSpc>
              <a:spcBef>
                <a:spcPts val="0"/>
              </a:spcBef>
              <a:buNone/>
            </a:pPr>
            <a:endParaRPr lang="en-US" i="1" dirty="0"/>
          </a:p>
          <a:p>
            <a:pPr marL="0" lvl="0" indent="0">
              <a:lnSpc>
                <a:spcPct val="100000"/>
              </a:lnSpc>
              <a:spcBef>
                <a:spcPts val="0"/>
              </a:spcBef>
              <a:buNone/>
            </a:pPr>
            <a:endParaRPr lang="en-US" i="1" dirty="0"/>
          </a:p>
          <a:p>
            <a:pPr marL="0" lvl="0" indent="0">
              <a:lnSpc>
                <a:spcPct val="100000"/>
              </a:lnSpc>
              <a:spcBef>
                <a:spcPts val="0"/>
              </a:spcBef>
              <a:buNone/>
            </a:pPr>
            <a:endParaRPr lang="en-US" i="1" dirty="0"/>
          </a:p>
          <a:p>
            <a:pPr marL="0" lvl="0" indent="0">
              <a:lnSpc>
                <a:spcPct val="100000"/>
              </a:lnSpc>
              <a:spcBef>
                <a:spcPts val="0"/>
              </a:spcBef>
              <a:buNone/>
            </a:pPr>
            <a:r>
              <a:rPr lang="en-US" i="1" dirty="0"/>
              <a:t>In the long run you should choose the tools that you’re most comfortable with </a:t>
            </a: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10406" y="3950017"/>
            <a:ext cx="6333594" cy="1973550"/>
          </a:xfrm>
          <a:prstGeom prst="rect">
            <a:avLst/>
          </a:prstGeom>
        </p:spPr>
      </p:pic>
    </p:spTree>
    <p:extLst>
      <p:ext uri="{BB962C8B-B14F-4D97-AF65-F5344CB8AC3E}">
        <p14:creationId xmlns:p14="http://schemas.microsoft.com/office/powerpoint/2010/main" val="1702059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 You Haven’t Already </a:t>
            </a:r>
          </a:p>
        </p:txBody>
      </p:sp>
      <p:sp>
        <p:nvSpPr>
          <p:cNvPr id="3" name="Content Placeholder 2"/>
          <p:cNvSpPr>
            <a:spLocks noGrp="1"/>
          </p:cNvSpPr>
          <p:nvPr>
            <p:ph idx="1"/>
          </p:nvPr>
        </p:nvSpPr>
        <p:spPr>
          <a:xfrm>
            <a:off x="680322" y="2336872"/>
            <a:ext cx="6131296" cy="4412271"/>
          </a:xfrm>
        </p:spPr>
        <p:txBody>
          <a:bodyPr>
            <a:normAutofit lnSpcReduction="10000"/>
          </a:bodyPr>
          <a:lstStyle/>
          <a:p>
            <a:pPr marL="0" lvl="0" indent="0">
              <a:lnSpc>
                <a:spcPct val="100000"/>
              </a:lnSpc>
              <a:spcBef>
                <a:spcPts val="0"/>
              </a:spcBef>
              <a:buNone/>
            </a:pPr>
            <a:r>
              <a:rPr lang="en-US" dirty="0">
                <a:hlinkClick r:id="rId3"/>
              </a:rPr>
              <a:t>https://www.anaconda.com/products/individual</a:t>
            </a:r>
            <a:endParaRPr lang="en-US" dirty="0"/>
          </a:p>
          <a:p>
            <a:pPr lvl="1">
              <a:lnSpc>
                <a:spcPct val="100000"/>
              </a:lnSpc>
              <a:spcBef>
                <a:spcPts val="0"/>
              </a:spcBef>
            </a:pPr>
            <a:r>
              <a:rPr lang="en-US" dirty="0"/>
              <a:t>This will install Python, Anaconda, and </a:t>
            </a:r>
            <a:r>
              <a:rPr lang="en-US" dirty="0" err="1"/>
              <a:t>Jupyter</a:t>
            </a:r>
            <a:r>
              <a:rPr lang="en-US" dirty="0"/>
              <a:t> Notebooks </a:t>
            </a:r>
          </a:p>
          <a:p>
            <a:pPr lvl="1">
              <a:lnSpc>
                <a:spcPct val="100000"/>
              </a:lnSpc>
              <a:spcBef>
                <a:spcPts val="0"/>
              </a:spcBef>
            </a:pPr>
            <a:r>
              <a:rPr lang="en-US" dirty="0"/>
              <a:t>Make sure you install it in WSL if you have a Windows computer!</a:t>
            </a:r>
          </a:p>
          <a:p>
            <a:pPr marL="0" indent="0">
              <a:lnSpc>
                <a:spcPct val="100000"/>
              </a:lnSpc>
              <a:spcBef>
                <a:spcPts val="0"/>
              </a:spcBef>
              <a:buNone/>
            </a:pPr>
            <a:endParaRPr lang="en-US" dirty="0"/>
          </a:p>
          <a:p>
            <a:pPr marL="0" indent="0">
              <a:lnSpc>
                <a:spcPct val="100000"/>
              </a:lnSpc>
              <a:spcBef>
                <a:spcPts val="0"/>
              </a:spcBef>
              <a:buNone/>
            </a:pPr>
            <a:r>
              <a:rPr lang="en-US" dirty="0"/>
              <a:t>Latest version of python: 3.14.5</a:t>
            </a:r>
          </a:p>
          <a:p>
            <a:pPr lvl="1">
              <a:lnSpc>
                <a:spcPct val="100000"/>
              </a:lnSpc>
              <a:spcBef>
                <a:spcPts val="0"/>
              </a:spcBef>
            </a:pPr>
            <a:r>
              <a:rPr lang="en-US" dirty="0"/>
              <a:t>Most libraries now require &gt;= 3.11</a:t>
            </a:r>
          </a:p>
          <a:p>
            <a:pPr lvl="1">
              <a:lnSpc>
                <a:spcPct val="100000"/>
              </a:lnSpc>
              <a:spcBef>
                <a:spcPts val="0"/>
              </a:spcBef>
            </a:pPr>
            <a:r>
              <a:rPr lang="en-US" dirty="0"/>
              <a:t>Usually* you want to install one major version below the latest for best package compatibility</a:t>
            </a:r>
          </a:p>
          <a:p>
            <a:pPr marL="457200" lvl="1" indent="0">
              <a:lnSpc>
                <a:spcPct val="100000"/>
              </a:lnSpc>
              <a:spcBef>
                <a:spcPts val="0"/>
              </a:spcBef>
              <a:buNone/>
            </a:pPr>
            <a:endParaRPr lang="en-US" dirty="0"/>
          </a:p>
          <a:p>
            <a:pPr marL="0" indent="0">
              <a:lnSpc>
                <a:spcPct val="100000"/>
              </a:lnSpc>
              <a:spcBef>
                <a:spcPts val="0"/>
              </a:spcBef>
              <a:buNone/>
            </a:pPr>
            <a:r>
              <a:rPr lang="en-US" dirty="0"/>
              <a:t>Python 2.7 is </a:t>
            </a:r>
            <a:r>
              <a:rPr lang="en-US" i="1" dirty="0"/>
              <a:t>deprecated</a:t>
            </a:r>
          </a:p>
          <a:p>
            <a:pPr lvl="1">
              <a:lnSpc>
                <a:spcPct val="100000"/>
              </a:lnSpc>
              <a:spcBef>
                <a:spcPts val="0"/>
              </a:spcBef>
            </a:pPr>
            <a:r>
              <a:rPr lang="en-US" dirty="0"/>
              <a:t>Talk to us if you need to use it, for now just don’t install that version</a:t>
            </a: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0200" y="2875787"/>
            <a:ext cx="5335104" cy="3334440"/>
          </a:xfrm>
          <a:prstGeom prst="rect">
            <a:avLst/>
          </a:prstGeom>
        </p:spPr>
      </p:pic>
    </p:spTree>
    <p:extLst>
      <p:ext uri="{BB962C8B-B14F-4D97-AF65-F5344CB8AC3E}">
        <p14:creationId xmlns:p14="http://schemas.microsoft.com/office/powerpoint/2010/main" val="15594865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Goals </a:t>
            </a:r>
          </a:p>
        </p:txBody>
      </p:sp>
      <p:sp>
        <p:nvSpPr>
          <p:cNvPr id="3" name="Content Placeholder 2"/>
          <p:cNvSpPr>
            <a:spLocks noGrp="1"/>
          </p:cNvSpPr>
          <p:nvPr>
            <p:ph idx="1"/>
          </p:nvPr>
        </p:nvSpPr>
        <p:spPr>
          <a:xfrm>
            <a:off x="680321" y="2227690"/>
            <a:ext cx="9613861" cy="4377827"/>
          </a:xfrm>
        </p:spPr>
        <p:txBody>
          <a:bodyPr>
            <a:normAutofit/>
          </a:bodyPr>
          <a:lstStyle/>
          <a:p>
            <a:pPr marL="0" indent="0">
              <a:buNone/>
            </a:pPr>
            <a:r>
              <a:rPr lang="en-US" dirty="0"/>
              <a:t>What we’ll aim to cover:</a:t>
            </a:r>
          </a:p>
          <a:p>
            <a:pPr lvl="1"/>
            <a:r>
              <a:rPr lang="en-US" dirty="0"/>
              <a:t>How to use a terminal</a:t>
            </a:r>
          </a:p>
          <a:p>
            <a:pPr lvl="1"/>
            <a:r>
              <a:rPr lang="en-US" dirty="0"/>
              <a:t>Review of the basics: control structures, data types, functions, import, etc.</a:t>
            </a:r>
          </a:p>
          <a:p>
            <a:pPr lvl="1"/>
            <a:r>
              <a:rPr lang="en-US" dirty="0"/>
              <a:t>How to read documentation</a:t>
            </a:r>
          </a:p>
          <a:p>
            <a:pPr lvl="2"/>
            <a:r>
              <a:rPr lang="en-US" dirty="0"/>
              <a:t>We will talk about how AI/LLMs play into this</a:t>
            </a:r>
          </a:p>
          <a:p>
            <a:pPr lvl="1"/>
            <a:r>
              <a:rPr lang="en-US" dirty="0"/>
              <a:t>Third-party libraries: NumPy, </a:t>
            </a:r>
            <a:r>
              <a:rPr lang="en-US" dirty="0" err="1"/>
              <a:t>AstroPy</a:t>
            </a:r>
            <a:r>
              <a:rPr lang="en-US" dirty="0"/>
              <a:t> and matplotlib</a:t>
            </a:r>
          </a:p>
          <a:p>
            <a:pPr lvl="1"/>
            <a:r>
              <a:rPr lang="en-US" dirty="0"/>
              <a:t>How to import your own code, and how to set up a directory tree to organize it</a:t>
            </a:r>
          </a:p>
          <a:p>
            <a:pPr lvl="1"/>
            <a:r>
              <a:rPr lang="en-US" dirty="0"/>
              <a:t>Classes: how to make new objects</a:t>
            </a:r>
          </a:p>
          <a:p>
            <a:pPr lvl="2"/>
            <a:r>
              <a:rPr lang="en-US" dirty="0"/>
              <a:t>Inheritance and Composition</a:t>
            </a:r>
          </a:p>
          <a:p>
            <a:pPr lvl="1"/>
            <a:r>
              <a:rPr lang="en-US" dirty="0"/>
              <a:t>Some basic software engineering principles (i.e. good habits)</a:t>
            </a:r>
          </a:p>
          <a:p>
            <a:pPr marL="0" indent="0">
              <a:buNone/>
            </a:pPr>
            <a:endParaRPr lang="en-US" dirty="0"/>
          </a:p>
        </p:txBody>
      </p:sp>
    </p:spTree>
    <p:extLst>
      <p:ext uri="{BB962C8B-B14F-4D97-AF65-F5344CB8AC3E}">
        <p14:creationId xmlns:p14="http://schemas.microsoft.com/office/powerpoint/2010/main" val="1230225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708F2-F3CD-1999-37A4-607AE164E6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86F95D-67FB-97DA-3068-2DC44030FDD7}"/>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F043A82C-8AFE-6614-538C-13F7DDFAD79F}"/>
              </a:ext>
            </a:extLst>
          </p:cNvPr>
          <p:cNvSpPr>
            <a:spLocks noGrp="1"/>
          </p:cNvSpPr>
          <p:nvPr>
            <p:ph idx="1"/>
          </p:nvPr>
        </p:nvSpPr>
        <p:spPr>
          <a:xfrm>
            <a:off x="680321" y="2227690"/>
            <a:ext cx="5415679" cy="4377827"/>
          </a:xfrm>
        </p:spPr>
        <p:txBody>
          <a:bodyPr>
            <a:normAutofit/>
          </a:bodyPr>
          <a:lstStyle/>
          <a:p>
            <a:pPr marL="0" indent="0">
              <a:buNone/>
            </a:pPr>
            <a:r>
              <a:rPr lang="en-US" dirty="0"/>
              <a:t>Do use:</a:t>
            </a:r>
          </a:p>
          <a:p>
            <a:r>
              <a:rPr lang="en-US" dirty="0"/>
              <a:t>The reference notebooks and slides</a:t>
            </a:r>
          </a:p>
          <a:p>
            <a:r>
              <a:rPr lang="en-US" dirty="0"/>
              <a:t>Your groupmates and peers</a:t>
            </a:r>
          </a:p>
          <a:p>
            <a:r>
              <a:rPr lang="en-US" dirty="0"/>
              <a:t>The bootcamp facilitators</a:t>
            </a:r>
          </a:p>
          <a:p>
            <a:r>
              <a:rPr lang="en-US" dirty="0"/>
              <a:t>Coding forums, e.g. Stack Overflow</a:t>
            </a:r>
          </a:p>
          <a:p>
            <a:pPr lvl="1"/>
            <a:r>
              <a:rPr lang="en-US" dirty="0"/>
              <a:t>Can be hit or miss honestly</a:t>
            </a:r>
          </a:p>
          <a:p>
            <a:r>
              <a:rPr lang="en-US" dirty="0"/>
              <a:t>Your research advisor(s)</a:t>
            </a:r>
          </a:p>
          <a:p>
            <a:endParaRPr lang="en-US" dirty="0"/>
          </a:p>
          <a:p>
            <a:pPr marL="0" indent="0">
              <a:buNone/>
            </a:pPr>
            <a:endParaRPr lang="en-US" dirty="0"/>
          </a:p>
        </p:txBody>
      </p:sp>
      <p:sp>
        <p:nvSpPr>
          <p:cNvPr id="4" name="Content Placeholder 2">
            <a:extLst>
              <a:ext uri="{FF2B5EF4-FFF2-40B4-BE49-F238E27FC236}">
                <a16:creationId xmlns:a16="http://schemas.microsoft.com/office/drawing/2014/main" id="{AD5DEBFE-D58C-1FAD-ECA5-657F9B73B874}"/>
              </a:ext>
            </a:extLst>
          </p:cNvPr>
          <p:cNvSpPr txBox="1">
            <a:spLocks/>
          </p:cNvSpPr>
          <p:nvPr/>
        </p:nvSpPr>
        <p:spPr>
          <a:xfrm>
            <a:off x="6096000" y="2227689"/>
            <a:ext cx="5415679" cy="43778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Times New Roman" charset="0"/>
                <a:ea typeface="Times New Roman" charset="0"/>
                <a:cs typeface="Times New Roman"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charset="0"/>
                <a:ea typeface="Times New Roman" charset="0"/>
                <a:cs typeface="Times New Roman"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charset="0"/>
                <a:ea typeface="Times New Roman" charset="0"/>
                <a:cs typeface="Times New Roman"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Times New Roman" charset="0"/>
                <a:ea typeface="Times New Roman" charset="0"/>
                <a:cs typeface="Times New Roman"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Times New Roman" charset="0"/>
                <a:ea typeface="Times New Roman" charset="0"/>
                <a:cs typeface="Times New Roman"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dirty="0"/>
              <a:t>Don’t use</a:t>
            </a:r>
            <a:r>
              <a:rPr lang="en-US" dirty="0"/>
              <a:t>:</a:t>
            </a:r>
          </a:p>
          <a:p>
            <a:r>
              <a:rPr lang="en-US" b="1" dirty="0"/>
              <a:t>ChatGPT, Copilot, or other AI code generators</a:t>
            </a:r>
            <a:r>
              <a:rPr lang="en-US" dirty="0"/>
              <a:t>. You will not learn anything if you rely on these tools while you are learning. We will talk more about how to use LLMs effectively later.</a:t>
            </a:r>
          </a:p>
          <a:p>
            <a:endParaRPr lang="en-US" dirty="0"/>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28414738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09856-FD0F-864B-84CD-9A58F00FA872}"/>
              </a:ext>
            </a:extLst>
          </p:cNvPr>
          <p:cNvSpPr>
            <a:spLocks noGrp="1"/>
          </p:cNvSpPr>
          <p:nvPr>
            <p:ph type="title"/>
          </p:nvPr>
        </p:nvSpPr>
        <p:spPr/>
        <p:txBody>
          <a:bodyPr/>
          <a:lstStyle/>
          <a:p>
            <a:r>
              <a:rPr lang="en-US" dirty="0"/>
              <a:t>Monday Motivation</a:t>
            </a:r>
          </a:p>
        </p:txBody>
      </p:sp>
      <p:sp>
        <p:nvSpPr>
          <p:cNvPr id="3" name="Content Placeholder 2">
            <a:extLst>
              <a:ext uri="{FF2B5EF4-FFF2-40B4-BE49-F238E27FC236}">
                <a16:creationId xmlns:a16="http://schemas.microsoft.com/office/drawing/2014/main" id="{3763AF5C-D675-4048-82E9-81BBDD3B035D}"/>
              </a:ext>
            </a:extLst>
          </p:cNvPr>
          <p:cNvSpPr>
            <a:spLocks noGrp="1"/>
          </p:cNvSpPr>
          <p:nvPr>
            <p:ph idx="1"/>
          </p:nvPr>
        </p:nvSpPr>
        <p:spPr>
          <a:xfrm>
            <a:off x="770916" y="2268635"/>
            <a:ext cx="9432669" cy="4254996"/>
          </a:xfrm>
        </p:spPr>
        <p:txBody>
          <a:bodyPr/>
          <a:lstStyle/>
          <a:p>
            <a:pPr marL="0" indent="0" algn="ctr">
              <a:buNone/>
            </a:pPr>
            <a:r>
              <a:rPr lang="en-US" dirty="0"/>
              <a:t>Every expert coder was once a novice.</a:t>
            </a:r>
          </a:p>
          <a:p>
            <a:pPr marL="0" indent="0" algn="ctr">
              <a:buNone/>
            </a:pPr>
            <a:endParaRPr lang="en-US" dirty="0"/>
          </a:p>
          <a:p>
            <a:pPr marL="0" indent="0" algn="ctr">
              <a:buNone/>
            </a:pPr>
            <a:r>
              <a:rPr lang="en-US" dirty="0"/>
              <a:t>You can’t improve your coding practices without first criticizing what you once thought was great code.</a:t>
            </a:r>
          </a:p>
          <a:p>
            <a:pPr marL="0" indent="0" algn="ctr">
              <a:buNone/>
            </a:pPr>
            <a:endParaRPr lang="en-US" dirty="0"/>
          </a:p>
          <a:p>
            <a:pPr marL="0" indent="0" algn="ctr">
              <a:buNone/>
            </a:pPr>
            <a:r>
              <a:rPr lang="en-US" dirty="0"/>
              <a:t>Since we’re not professional developers, scientists have to </a:t>
            </a:r>
            <a:r>
              <a:rPr lang="en-US" i="1" dirty="0"/>
              <a:t>actively </a:t>
            </a:r>
            <a:r>
              <a:rPr lang="en-US" dirty="0"/>
              <a:t>create and foster good coding habits if they want them. Being early career researchers, you have the option to make this decision now. It will only become more difficult to do this.</a:t>
            </a:r>
          </a:p>
        </p:txBody>
      </p:sp>
    </p:spTree>
    <p:extLst>
      <p:ext uri="{BB962C8B-B14F-4D97-AF65-F5344CB8AC3E}">
        <p14:creationId xmlns:p14="http://schemas.microsoft.com/office/powerpoint/2010/main" val="33163212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0855E-9A9A-4C4C-CC50-5494CD40FF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525B66-1832-5C36-157B-BAC7D9B14968}"/>
              </a:ext>
            </a:extLst>
          </p:cNvPr>
          <p:cNvSpPr>
            <a:spLocks noGrp="1"/>
          </p:cNvSpPr>
          <p:nvPr>
            <p:ph type="title"/>
          </p:nvPr>
        </p:nvSpPr>
        <p:spPr/>
        <p:txBody>
          <a:bodyPr/>
          <a:lstStyle/>
          <a:p>
            <a:r>
              <a:rPr lang="en-US" dirty="0"/>
              <a:t>Today’s Plan</a:t>
            </a:r>
          </a:p>
        </p:txBody>
      </p:sp>
      <p:sp>
        <p:nvSpPr>
          <p:cNvPr id="3" name="Content Placeholder 2">
            <a:extLst>
              <a:ext uri="{FF2B5EF4-FFF2-40B4-BE49-F238E27FC236}">
                <a16:creationId xmlns:a16="http://schemas.microsoft.com/office/drawing/2014/main" id="{2A9716EF-73F9-97EF-2804-0D0D46719BCF}"/>
              </a:ext>
            </a:extLst>
          </p:cNvPr>
          <p:cNvSpPr>
            <a:spLocks noGrp="1"/>
          </p:cNvSpPr>
          <p:nvPr>
            <p:ph idx="1"/>
          </p:nvPr>
        </p:nvSpPr>
        <p:spPr>
          <a:xfrm>
            <a:off x="770916" y="2268635"/>
            <a:ext cx="9432669" cy="4254996"/>
          </a:xfrm>
        </p:spPr>
        <p:txBody>
          <a:bodyPr>
            <a:normAutofit lnSpcReduction="10000"/>
          </a:bodyPr>
          <a:lstStyle/>
          <a:p>
            <a:pPr marL="457200" indent="-457200">
              <a:buFont typeface="+mj-lt"/>
              <a:buAutoNum type="arabicPeriod"/>
            </a:pPr>
            <a:r>
              <a:rPr lang="en-US" dirty="0"/>
              <a:t>Slides: context, terminal, </a:t>
            </a:r>
            <a:r>
              <a:rPr lang="en-US" dirty="0" err="1"/>
              <a:t>github</a:t>
            </a:r>
            <a:endParaRPr lang="en-US" dirty="0"/>
          </a:p>
          <a:p>
            <a:pPr marL="457200" indent="-457200">
              <a:buFont typeface="+mj-lt"/>
              <a:buAutoNum type="arabicPeriod"/>
            </a:pPr>
            <a:r>
              <a:rPr lang="en-US" dirty="0"/>
              <a:t>Get into groups – all experience levels in each group</a:t>
            </a:r>
          </a:p>
          <a:p>
            <a:pPr marL="457200" indent="-457200">
              <a:buFont typeface="+mj-lt"/>
              <a:buAutoNum type="arabicPeriod"/>
            </a:pPr>
            <a:r>
              <a:rPr lang="en-US" dirty="0"/>
              <a:t>Install Anaconda (unless you already have a Python install you can use)</a:t>
            </a:r>
          </a:p>
          <a:p>
            <a:pPr marL="457200" indent="-457200">
              <a:buFont typeface="+mj-lt"/>
              <a:buAutoNum type="arabicPeriod"/>
            </a:pPr>
            <a:r>
              <a:rPr lang="en-US" dirty="0"/>
              <a:t>Make sure you have a way to edit text files and </a:t>
            </a:r>
            <a:r>
              <a:rPr lang="en-US" dirty="0" err="1"/>
              <a:t>Jupyter</a:t>
            </a:r>
            <a:r>
              <a:rPr lang="en-US" dirty="0"/>
              <a:t> notebooks</a:t>
            </a:r>
          </a:p>
          <a:p>
            <a:pPr lvl="1"/>
            <a:r>
              <a:rPr lang="en-US" dirty="0"/>
              <a:t>Either an IDE or combination text editor and web browser</a:t>
            </a:r>
          </a:p>
          <a:p>
            <a:pPr marL="457200" indent="-457200">
              <a:buFont typeface="+mj-lt"/>
              <a:buAutoNum type="arabicPeriod"/>
            </a:pPr>
            <a:r>
              <a:rPr lang="en-US" dirty="0"/>
              <a:t>Windows users: install WSL</a:t>
            </a:r>
          </a:p>
          <a:p>
            <a:pPr lvl="1"/>
            <a:r>
              <a:rPr lang="en-US" dirty="0"/>
              <a:t>or find a friend with a UNIX terminal</a:t>
            </a:r>
          </a:p>
          <a:p>
            <a:pPr marL="457200" indent="-457200">
              <a:buFont typeface="+mj-lt"/>
              <a:buAutoNum type="arabicPeriod"/>
            </a:pPr>
            <a:r>
              <a:rPr lang="en-US" dirty="0"/>
              <a:t>Download course material (small intro to git)</a:t>
            </a:r>
          </a:p>
          <a:p>
            <a:pPr lvl="1"/>
            <a:r>
              <a:rPr lang="en-US" dirty="0"/>
              <a:t>git clone </a:t>
            </a:r>
            <a:r>
              <a:rPr lang="en-US" dirty="0">
                <a:hlinkClick r:id="rId2"/>
              </a:rPr>
              <a:t>https://github.com/jacksondatkuliak/PythonBootcamp2026</a:t>
            </a:r>
            <a:r>
              <a:rPr lang="en-US" dirty="0"/>
              <a:t>  </a:t>
            </a:r>
          </a:p>
          <a:p>
            <a:pPr marL="457200" indent="-457200">
              <a:buFont typeface="+mj-lt"/>
              <a:buAutoNum type="arabicPeriod"/>
            </a:pPr>
            <a:r>
              <a:rPr lang="en-US" dirty="0"/>
              <a:t>Group challenge: terminal quest!</a:t>
            </a:r>
          </a:p>
          <a:p>
            <a:pPr marL="457200" indent="-457200">
              <a:buFont typeface="+mj-lt"/>
              <a:buAutoNum type="arabicPeriod"/>
            </a:pPr>
            <a:r>
              <a:rPr lang="en-US" dirty="0"/>
              <a:t>Individual exercises (</a:t>
            </a:r>
            <a:r>
              <a:rPr lang="en-US"/>
              <a:t>as time allows)</a:t>
            </a:r>
            <a:endParaRPr lang="en-US" dirty="0"/>
          </a:p>
        </p:txBody>
      </p:sp>
    </p:spTree>
    <p:extLst>
      <p:ext uri="{BB962C8B-B14F-4D97-AF65-F5344CB8AC3E}">
        <p14:creationId xmlns:p14="http://schemas.microsoft.com/office/powerpoint/2010/main" val="3718119299"/>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Berlin</Template>
  <TotalTime>8949</TotalTime>
  <Words>2031</Words>
  <Application>Microsoft Macintosh PowerPoint</Application>
  <PresentationFormat>Widescreen</PresentationFormat>
  <Paragraphs>187</Paragraphs>
  <Slides>18</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Berlin</vt:lpstr>
      <vt:lpstr>Introduction</vt:lpstr>
      <vt:lpstr>Hello!</vt:lpstr>
      <vt:lpstr>Format</vt:lpstr>
      <vt:lpstr>Format</vt:lpstr>
      <vt:lpstr>Survey Responses</vt:lpstr>
      <vt:lpstr>Survey Responses</vt:lpstr>
      <vt:lpstr>Survey Responses </vt:lpstr>
      <vt:lpstr>Additional Learning Material</vt:lpstr>
      <vt:lpstr>Tools: An IDE</vt:lpstr>
      <vt:lpstr>Tools: A Text Editor </vt:lpstr>
      <vt:lpstr>Tools: A Terminal </vt:lpstr>
      <vt:lpstr>Tools: A Terminal </vt:lpstr>
      <vt:lpstr>Tools: Cloud Computing </vt:lpstr>
      <vt:lpstr>If You Haven’t Already </vt:lpstr>
      <vt:lpstr>Goals </vt:lpstr>
      <vt:lpstr>Resources</vt:lpstr>
      <vt:lpstr>Monday Motivation</vt:lpstr>
      <vt:lpstr>Today’s Plan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Johnson, James William</dc:creator>
  <cp:lastModifiedBy>Datkuliak, Jackson</cp:lastModifiedBy>
  <cp:revision>338</cp:revision>
  <dcterms:created xsi:type="dcterms:W3CDTF">2020-02-27T18:08:37Z</dcterms:created>
  <dcterms:modified xsi:type="dcterms:W3CDTF">2026-05-11T18:05:37Z</dcterms:modified>
</cp:coreProperties>
</file>