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94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6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23A399-7F87-6D46-845D-8770B3B26D43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A16369-5BB1-E74C-972E-3FF44C415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12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</a:t>
            </a:r>
            <a:r>
              <a:rPr lang="en-US" baseline="0" dirty="0"/>
              <a:t> will cover more on </a:t>
            </a:r>
            <a:r>
              <a:rPr lang="en-US" baseline="0" dirty="0" err="1"/>
              <a:t>NumPy</a:t>
            </a:r>
            <a:r>
              <a:rPr lang="en-US" baseline="0"/>
              <a:t> and Anaconda in the next session!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A16369-5BB1-E74C-972E-3FF44C415E8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583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3806-0BCD-1F42-BAA8-2011034B3C6A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E91FEF2-9535-6649-9966-C0D43DCC74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3806-0BCD-1F42-BAA8-2011034B3C6A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EF2-9535-6649-9966-C0D43DCC74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3806-0BCD-1F42-BAA8-2011034B3C6A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E91FEF2-9535-6649-9966-C0D43DCC74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3806-0BCD-1F42-BAA8-2011034B3C6A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EF2-9535-6649-9966-C0D43DCC74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3806-0BCD-1F42-BAA8-2011034B3C6A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EF2-9535-6649-9966-C0D43DCC74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3806-0BCD-1F42-BAA8-2011034B3C6A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EF2-9535-6649-9966-C0D43DCC74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3806-0BCD-1F42-BAA8-2011034B3C6A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EF2-9535-6649-9966-C0D43DCC74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3806-0BCD-1F42-BAA8-2011034B3C6A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EF2-9535-6649-9966-C0D43DCC74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3806-0BCD-1F42-BAA8-2011034B3C6A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EF2-9535-6649-9966-C0D43DCC74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3806-0BCD-1F42-BAA8-2011034B3C6A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E91FEF2-9535-6649-9966-C0D43DCC74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3806-0BCD-1F42-BAA8-2011034B3C6A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E91FEF2-9535-6649-9966-C0D43DCC74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3806-0BCD-1F42-BAA8-2011034B3C6A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E91FEF2-9535-6649-9966-C0D43DCC741C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3806-0BCD-1F42-BAA8-2011034B3C6A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E91FEF2-9535-6649-9966-C0D43DCC74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3806-0BCD-1F42-BAA8-2011034B3C6A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EF2-9535-6649-9966-C0D43DCC74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3806-0BCD-1F42-BAA8-2011034B3C6A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EF2-9535-6649-9966-C0D43DCC74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3806-0BCD-1F42-BAA8-2011034B3C6A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EF2-9535-6649-9966-C0D43DCC74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51673806-0BCD-1F42-BAA8-2011034B3C6A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E91FEF2-9535-6649-9966-C0D43DCC74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fld id="{51673806-0BCD-1F42-BAA8-2011034B3C6A}" type="datetimeFigureOut">
              <a:rPr lang="en-US" smtClean="0"/>
              <a:pPr/>
              <a:t>5/12/26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fld id="{6E91FEF2-9535-6649-9966-C0D43DCC74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0473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95" r:id="rId1"/>
    <p:sldLayoutId id="2147484296" r:id="rId2"/>
    <p:sldLayoutId id="2147484297" r:id="rId3"/>
    <p:sldLayoutId id="2147484298" r:id="rId4"/>
    <p:sldLayoutId id="2147484299" r:id="rId5"/>
    <p:sldLayoutId id="2147484300" r:id="rId6"/>
    <p:sldLayoutId id="2147484301" r:id="rId7"/>
    <p:sldLayoutId id="2147484302" r:id="rId8"/>
    <p:sldLayoutId id="2147484303" r:id="rId9"/>
    <p:sldLayoutId id="2147484304" r:id="rId10"/>
    <p:sldLayoutId id="2147484305" r:id="rId11"/>
    <p:sldLayoutId id="2147484306" r:id="rId12"/>
    <p:sldLayoutId id="2147484307" r:id="rId13"/>
    <p:sldLayoutId id="2147484308" r:id="rId14"/>
    <p:sldLayoutId id="2147484309" r:id="rId15"/>
    <p:sldLayoutId id="2147484310" r:id="rId16"/>
    <p:sldLayoutId id="214748431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Times New Roman" charset="0"/>
          <a:ea typeface="Times New Roman" charset="0"/>
          <a:cs typeface="Times New Roman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charset="0"/>
          <a:ea typeface="Times New Roman" charset="0"/>
          <a:cs typeface="Times New Roman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charset="0"/>
          <a:ea typeface="Times New Roman" charset="0"/>
          <a:cs typeface="Times New Roman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charset="0"/>
          <a:ea typeface="Times New Roman" charset="0"/>
          <a:cs typeface="Times New Roman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Times New Roman" charset="0"/>
          <a:ea typeface="Times New Roman" charset="0"/>
          <a:cs typeface="Times New Roman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Times New Roman" charset="0"/>
          <a:ea typeface="Times New Roman" charset="0"/>
          <a:cs typeface="Times New Roman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docs.python.org/3.10/library/string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SURP 2022 </a:t>
            </a:r>
            <a:r>
              <a:rPr lang="en-US" dirty="0"/>
              <a:t>Python Bootcamp</a:t>
            </a:r>
          </a:p>
          <a:p>
            <a:r>
              <a:rPr lang="en-US" dirty="0"/>
              <a:t>Ohio State Astronomy </a:t>
            </a:r>
          </a:p>
          <a:p>
            <a:r>
              <a:rPr lang="en-US" dirty="0"/>
              <a:t>Slides by: James W. Johnson</a:t>
            </a:r>
          </a:p>
        </p:txBody>
      </p:sp>
    </p:spTree>
    <p:extLst>
      <p:ext uri="{BB962C8B-B14F-4D97-AF65-F5344CB8AC3E}">
        <p14:creationId xmlns:p14="http://schemas.microsoft.com/office/powerpoint/2010/main" val="1750027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2"/>
            <a:ext cx="9613861" cy="4077575"/>
          </a:xfrm>
        </p:spPr>
        <p:txBody>
          <a:bodyPr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 example of how to write to a text file with standard library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 example of reading that same text file with standard library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How </a:t>
            </a:r>
            <a:r>
              <a:rPr lang="en-US" dirty="0" err="1"/>
              <a:t>NumPy</a:t>
            </a:r>
            <a:r>
              <a:rPr lang="en-US" dirty="0"/>
              <a:t> simplifies things </a:t>
            </a:r>
          </a:p>
        </p:txBody>
      </p:sp>
    </p:spTree>
    <p:extLst>
      <p:ext uri="{BB962C8B-B14F-4D97-AF65-F5344CB8AC3E}">
        <p14:creationId xmlns:p14="http://schemas.microsoft.com/office/powerpoint/2010/main" val="1512353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Output File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2"/>
            <a:ext cx="10933924" cy="4268644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Write the integers 0 through 9 and their squares separated by tabs, with each integer-square pair on separate lines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Note: file I/O is typically done with a </a:t>
            </a:r>
            <a:r>
              <a:rPr lang="en-US" i="1" dirty="0"/>
              <a:t>with</a:t>
            </a:r>
            <a:r>
              <a:rPr lang="en-US" dirty="0"/>
              <a:t> statement </a:t>
            </a:r>
            <a:r>
              <a:rPr lang="mr-IN" dirty="0"/>
              <a:t>–</a:t>
            </a:r>
            <a:r>
              <a:rPr lang="en-US" dirty="0"/>
              <a:t> this functionally is the same as using  </a:t>
            </a:r>
            <a:r>
              <a:rPr lang="en-US" i="1" dirty="0"/>
              <a:t>f = open(“</a:t>
            </a:r>
            <a:r>
              <a:rPr lang="en-US" i="1" dirty="0" err="1"/>
              <a:t>example.txt</a:t>
            </a:r>
            <a:r>
              <a:rPr lang="en-US" i="1" dirty="0"/>
              <a:t>”, ‘w’)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276" y="3639782"/>
            <a:ext cx="3911600" cy="1612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831" y="2930031"/>
            <a:ext cx="5308600" cy="241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604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Output File: A Better Code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2"/>
            <a:ext cx="10933924" cy="4268644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Makes use of </a:t>
            </a:r>
            <a:r>
              <a:rPr lang="en-US" i="1" dirty="0"/>
              <a:t>string formatting</a:t>
            </a:r>
            <a:r>
              <a:rPr lang="en-US" dirty="0"/>
              <a:t>: </a:t>
            </a:r>
            <a:r>
              <a:rPr lang="en-US" i="1" dirty="0"/>
              <a:t>%d</a:t>
            </a:r>
            <a:r>
              <a:rPr lang="en-US" dirty="0"/>
              <a:t> allows integers to be substituted in their place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There are many ways to format string in python: The %-style notation will look familiar if you have experience with C/C++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hlinkClick r:id="rId2"/>
              </a:rPr>
              <a:t>https://docs.python.org/3.10/library/string.html</a:t>
            </a:r>
            <a:r>
              <a:rPr lang="en-US" dirty="0"/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831" y="2930031"/>
            <a:ext cx="5308600" cy="2413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617" y="3526931"/>
            <a:ext cx="43434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926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Input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1041" y="2135288"/>
            <a:ext cx="10863806" cy="4579411"/>
          </a:xfrm>
        </p:spPr>
        <p:txBody>
          <a:bodyPr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Read in the same file and store it in a 2D-list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Note: Some argue that </a:t>
            </a:r>
            <a:r>
              <a:rPr lang="en-US" i="1" dirty="0"/>
              <a:t>append</a:t>
            </a:r>
            <a:r>
              <a:rPr lang="en-US" dirty="0"/>
              <a:t> is a bad idea when lists are large, but others argue that the performance issues that arose are largely resolved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252" y="2930031"/>
            <a:ext cx="5308600" cy="2413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6418" y="2022056"/>
            <a:ext cx="3997330" cy="380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646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Much Simpler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2"/>
            <a:ext cx="10852037" cy="4173109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File I/O is made easy with </a:t>
            </a:r>
            <a:r>
              <a:rPr lang="en-US" dirty="0" err="1"/>
              <a:t>NumPy’s</a:t>
            </a:r>
            <a:r>
              <a:rPr lang="en-US" dirty="0"/>
              <a:t> </a:t>
            </a:r>
            <a:r>
              <a:rPr lang="en-US" i="1" dirty="0" err="1"/>
              <a:t>genfromtxt</a:t>
            </a:r>
            <a:r>
              <a:rPr lang="en-US" dirty="0"/>
              <a:t>, </a:t>
            </a:r>
            <a:r>
              <a:rPr lang="en-US" i="1" dirty="0" err="1"/>
              <a:t>savetxt</a:t>
            </a:r>
            <a:r>
              <a:rPr lang="en-US" dirty="0"/>
              <a:t>, etc. functions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These functions read and write 1-D and 2-D data to files.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Caveat: The data must be square. Chances are you’ll </a:t>
            </a:r>
            <a:r>
              <a:rPr lang="en-US"/>
              <a:t>get non-square data at some point </a:t>
            </a: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In the previous example, the entire </a:t>
            </a:r>
            <a:r>
              <a:rPr lang="en-US" i="1" dirty="0"/>
              <a:t>with</a:t>
            </a:r>
            <a:r>
              <a:rPr lang="en-US" dirty="0"/>
              <a:t> block can be replaced by: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	</a:t>
            </a:r>
            <a:r>
              <a:rPr lang="en-US" i="1" dirty="0"/>
              <a:t>import </a:t>
            </a:r>
            <a:r>
              <a:rPr lang="en-US" i="1" dirty="0" err="1"/>
              <a:t>numpy</a:t>
            </a:r>
            <a:r>
              <a:rPr lang="en-US" i="1" dirty="0"/>
              <a:t> as np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/>
              <a:t>	x = </a:t>
            </a:r>
            <a:r>
              <a:rPr lang="en-US" i="1" dirty="0" err="1"/>
              <a:t>np.genfromtxt</a:t>
            </a:r>
            <a:r>
              <a:rPr lang="en-US" i="1" dirty="0"/>
              <a:t>(“</a:t>
            </a:r>
            <a:r>
              <a:rPr lang="en-US" i="1" dirty="0" err="1"/>
              <a:t>example.txt</a:t>
            </a:r>
            <a:r>
              <a:rPr lang="en-US" i="1" dirty="0"/>
              <a:t>”)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/>
              <a:t>	</a:t>
            </a:r>
            <a:r>
              <a:rPr lang="en-US" dirty="0"/>
              <a:t>(Note however this returns a </a:t>
            </a:r>
            <a:r>
              <a:rPr lang="en-US" dirty="0" err="1"/>
              <a:t>NumPy</a:t>
            </a:r>
            <a:r>
              <a:rPr lang="en-US" dirty="0"/>
              <a:t> array, not a list) </a:t>
            </a:r>
          </a:p>
        </p:txBody>
      </p:sp>
    </p:spTree>
    <p:extLst>
      <p:ext uri="{BB962C8B-B14F-4D97-AF65-F5344CB8AC3E}">
        <p14:creationId xmlns:p14="http://schemas.microsoft.com/office/powerpoint/2010/main" val="212124091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123</TotalTime>
  <Words>317</Words>
  <Application>Microsoft Macintosh PowerPoint</Application>
  <PresentationFormat>Widescreen</PresentationFormat>
  <Paragraphs>58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Berlin</vt:lpstr>
      <vt:lpstr>File I/O</vt:lpstr>
      <vt:lpstr>Objectives </vt:lpstr>
      <vt:lpstr>An Example Output File </vt:lpstr>
      <vt:lpstr>An Example Output File: A Better Code  </vt:lpstr>
      <vt:lpstr>An Example Input File</vt:lpstr>
      <vt:lpstr>A Much Simpler Approach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Johnson, James William</dc:creator>
  <cp:lastModifiedBy>Datkuliak, Jackson</cp:lastModifiedBy>
  <cp:revision>56</cp:revision>
  <dcterms:created xsi:type="dcterms:W3CDTF">2020-02-27T18:08:37Z</dcterms:created>
  <dcterms:modified xsi:type="dcterms:W3CDTF">2026-05-12T15:59:02Z</dcterms:modified>
</cp:coreProperties>
</file>