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294" r:id="rId1"/>
  </p:sldMasterIdLst>
  <p:notesMasterIdLst>
    <p:notesMasterId r:id="rId38"/>
  </p:notesMasterIdLst>
  <p:sldIdLst>
    <p:sldId id="256" r:id="rId2"/>
    <p:sldId id="257" r:id="rId3"/>
    <p:sldId id="262" r:id="rId4"/>
    <p:sldId id="274" r:id="rId5"/>
    <p:sldId id="275" r:id="rId6"/>
    <p:sldId id="273" r:id="rId7"/>
    <p:sldId id="271" r:id="rId8"/>
    <p:sldId id="258" r:id="rId9"/>
    <p:sldId id="259" r:id="rId10"/>
    <p:sldId id="280" r:id="rId11"/>
    <p:sldId id="260" r:id="rId12"/>
    <p:sldId id="281" r:id="rId13"/>
    <p:sldId id="261" r:id="rId14"/>
    <p:sldId id="263" r:id="rId15"/>
    <p:sldId id="272" r:id="rId16"/>
    <p:sldId id="276" r:id="rId17"/>
    <p:sldId id="264" r:id="rId18"/>
    <p:sldId id="265" r:id="rId19"/>
    <p:sldId id="267" r:id="rId20"/>
    <p:sldId id="266" r:id="rId21"/>
    <p:sldId id="268" r:id="rId22"/>
    <p:sldId id="269" r:id="rId23"/>
    <p:sldId id="270" r:id="rId24"/>
    <p:sldId id="282" r:id="rId25"/>
    <p:sldId id="277" r:id="rId26"/>
    <p:sldId id="278" r:id="rId27"/>
    <p:sldId id="284" r:id="rId28"/>
    <p:sldId id="285" r:id="rId29"/>
    <p:sldId id="286" r:id="rId30"/>
    <p:sldId id="287" r:id="rId31"/>
    <p:sldId id="279" r:id="rId32"/>
    <p:sldId id="288" r:id="rId33"/>
    <p:sldId id="289" r:id="rId34"/>
    <p:sldId id="291" r:id="rId35"/>
    <p:sldId id="290" r:id="rId36"/>
    <p:sldId id="292" r:id="rId3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160"/>
    <p:restoredTop sz="89716"/>
  </p:normalViewPr>
  <p:slideViewPr>
    <p:cSldViewPr snapToGrid="0" snapToObjects="1">
      <p:cViewPr varScale="1">
        <p:scale>
          <a:sx n="109" d="100"/>
          <a:sy n="109" d="100"/>
        </p:scale>
        <p:origin x="1152"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E00069D-D4B1-DA43-B156-1FB9179E1249}" type="datetimeFigureOut">
              <a:rPr lang="en-US" smtClean="0"/>
              <a:t>5/10/26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10D7ED9-0168-6F49-A704-0689E647D42E}" type="slidenum">
              <a:rPr lang="en-US" smtClean="0"/>
              <a:t>‹#›</a:t>
            </a:fld>
            <a:endParaRPr lang="en-US"/>
          </a:p>
        </p:txBody>
      </p:sp>
    </p:spTree>
    <p:extLst>
      <p:ext uri="{BB962C8B-B14F-4D97-AF65-F5344CB8AC3E}">
        <p14:creationId xmlns:p14="http://schemas.microsoft.com/office/powerpoint/2010/main" val="181223615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will be reviewing some of the basic data types, functions, conditionals </a:t>
            </a:r>
            <a:r>
              <a:rPr lang="en-US" dirty="0" err="1"/>
              <a:t>etc</a:t>
            </a:r>
            <a:r>
              <a:rPr lang="en-US" dirty="0"/>
              <a:t> in python . We expect that most of you are already familiar with the topics today so we will be going through all of the content briefly.</a:t>
            </a:r>
          </a:p>
          <a:p>
            <a:endParaRPr lang="en-US" dirty="0"/>
          </a:p>
        </p:txBody>
      </p:sp>
      <p:sp>
        <p:nvSpPr>
          <p:cNvPr id="4" name="Slide Number Placeholder 3"/>
          <p:cNvSpPr>
            <a:spLocks noGrp="1"/>
          </p:cNvSpPr>
          <p:nvPr>
            <p:ph type="sldNum" sz="quarter" idx="5"/>
          </p:nvPr>
        </p:nvSpPr>
        <p:spPr/>
        <p:txBody>
          <a:bodyPr/>
          <a:lstStyle/>
          <a:p>
            <a:fld id="{A10D7ED9-0168-6F49-A704-0689E647D42E}" type="slidenum">
              <a:rPr lang="en-US" smtClean="0"/>
              <a:t>2</a:t>
            </a:fld>
            <a:endParaRPr lang="en-US"/>
          </a:p>
        </p:txBody>
      </p:sp>
    </p:spTree>
    <p:extLst>
      <p:ext uri="{BB962C8B-B14F-4D97-AF65-F5344CB8AC3E}">
        <p14:creationId xmlns:p14="http://schemas.microsoft.com/office/powerpoint/2010/main" val="76082687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Python, the "=" operator is used for assignment, it is used to assign a value to a variable. On the other hand, the "==" operator is used to compare two values for equality. the "//" and "%" operators are used for integer division and modulo operations, respectively.</a:t>
            </a:r>
          </a:p>
          <a:p>
            <a:r>
              <a:rPr lang="en-US" dirty="0"/>
              <a:t>The "//" operator performs integer division, which returns the integer quotient of the division operation. For example, 7 // 3 would return 2,  The "%" operator performs modulo operation, which returns the remainder of the division operation. For example, 7 % 3 would return 1.</a:t>
            </a:r>
          </a:p>
          <a:p>
            <a:endParaRPr lang="en-US" dirty="0"/>
          </a:p>
        </p:txBody>
      </p:sp>
      <p:sp>
        <p:nvSpPr>
          <p:cNvPr id="4" name="Slide Number Placeholder 3"/>
          <p:cNvSpPr>
            <a:spLocks noGrp="1"/>
          </p:cNvSpPr>
          <p:nvPr>
            <p:ph type="sldNum" sz="quarter" idx="5"/>
          </p:nvPr>
        </p:nvSpPr>
        <p:spPr/>
        <p:txBody>
          <a:bodyPr/>
          <a:lstStyle/>
          <a:p>
            <a:fld id="{A10D7ED9-0168-6F49-A704-0689E647D42E}" type="slidenum">
              <a:rPr lang="en-US" smtClean="0"/>
              <a:t>3</a:t>
            </a:fld>
            <a:endParaRPr lang="en-US"/>
          </a:p>
        </p:txBody>
      </p:sp>
    </p:spTree>
    <p:extLst>
      <p:ext uri="{BB962C8B-B14F-4D97-AF65-F5344CB8AC3E}">
        <p14:creationId xmlns:p14="http://schemas.microsoft.com/office/powerpoint/2010/main" val="1609977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also the </a:t>
            </a:r>
            <a:r>
              <a:rPr lang="en-US" dirty="0" err="1"/>
              <a:t>str.join</a:t>
            </a:r>
            <a:r>
              <a:rPr lang="en-US" baseline="0" dirty="0"/>
              <a:t> function, but if all you’re looking for a simple string concatenation, I find that the += operator is simply more straight-forward and more readable. </a:t>
            </a:r>
          </a:p>
          <a:p>
            <a:r>
              <a:rPr lang="en-US" dirty="0"/>
              <a:t>Unicode means that each character in the string is represented by a unique number, called a Unicode code point.</a:t>
            </a:r>
          </a:p>
          <a:p>
            <a:r>
              <a:rPr lang="en-US" dirty="0"/>
              <a:t>Unicode is a character encoding standard that provides a unique number for every character, no matter what the platform, device, or program is. This ensures that text in different languages and scripts can be represented correctly and consistently across different systems.</a:t>
            </a:r>
          </a:p>
          <a:p>
            <a:endParaRPr lang="en-US" dirty="0"/>
          </a:p>
          <a:p>
            <a:endParaRPr lang="en-US" dirty="0"/>
          </a:p>
        </p:txBody>
      </p:sp>
      <p:sp>
        <p:nvSpPr>
          <p:cNvPr id="4" name="Slide Number Placeholder 3"/>
          <p:cNvSpPr>
            <a:spLocks noGrp="1"/>
          </p:cNvSpPr>
          <p:nvPr>
            <p:ph type="sldNum" sz="quarter" idx="10"/>
          </p:nvPr>
        </p:nvSpPr>
        <p:spPr/>
        <p:txBody>
          <a:bodyPr/>
          <a:lstStyle/>
          <a:p>
            <a:fld id="{A10D7ED9-0168-6F49-A704-0689E647D42E}" type="slidenum">
              <a:rPr lang="en-US" smtClean="0"/>
              <a:t>4</a:t>
            </a:fld>
            <a:endParaRPr lang="en-US"/>
          </a:p>
        </p:txBody>
      </p:sp>
    </p:spTree>
    <p:extLst>
      <p:ext uri="{BB962C8B-B14F-4D97-AF65-F5344CB8AC3E}">
        <p14:creationId xmlns:p14="http://schemas.microsoft.com/office/powerpoint/2010/main" val="197731122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Type casting, also known as type conversion, is the process of converting a value from one data type to another in Python. Conversion is very simple we just call the data type we want to convert as a function. When we apply the int() function to a floating-point number, it will return the integer part of that number by rounding down towards zero. </a:t>
            </a:r>
          </a:p>
          <a:p>
            <a:endParaRPr lang="en-US" dirty="0"/>
          </a:p>
        </p:txBody>
      </p:sp>
      <p:sp>
        <p:nvSpPr>
          <p:cNvPr id="4" name="Slide Number Placeholder 3"/>
          <p:cNvSpPr>
            <a:spLocks noGrp="1"/>
          </p:cNvSpPr>
          <p:nvPr>
            <p:ph type="sldNum" sz="quarter" idx="5"/>
          </p:nvPr>
        </p:nvSpPr>
        <p:spPr/>
        <p:txBody>
          <a:bodyPr/>
          <a:lstStyle/>
          <a:p>
            <a:fld id="{A10D7ED9-0168-6F49-A704-0689E647D42E}" type="slidenum">
              <a:rPr lang="en-US" smtClean="0"/>
              <a:t>6</a:t>
            </a:fld>
            <a:endParaRPr lang="en-US"/>
          </a:p>
        </p:txBody>
      </p:sp>
    </p:spTree>
    <p:extLst>
      <p:ext uri="{BB962C8B-B14F-4D97-AF65-F5344CB8AC3E}">
        <p14:creationId xmlns:p14="http://schemas.microsoft.com/office/powerpoint/2010/main" val="31473535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a:t>
            </a:r>
            <a:r>
              <a:rPr lang="en-US" baseline="0" dirty="0"/>
              <a:t> “from ___ import *” construction is considered bad practice as it is often difficult to control the namespace. Think about “from </a:t>
            </a:r>
            <a:r>
              <a:rPr lang="en-US" baseline="0" dirty="0" err="1"/>
              <a:t>numpy</a:t>
            </a:r>
            <a:r>
              <a:rPr lang="en-US" baseline="0" dirty="0"/>
              <a:t> import *” followed by “from math import *” versus the opposite order. We’ll come back to this in the next session. </a:t>
            </a:r>
          </a:p>
          <a:p>
            <a:endParaRPr lang="en-US" baseline="0" dirty="0"/>
          </a:p>
          <a:p>
            <a:r>
              <a:rPr lang="en-US" dirty="0"/>
              <a:t>from </a:t>
            </a:r>
            <a:r>
              <a:rPr lang="en-US" dirty="0" err="1"/>
              <a:t>numpy</a:t>
            </a:r>
            <a:r>
              <a:rPr lang="en-US" dirty="0"/>
              <a:t> import *: This imports all the functions and objects from the </a:t>
            </a:r>
            <a:r>
              <a:rPr lang="en-US" dirty="0" err="1"/>
              <a:t>numpy</a:t>
            </a:r>
            <a:r>
              <a:rPr lang="en-US" dirty="0"/>
              <a:t> module into the current namespace. This means that you can use all the functions and objects from </a:t>
            </a:r>
            <a:r>
              <a:rPr lang="en-US" dirty="0" err="1"/>
              <a:t>numpy</a:t>
            </a:r>
            <a:r>
              <a:rPr lang="en-US" dirty="0"/>
              <a:t> without having to prefix them with the module name. For example, you can use the sin() function directly: sin(3.14). </a:t>
            </a:r>
          </a:p>
          <a:p>
            <a:r>
              <a:rPr lang="en-US" dirty="0"/>
              <a:t>However, this can lead to naming conflicts if the same name is used in different modules, and can make it harder to trace where a particular function or object came from.</a:t>
            </a:r>
          </a:p>
          <a:p>
            <a:endParaRPr lang="en-US" dirty="0"/>
          </a:p>
        </p:txBody>
      </p:sp>
      <p:sp>
        <p:nvSpPr>
          <p:cNvPr id="4" name="Slide Number Placeholder 3"/>
          <p:cNvSpPr>
            <a:spLocks noGrp="1"/>
          </p:cNvSpPr>
          <p:nvPr>
            <p:ph type="sldNum" sz="quarter" idx="10"/>
          </p:nvPr>
        </p:nvSpPr>
        <p:spPr/>
        <p:txBody>
          <a:bodyPr/>
          <a:lstStyle/>
          <a:p>
            <a:fld id="{A10D7ED9-0168-6F49-A704-0689E647D42E}" type="slidenum">
              <a:rPr lang="en-US" smtClean="0"/>
              <a:t>7</a:t>
            </a:fld>
            <a:endParaRPr lang="en-US"/>
          </a:p>
        </p:txBody>
      </p:sp>
    </p:spTree>
    <p:extLst>
      <p:ext uri="{BB962C8B-B14F-4D97-AF65-F5344CB8AC3E}">
        <p14:creationId xmlns:p14="http://schemas.microsoft.com/office/powerpoint/2010/main" val="54899165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lists are a versatile data structure in Python that can be used for a variety of tasks., sort list, append to add more objects, remove objects</a:t>
            </a:r>
          </a:p>
          <a:p>
            <a:endParaRPr lang="en-US" dirty="0"/>
          </a:p>
        </p:txBody>
      </p:sp>
      <p:sp>
        <p:nvSpPr>
          <p:cNvPr id="4" name="Slide Number Placeholder 3"/>
          <p:cNvSpPr>
            <a:spLocks noGrp="1"/>
          </p:cNvSpPr>
          <p:nvPr>
            <p:ph type="sldNum" sz="quarter" idx="5"/>
          </p:nvPr>
        </p:nvSpPr>
        <p:spPr/>
        <p:txBody>
          <a:bodyPr/>
          <a:lstStyle/>
          <a:p>
            <a:fld id="{A10D7ED9-0168-6F49-A704-0689E647D42E}" type="slidenum">
              <a:rPr lang="en-US" smtClean="0"/>
              <a:t>8</a:t>
            </a:fld>
            <a:endParaRPr lang="en-US"/>
          </a:p>
        </p:txBody>
      </p:sp>
    </p:spTree>
    <p:extLst>
      <p:ext uri="{BB962C8B-B14F-4D97-AF65-F5344CB8AC3E}">
        <p14:creationId xmlns:p14="http://schemas.microsoft.com/office/powerpoint/2010/main" val="10904958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Overall, tuples are a useful data structure in Python when you need to store a collection of related values that should not be changed</a:t>
            </a:r>
          </a:p>
          <a:p>
            <a:endParaRPr lang="en-US" dirty="0"/>
          </a:p>
        </p:txBody>
      </p:sp>
      <p:sp>
        <p:nvSpPr>
          <p:cNvPr id="4" name="Slide Number Placeholder 3"/>
          <p:cNvSpPr>
            <a:spLocks noGrp="1"/>
          </p:cNvSpPr>
          <p:nvPr>
            <p:ph type="sldNum" sz="quarter" idx="5"/>
          </p:nvPr>
        </p:nvSpPr>
        <p:spPr/>
        <p:txBody>
          <a:bodyPr/>
          <a:lstStyle/>
          <a:p>
            <a:fld id="{A10D7ED9-0168-6F49-A704-0689E647D42E}" type="slidenum">
              <a:rPr lang="en-US" smtClean="0"/>
              <a:t>9</a:t>
            </a:fld>
            <a:endParaRPr lang="en-US"/>
          </a:p>
        </p:txBody>
      </p:sp>
    </p:spTree>
    <p:extLst>
      <p:ext uri="{BB962C8B-B14F-4D97-AF65-F5344CB8AC3E}">
        <p14:creationId xmlns:p14="http://schemas.microsoft.com/office/powerpoint/2010/main" val="33856903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set is a built-in data structure that allows you to store a collection of unique and unordered elements in a single variable. Sets support a variety of set operations such as union, intersection, and difference. These operations can be useful in tasks such as finding common elements between two sets, finding elements unique to one set, or combining two sets.</a:t>
            </a:r>
          </a:p>
          <a:p>
            <a:endParaRPr lang="en-US" dirty="0"/>
          </a:p>
        </p:txBody>
      </p:sp>
      <p:sp>
        <p:nvSpPr>
          <p:cNvPr id="4" name="Slide Number Placeholder 3"/>
          <p:cNvSpPr>
            <a:spLocks noGrp="1"/>
          </p:cNvSpPr>
          <p:nvPr>
            <p:ph type="sldNum" sz="quarter" idx="5"/>
          </p:nvPr>
        </p:nvSpPr>
        <p:spPr/>
        <p:txBody>
          <a:bodyPr/>
          <a:lstStyle/>
          <a:p>
            <a:fld id="{A10D7ED9-0168-6F49-A704-0689E647D42E}" type="slidenum">
              <a:rPr lang="en-US" smtClean="0"/>
              <a:t>10</a:t>
            </a:fld>
            <a:endParaRPr lang="en-US"/>
          </a:p>
        </p:txBody>
      </p:sp>
    </p:spTree>
    <p:extLst>
      <p:ext uri="{BB962C8B-B14F-4D97-AF65-F5344CB8AC3E}">
        <p14:creationId xmlns:p14="http://schemas.microsoft.com/office/powerpoint/2010/main" val="376866356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dictionary is a built-in data structure that allows you to store a collection of key-value pairs in a single variable. Each key in a dictionary must be unique and immutable, and each key is associated with a value</a:t>
            </a:r>
          </a:p>
          <a:p>
            <a:endParaRPr lang="en-US" dirty="0"/>
          </a:p>
        </p:txBody>
      </p:sp>
      <p:sp>
        <p:nvSpPr>
          <p:cNvPr id="4" name="Slide Number Placeholder 3"/>
          <p:cNvSpPr>
            <a:spLocks noGrp="1"/>
          </p:cNvSpPr>
          <p:nvPr>
            <p:ph type="sldNum" sz="quarter" idx="5"/>
          </p:nvPr>
        </p:nvSpPr>
        <p:spPr/>
        <p:txBody>
          <a:bodyPr/>
          <a:lstStyle/>
          <a:p>
            <a:fld id="{A10D7ED9-0168-6F49-A704-0689E647D42E}" type="slidenum">
              <a:rPr lang="en-US" smtClean="0"/>
              <a:t>11</a:t>
            </a:fld>
            <a:endParaRPr lang="en-US"/>
          </a:p>
        </p:txBody>
      </p:sp>
    </p:spTree>
    <p:extLst>
      <p:ext uri="{BB962C8B-B14F-4D97-AF65-F5344CB8AC3E}">
        <p14:creationId xmlns:p14="http://schemas.microsoft.com/office/powerpoint/2010/main" val="133980601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students parrot this statement back to you </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arrays are a type of container that can hold a fixed number of elements of the same data type</a:t>
            </a:r>
          </a:p>
          <a:p>
            <a:endParaRPr lang="en-US" dirty="0"/>
          </a:p>
        </p:txBody>
      </p:sp>
      <p:sp>
        <p:nvSpPr>
          <p:cNvPr id="4" name="Slide Number Placeholder 3"/>
          <p:cNvSpPr>
            <a:spLocks noGrp="1"/>
          </p:cNvSpPr>
          <p:nvPr>
            <p:ph type="sldNum" sz="quarter" idx="10"/>
          </p:nvPr>
        </p:nvSpPr>
        <p:spPr/>
        <p:txBody>
          <a:bodyPr/>
          <a:lstStyle/>
          <a:p>
            <a:fld id="{A10D7ED9-0168-6F49-A704-0689E647D42E}" type="slidenum">
              <a:rPr lang="en-US" smtClean="0"/>
              <a:t>13</a:t>
            </a:fld>
            <a:endParaRPr lang="en-US"/>
          </a:p>
        </p:txBody>
      </p:sp>
    </p:spTree>
    <p:extLst>
      <p:ext uri="{BB962C8B-B14F-4D97-AF65-F5344CB8AC3E}">
        <p14:creationId xmlns:p14="http://schemas.microsoft.com/office/powerpoint/2010/main" val="185729596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NumPy is a library for working with arrays and numerical operations. </a:t>
            </a:r>
            <a:r>
              <a:rPr lang="en-US" dirty="0" err="1"/>
              <a:t>ndarray</a:t>
            </a:r>
            <a:r>
              <a:rPr lang="en-US" dirty="0"/>
              <a:t> is the primary data structure in NumPy that represents a multidimensional, homogeneous array of fixed-size items.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Range creates a sequence of integers from 0 up to, but not including, 10. stop number will not be counted</a:t>
            </a:r>
          </a:p>
          <a:p>
            <a:endParaRPr lang="en-US" dirty="0"/>
          </a:p>
          <a:p>
            <a:endParaRPr lang="en-US" dirty="0"/>
          </a:p>
        </p:txBody>
      </p:sp>
      <p:sp>
        <p:nvSpPr>
          <p:cNvPr id="4" name="Slide Number Placeholder 3"/>
          <p:cNvSpPr>
            <a:spLocks noGrp="1"/>
          </p:cNvSpPr>
          <p:nvPr>
            <p:ph type="sldNum" sz="quarter" idx="5"/>
          </p:nvPr>
        </p:nvSpPr>
        <p:spPr/>
        <p:txBody>
          <a:bodyPr/>
          <a:lstStyle/>
          <a:p>
            <a:fld id="{A10D7ED9-0168-6F49-A704-0689E647D42E}" type="slidenum">
              <a:rPr lang="en-US" smtClean="0"/>
              <a:t>14</a:t>
            </a:fld>
            <a:endParaRPr lang="en-US"/>
          </a:p>
        </p:txBody>
      </p:sp>
    </p:spTree>
    <p:extLst>
      <p:ext uri="{BB962C8B-B14F-4D97-AF65-F5344CB8AC3E}">
        <p14:creationId xmlns:p14="http://schemas.microsoft.com/office/powerpoint/2010/main" val="292774160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Slicing arrays, please pay attention to this slide because this is a frequently occurring concept, and I still have google the syntax sometimes to figure how to do it. So first of all why do we need it. For this I will give an example since there are many astronomers in the room, suppose I am doing a time series analysis of a star for 100 days, I have recorded the luminosity of the star on </a:t>
            </a:r>
            <a:r>
              <a:rPr lang="en-US" dirty="0" err="1"/>
              <a:t>eah</a:t>
            </a:r>
            <a:r>
              <a:rPr lang="en-US" dirty="0"/>
              <a:t> day, so I have an array of 100 data points. Now if I only want to see how it varies from day 1 to 20 , or day 50 to 100 , how do I extract only those data points</a:t>
            </a:r>
          </a:p>
          <a:p>
            <a:endParaRPr lang="en-US" dirty="0"/>
          </a:p>
        </p:txBody>
      </p:sp>
      <p:sp>
        <p:nvSpPr>
          <p:cNvPr id="4" name="Slide Number Placeholder 3"/>
          <p:cNvSpPr>
            <a:spLocks noGrp="1"/>
          </p:cNvSpPr>
          <p:nvPr>
            <p:ph type="sldNum" sz="quarter" idx="5"/>
          </p:nvPr>
        </p:nvSpPr>
        <p:spPr/>
        <p:txBody>
          <a:bodyPr/>
          <a:lstStyle/>
          <a:p>
            <a:fld id="{A10D7ED9-0168-6F49-A704-0689E647D42E}" type="slidenum">
              <a:rPr lang="en-US" smtClean="0"/>
              <a:t>16</a:t>
            </a:fld>
            <a:endParaRPr lang="en-US"/>
          </a:p>
        </p:txBody>
      </p:sp>
    </p:spTree>
    <p:extLst>
      <p:ext uri="{BB962C8B-B14F-4D97-AF65-F5344CB8AC3E}">
        <p14:creationId xmlns:p14="http://schemas.microsoft.com/office/powerpoint/2010/main" val="53313230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For input [3] we have x= 0, the if statement checks if x&gt;=0 and since that condition is satisfied it printed x is positive, it did not move to the second condition of </a:t>
            </a:r>
            <a:r>
              <a:rPr lang="en-US" dirty="0" err="1"/>
              <a:t>elif</a:t>
            </a:r>
            <a:r>
              <a:rPr lang="en-US" dirty="0"/>
              <a:t> x==0, so this means we can get the results from only one out these conditions. It goes in the order of if-</a:t>
            </a:r>
            <a:r>
              <a:rPr lang="en-US" dirty="0" err="1"/>
              <a:t>elif</a:t>
            </a:r>
            <a:r>
              <a:rPr lang="en-US" dirty="0"/>
              <a:t>---else</a:t>
            </a:r>
          </a:p>
          <a:p>
            <a:endParaRPr lang="en-US" dirty="0"/>
          </a:p>
        </p:txBody>
      </p:sp>
      <p:sp>
        <p:nvSpPr>
          <p:cNvPr id="4" name="Slide Number Placeholder 3"/>
          <p:cNvSpPr>
            <a:spLocks noGrp="1"/>
          </p:cNvSpPr>
          <p:nvPr>
            <p:ph type="sldNum" sz="quarter" idx="5"/>
          </p:nvPr>
        </p:nvSpPr>
        <p:spPr/>
        <p:txBody>
          <a:bodyPr/>
          <a:lstStyle/>
          <a:p>
            <a:fld id="{A10D7ED9-0168-6F49-A704-0689E647D42E}" type="slidenum">
              <a:rPr lang="en-US" smtClean="0"/>
              <a:t>17</a:t>
            </a:fld>
            <a:endParaRPr lang="en-US"/>
          </a:p>
        </p:txBody>
      </p:sp>
    </p:spTree>
    <p:extLst>
      <p:ext uri="{BB962C8B-B14F-4D97-AF65-F5344CB8AC3E}">
        <p14:creationId xmlns:p14="http://schemas.microsoft.com/office/powerpoint/2010/main" val="16758411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For input [3] we have x= 0, the if statement checks if x&gt;=0 and since that condition is satisfied it printed x is positive, it did not move to the second condition of </a:t>
            </a:r>
            <a:r>
              <a:rPr lang="en-US" dirty="0" err="1"/>
              <a:t>elif</a:t>
            </a:r>
            <a:r>
              <a:rPr lang="en-US" dirty="0"/>
              <a:t> x==0, so this means we can get the results from only one out these conditions. It goes in the order of if-</a:t>
            </a:r>
            <a:r>
              <a:rPr lang="en-US" dirty="0" err="1"/>
              <a:t>elif</a:t>
            </a:r>
            <a:r>
              <a:rPr lang="en-US" dirty="0"/>
              <a:t>---else</a:t>
            </a:r>
          </a:p>
          <a:p>
            <a:endParaRPr lang="en-US" dirty="0"/>
          </a:p>
        </p:txBody>
      </p:sp>
      <p:sp>
        <p:nvSpPr>
          <p:cNvPr id="4" name="Slide Number Placeholder 3"/>
          <p:cNvSpPr>
            <a:spLocks noGrp="1"/>
          </p:cNvSpPr>
          <p:nvPr>
            <p:ph type="sldNum" sz="quarter" idx="5"/>
          </p:nvPr>
        </p:nvSpPr>
        <p:spPr/>
        <p:txBody>
          <a:bodyPr/>
          <a:lstStyle/>
          <a:p>
            <a:fld id="{A10D7ED9-0168-6F49-A704-0689E647D42E}" type="slidenum">
              <a:rPr lang="en-US" smtClean="0"/>
              <a:t>18</a:t>
            </a:fld>
            <a:endParaRPr lang="en-US"/>
          </a:p>
        </p:txBody>
      </p:sp>
    </p:spTree>
    <p:extLst>
      <p:ext uri="{BB962C8B-B14F-4D97-AF65-F5344CB8AC3E}">
        <p14:creationId xmlns:p14="http://schemas.microsoft.com/office/powerpoint/2010/main" val="132150821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10D7ED9-0168-6F49-A704-0689E647D42E}" type="slidenum">
              <a:rPr lang="en-US" smtClean="0"/>
              <a:t>19</a:t>
            </a:fld>
            <a:endParaRPr lang="en-US"/>
          </a:p>
        </p:txBody>
      </p:sp>
    </p:spTree>
    <p:extLst>
      <p:ext uri="{BB962C8B-B14F-4D97-AF65-F5344CB8AC3E}">
        <p14:creationId xmlns:p14="http://schemas.microsoft.com/office/powerpoint/2010/main" val="7052470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Code is read much more often than it is written – this will come up again in the final session. 50 lines of code that are clear and explicit about their functionality are much better than 10 opaque and convoluted lines doing the same operation.</a:t>
            </a:r>
          </a:p>
        </p:txBody>
      </p:sp>
      <p:sp>
        <p:nvSpPr>
          <p:cNvPr id="4" name="Slide Number Placeholder 3"/>
          <p:cNvSpPr>
            <a:spLocks noGrp="1"/>
          </p:cNvSpPr>
          <p:nvPr>
            <p:ph type="sldNum" sz="quarter" idx="5"/>
          </p:nvPr>
        </p:nvSpPr>
        <p:spPr/>
        <p:txBody>
          <a:bodyPr/>
          <a:lstStyle/>
          <a:p>
            <a:fld id="{A10D7ED9-0168-6F49-A704-0689E647D42E}" type="slidenum">
              <a:rPr lang="en-US" smtClean="0"/>
              <a:t>21</a:t>
            </a:fld>
            <a:endParaRPr lang="en-US"/>
          </a:p>
        </p:txBody>
      </p:sp>
    </p:spTree>
    <p:extLst>
      <p:ext uri="{BB962C8B-B14F-4D97-AF65-F5344CB8AC3E}">
        <p14:creationId xmlns:p14="http://schemas.microsoft.com/office/powerpoint/2010/main" val="94449449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scientists at the</a:t>
            </a:r>
            <a:r>
              <a:rPr lang="en-US" baseline="0" dirty="0"/>
              <a:t> very beginning of their computational careers, students can make the decision of what kind of code they’re going to write *now*. </a:t>
            </a:r>
            <a:endParaRPr lang="en-US" dirty="0"/>
          </a:p>
        </p:txBody>
      </p:sp>
      <p:sp>
        <p:nvSpPr>
          <p:cNvPr id="4" name="Slide Number Placeholder 3"/>
          <p:cNvSpPr>
            <a:spLocks noGrp="1"/>
          </p:cNvSpPr>
          <p:nvPr>
            <p:ph type="sldNum" sz="quarter" idx="10"/>
          </p:nvPr>
        </p:nvSpPr>
        <p:spPr/>
        <p:txBody>
          <a:bodyPr/>
          <a:lstStyle/>
          <a:p>
            <a:fld id="{A10D7ED9-0168-6F49-A704-0689E647D42E}" type="slidenum">
              <a:rPr lang="en-US" smtClean="0"/>
              <a:t>22</a:t>
            </a:fld>
            <a:endParaRPr lang="en-US"/>
          </a:p>
        </p:txBody>
      </p:sp>
    </p:spTree>
    <p:extLst>
      <p:ext uri="{BB962C8B-B14F-4D97-AF65-F5344CB8AC3E}">
        <p14:creationId xmlns:p14="http://schemas.microsoft.com/office/powerpoint/2010/main" val="131789837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a:t>
            </a:r>
            <a:r>
              <a:rPr lang="en-US" baseline="0" dirty="0"/>
              <a:t> bare </a:t>
            </a:r>
            <a:r>
              <a:rPr lang="en-US" i="1" baseline="0" dirty="0"/>
              <a:t>raise</a:t>
            </a:r>
            <a:r>
              <a:rPr lang="en-US" i="0" baseline="0" dirty="0"/>
              <a:t> statement works only in an </a:t>
            </a:r>
            <a:r>
              <a:rPr lang="en-US" i="1" baseline="0" dirty="0"/>
              <a:t>except</a:t>
            </a:r>
            <a:r>
              <a:rPr lang="en-US" i="0" baseline="0" dirty="0"/>
              <a:t> block where there is an active exception. </a:t>
            </a:r>
            <a:endParaRPr lang="en-US" dirty="0"/>
          </a:p>
        </p:txBody>
      </p:sp>
      <p:sp>
        <p:nvSpPr>
          <p:cNvPr id="4" name="Slide Number Placeholder 3"/>
          <p:cNvSpPr>
            <a:spLocks noGrp="1"/>
          </p:cNvSpPr>
          <p:nvPr>
            <p:ph type="sldNum" sz="quarter" idx="10"/>
          </p:nvPr>
        </p:nvSpPr>
        <p:spPr/>
        <p:txBody>
          <a:bodyPr/>
          <a:lstStyle/>
          <a:p>
            <a:fld id="{A10D7ED9-0168-6F49-A704-0689E647D42E}" type="slidenum">
              <a:rPr lang="en-US" smtClean="0"/>
              <a:t>25</a:t>
            </a:fld>
            <a:endParaRPr lang="en-US"/>
          </a:p>
        </p:txBody>
      </p:sp>
    </p:spTree>
    <p:extLst>
      <p:ext uri="{BB962C8B-B14F-4D97-AF65-F5344CB8AC3E}">
        <p14:creationId xmlns:p14="http://schemas.microsoft.com/office/powerpoint/2010/main" val="204634090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Another difference folks might notice between python’s match-case and C/C++’s switch-case is that the C/C++ switch-case requires a break statement at the end of each case, otherwise it will start to run the subsequent case statement. The break statement is implicitly included in python.</a:t>
            </a:r>
          </a:p>
        </p:txBody>
      </p:sp>
      <p:sp>
        <p:nvSpPr>
          <p:cNvPr id="4" name="Slide Number Placeholder 3"/>
          <p:cNvSpPr>
            <a:spLocks noGrp="1"/>
          </p:cNvSpPr>
          <p:nvPr>
            <p:ph type="sldNum" sz="quarter" idx="5"/>
          </p:nvPr>
        </p:nvSpPr>
        <p:spPr/>
        <p:txBody>
          <a:bodyPr/>
          <a:lstStyle/>
          <a:p>
            <a:fld id="{A10D7ED9-0168-6F49-A704-0689E647D42E}" type="slidenum">
              <a:rPr lang="en-US" smtClean="0"/>
              <a:t>27</a:t>
            </a:fld>
            <a:endParaRPr lang="en-US"/>
          </a:p>
        </p:txBody>
      </p:sp>
    </p:spTree>
    <p:extLst>
      <p:ext uri="{BB962C8B-B14F-4D97-AF65-F5344CB8AC3E}">
        <p14:creationId xmlns:p14="http://schemas.microsoft.com/office/powerpoint/2010/main" val="175358950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a:t>
            </a:r>
            <a:r>
              <a:rPr lang="en-US" baseline="0" dirty="0"/>
              <a:t> noting here that filter and map were almost removed from Python 3 in favor of list comprehensions, but they’re still part of Python. </a:t>
            </a:r>
            <a:endParaRPr lang="en-US" dirty="0"/>
          </a:p>
        </p:txBody>
      </p:sp>
      <p:sp>
        <p:nvSpPr>
          <p:cNvPr id="4" name="Slide Number Placeholder 3"/>
          <p:cNvSpPr>
            <a:spLocks noGrp="1"/>
          </p:cNvSpPr>
          <p:nvPr>
            <p:ph type="sldNum" sz="quarter" idx="10"/>
          </p:nvPr>
        </p:nvSpPr>
        <p:spPr/>
        <p:txBody>
          <a:bodyPr/>
          <a:lstStyle/>
          <a:p>
            <a:fld id="{A10D7ED9-0168-6F49-A704-0689E647D42E}" type="slidenum">
              <a:rPr lang="en-US" smtClean="0"/>
              <a:t>31</a:t>
            </a:fld>
            <a:endParaRPr lang="en-US"/>
          </a:p>
        </p:txBody>
      </p:sp>
    </p:spTree>
    <p:extLst>
      <p:ext uri="{BB962C8B-B14F-4D97-AF65-F5344CB8AC3E}">
        <p14:creationId xmlns:p14="http://schemas.microsoft.com/office/powerpoint/2010/main" val="92505783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10D7ED9-0168-6F49-A704-0689E647D42E}" type="slidenum">
              <a:rPr lang="en-US" smtClean="0"/>
              <a:t>35</a:t>
            </a:fld>
            <a:endParaRPr lang="en-US"/>
          </a:p>
        </p:txBody>
      </p:sp>
    </p:spTree>
    <p:extLst>
      <p:ext uri="{BB962C8B-B14F-4D97-AF65-F5344CB8AC3E}">
        <p14:creationId xmlns:p14="http://schemas.microsoft.com/office/powerpoint/2010/main" val="13788104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10D7ED9-0168-6F49-A704-0689E647D42E}" type="slidenum">
              <a:rPr lang="en-US" smtClean="0"/>
              <a:t>36</a:t>
            </a:fld>
            <a:endParaRPr lang="en-US"/>
          </a:p>
        </p:txBody>
      </p:sp>
    </p:spTree>
    <p:extLst>
      <p:ext uri="{BB962C8B-B14F-4D97-AF65-F5344CB8AC3E}">
        <p14:creationId xmlns:p14="http://schemas.microsoft.com/office/powerpoint/2010/main" val="173532983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4242851"/>
            <a:ext cx="8968084" cy="275942"/>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11716" y="4243845"/>
            <a:ext cx="3077108" cy="276940"/>
          </a:xfrm>
          <a:prstGeom prst="rect">
            <a:avLst/>
          </a:prstGeom>
        </p:spPr>
      </p:pic>
      <p:sp>
        <p:nvSpPr>
          <p:cNvPr id="9" name="Rectangle 8"/>
          <p:cNvSpPr/>
          <p:nvPr/>
        </p:nvSpPr>
        <p:spPr>
          <a:xfrm>
            <a:off x="0" y="2590078"/>
            <a:ext cx="8968085" cy="1660332"/>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0" name="Rectangle 9"/>
          <p:cNvSpPr/>
          <p:nvPr/>
        </p:nvSpPr>
        <p:spPr>
          <a:xfrm>
            <a:off x="9111715" y="2590078"/>
            <a:ext cx="3077109" cy="166033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680322" y="2733709"/>
            <a:ext cx="8144134" cy="1373070"/>
          </a:xfrm>
        </p:spPr>
        <p:txBody>
          <a:bodyPr anchor="b">
            <a:noAutofit/>
          </a:bodyPr>
          <a:lstStyle>
            <a:lvl1pPr algn="r">
              <a:defRPr sz="5400">
                <a:latin typeface="Times New Roman" charset="0"/>
                <a:ea typeface="Times New Roman" charset="0"/>
                <a:cs typeface="Times New Roman" charset="0"/>
              </a:defRPr>
            </a:lvl1pPr>
          </a:lstStyle>
          <a:p>
            <a:r>
              <a:rPr lang="en-US" dirty="0"/>
              <a:t>Click to edit Master title style</a:t>
            </a:r>
          </a:p>
        </p:txBody>
      </p:sp>
      <p:sp>
        <p:nvSpPr>
          <p:cNvPr id="3" name="Subtitle 2"/>
          <p:cNvSpPr>
            <a:spLocks noGrp="1"/>
          </p:cNvSpPr>
          <p:nvPr>
            <p:ph type="subTitle" idx="1"/>
          </p:nvPr>
        </p:nvSpPr>
        <p:spPr>
          <a:xfrm>
            <a:off x="680322" y="4394039"/>
            <a:ext cx="8144134" cy="1117687"/>
          </a:xfrm>
        </p:spPr>
        <p:txBody>
          <a:bodyPr>
            <a:normAutofit/>
          </a:bodyPr>
          <a:lstStyle>
            <a:lvl1pPr marL="0" indent="0" algn="r">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p:cNvSpPr>
            <a:spLocks noGrp="1"/>
          </p:cNvSpPr>
          <p:nvPr>
            <p:ph type="dt" sz="half" idx="10"/>
          </p:nvPr>
        </p:nvSpPr>
        <p:spPr/>
        <p:txBody>
          <a:bodyPr/>
          <a:lstStyle/>
          <a:p>
            <a:fld id="{51673806-0BCD-1F42-BAA8-2011034B3C6A}" type="datetimeFigureOut">
              <a:rPr lang="en-US" smtClean="0"/>
              <a:t>5/10/26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9255346" y="2750337"/>
            <a:ext cx="1171888" cy="1356442"/>
          </a:xfrm>
        </p:spPr>
        <p:txBody>
          <a:bodyPr/>
          <a:lstStyle/>
          <a:p>
            <a:fld id="{6E91FEF2-9535-6649-9966-C0D43DCC741C}" type="slidenum">
              <a:rPr lang="en-US" smtClean="0"/>
              <a:t>‹#›</a:t>
            </a:fld>
            <a:endParaRPr lang="en-US" dirty="0"/>
          </a:p>
        </p:txBody>
      </p:sp>
    </p:spTree>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15" name="Picture 14"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6" name="Picture 15"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7" name="Rectangle 16"/>
          <p:cNvSpPr/>
          <p:nvPr/>
        </p:nvSpPr>
        <p:spPr>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8" name="Rectangle 17"/>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1673806-0BCD-1F42-BAA8-2011034B3C6A}" type="datetimeFigureOut">
              <a:rPr lang="en-US" smtClean="0"/>
              <a:t>5/10/26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E91FEF2-9535-6649-9966-C0D43DCC741C}" type="slidenum">
              <a:rPr lang="en-US" smtClean="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4086907"/>
            <a:ext cx="10437812" cy="321164"/>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4" y="4087901"/>
            <a:ext cx="1602997" cy="144270"/>
          </a:xfrm>
          <a:prstGeom prst="rect">
            <a:avLst/>
          </a:prstGeom>
        </p:spPr>
      </p:pic>
      <p:sp>
        <p:nvSpPr>
          <p:cNvPr id="9" name="Rectangle 8"/>
          <p:cNvSpPr/>
          <p:nvPr/>
        </p:nvSpPr>
        <p:spPr>
          <a:xfrm>
            <a:off x="-2" y="2726267"/>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10585825" y="2726267"/>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2869895"/>
            <a:ext cx="9613860" cy="1090788"/>
          </a:xfrm>
        </p:spPr>
        <p:txBody>
          <a:bodyPr anchor="ctr">
            <a:normAutofit/>
          </a:bodyPr>
          <a:lstStyle>
            <a:lvl1pPr algn="r">
              <a:defRPr sz="3600"/>
            </a:lvl1pPr>
          </a:lstStyle>
          <a:p>
            <a:r>
              <a:rPr lang="en-US"/>
              <a:t>Click to edit Master title style</a:t>
            </a:r>
            <a:endParaRPr lang="en-US" dirty="0"/>
          </a:p>
        </p:txBody>
      </p:sp>
      <p:sp>
        <p:nvSpPr>
          <p:cNvPr id="3" name="Text Placeholder 2"/>
          <p:cNvSpPr>
            <a:spLocks noGrp="1"/>
          </p:cNvSpPr>
          <p:nvPr>
            <p:ph type="body" idx="1"/>
          </p:nvPr>
        </p:nvSpPr>
        <p:spPr>
          <a:xfrm>
            <a:off x="680322" y="4232171"/>
            <a:ext cx="9613860" cy="1704017"/>
          </a:xfrm>
        </p:spPr>
        <p:txBody>
          <a:bodyPr>
            <a:normAutofit/>
          </a:bodyPr>
          <a:lstStyle>
            <a:lvl1pPr marL="0" indent="0" algn="r">
              <a:buNone/>
              <a:defRPr sz="20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1673806-0BCD-1F42-BAA8-2011034B3C6A}" type="datetimeFigureOut">
              <a:rPr lang="en-US" smtClean="0"/>
              <a:t>5/10/26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10729455" y="2869895"/>
            <a:ext cx="1154151" cy="1090789"/>
          </a:xfrm>
        </p:spPr>
        <p:txBody>
          <a:bodyPr/>
          <a:lstStyle/>
          <a:p>
            <a:fld id="{6E91FEF2-9535-6649-9966-C0D43DCC741C}" type="slidenum">
              <a:rPr lang="en-US" smtClean="0"/>
              <a:t>‹#›</a:t>
            </a:fld>
            <a:endParaRPr lang="en-US" dirty="0"/>
          </a:p>
        </p:txBody>
      </p:sp>
    </p:spTree>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0" name="Rectangle 9"/>
          <p:cNvSpPr/>
          <p:nvPr/>
        </p:nvSpPr>
        <p:spPr>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80320" y="2336873"/>
            <a:ext cx="4698358" cy="359931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594123" y="2336873"/>
            <a:ext cx="4700058" cy="359931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1673806-0BCD-1F42-BAA8-2011034B3C6A}" type="datetimeFigureOut">
              <a:rPr lang="en-US" smtClean="0"/>
              <a:t>5/10/26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E91FEF2-9535-6649-9966-C0D43DCC741C}" type="slidenum">
              <a:rPr lang="en-US" smtClean="0"/>
              <a:t>‹#›</a:t>
            </a:fld>
            <a:endParaRPr lang="en-US" dirty="0"/>
          </a:p>
        </p:txBody>
      </p:sp>
    </p:spTree>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0" name="Picture 9"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1" name="Picture 10"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2" name="Rectangle 11"/>
          <p:cNvSpPr/>
          <p:nvPr/>
        </p:nvSpPr>
        <p:spPr>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3" name="Rectangle 12"/>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19" y="753229"/>
            <a:ext cx="9613863" cy="1080937"/>
          </a:xfrm>
        </p:spPr>
        <p:txBody>
          <a:bodyPr/>
          <a:lstStyle/>
          <a:p>
            <a:r>
              <a:rPr lang="en-US"/>
              <a:t>Click to edit Master title style</a:t>
            </a:r>
            <a:endParaRPr lang="en-US" dirty="0"/>
          </a:p>
        </p:txBody>
      </p:sp>
      <p:sp>
        <p:nvSpPr>
          <p:cNvPr id="3" name="Text Placeholder 2"/>
          <p:cNvSpPr>
            <a:spLocks noGrp="1"/>
          </p:cNvSpPr>
          <p:nvPr>
            <p:ph type="body" idx="1"/>
          </p:nvPr>
        </p:nvSpPr>
        <p:spPr>
          <a:xfrm>
            <a:off x="906350" y="2336873"/>
            <a:ext cx="4472327" cy="69313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80322" y="3030008"/>
            <a:ext cx="4698355" cy="290617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820154" y="2336873"/>
            <a:ext cx="4474028" cy="692076"/>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594123" y="3030008"/>
            <a:ext cx="4700059" cy="290617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1673806-0BCD-1F42-BAA8-2011034B3C6A}" type="datetimeFigureOut">
              <a:rPr lang="en-US" smtClean="0"/>
              <a:t>5/10/26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E91FEF2-9535-6649-9966-C0D43DCC741C}" type="slidenum">
              <a:rPr lang="en-US" smtClean="0"/>
              <a:t>‹#›</a:t>
            </a:fld>
            <a:endParaRPr lang="en-US" dirty="0"/>
          </a:p>
        </p:txBody>
      </p:sp>
    </p:spTree>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6" name="Picture 5"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7" name="Picture 6"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8" name="Rectangle 7"/>
          <p:cNvSpPr/>
          <p:nvPr/>
        </p:nvSpPr>
        <p:spPr>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1673806-0BCD-1F42-BAA8-2011034B3C6A}" type="datetimeFigureOut">
              <a:rPr lang="en-US" smtClean="0"/>
              <a:t>5/10/26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E91FEF2-9535-6649-9966-C0D43DCC741C}" type="slidenum">
              <a:rPr lang="en-US" smtClean="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5" name="Picture 4" descr="HD-ShadowShor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6" name="Rectangle 5"/>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Date Placeholder 1"/>
          <p:cNvSpPr>
            <a:spLocks noGrp="1"/>
          </p:cNvSpPr>
          <p:nvPr>
            <p:ph type="dt" sz="half" idx="10"/>
          </p:nvPr>
        </p:nvSpPr>
        <p:spPr/>
        <p:txBody>
          <a:bodyPr/>
          <a:lstStyle/>
          <a:p>
            <a:fld id="{51673806-0BCD-1F42-BAA8-2011034B3C6A}" type="datetimeFigureOut">
              <a:rPr lang="en-US" smtClean="0"/>
              <a:t>5/10/26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E91FEF2-9535-6649-9966-C0D43DCC741C}" type="slidenum">
              <a:rPr lang="en-US" smtClean="0"/>
              <a:t>‹#›</a:t>
            </a:fld>
            <a:endParaRPr lang="en-US" dirty="0"/>
          </a:p>
        </p:txBody>
      </p:sp>
    </p:spTree>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0" name="Rectangle 9"/>
          <p:cNvSpPr/>
          <p:nvPr/>
        </p:nvSpPr>
        <p:spPr>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1" y="753227"/>
            <a:ext cx="9613859" cy="1080940"/>
          </a:xfrm>
        </p:spPr>
        <p:txBody>
          <a:bodyPr anchor="ct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a:xfrm>
            <a:off x="4685846" y="2336873"/>
            <a:ext cx="5608336" cy="35993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0322" y="2336872"/>
            <a:ext cx="3790078" cy="3599317"/>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1673806-0BCD-1F42-BAA8-2011034B3C6A}" type="datetimeFigureOut">
              <a:rPr lang="en-US" smtClean="0"/>
              <a:t>5/10/26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E91FEF2-9535-6649-9966-C0D43DCC741C}" type="slidenum">
              <a:rPr lang="en-US" smtClean="0"/>
              <a:t>‹#›</a:t>
            </a:fld>
            <a:endParaRPr lang="en-US" dirty="0"/>
          </a:p>
        </p:txBody>
      </p:sp>
    </p:spTree>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0" name="Rectangle 9"/>
          <p:cNvSpPr/>
          <p:nvPr/>
        </p:nvSpPr>
        <p:spPr>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3" y="753228"/>
            <a:ext cx="9613857" cy="1080938"/>
          </a:xfrm>
        </p:spPr>
        <p:txBody>
          <a:bodyPr anchor="ctr">
            <a:normAutofit/>
          </a:bodyPr>
          <a:lstStyle>
            <a:lvl1pPr>
              <a:defRPr sz="3600"/>
            </a:lvl1pPr>
          </a:lstStyle>
          <a:p>
            <a:r>
              <a:rPr lang="en-US"/>
              <a:t>Click to edit Master title style</a:t>
            </a:r>
            <a:endParaRPr lang="en-US" dirty="0"/>
          </a:p>
        </p:txBody>
      </p:sp>
      <p:sp>
        <p:nvSpPr>
          <p:cNvPr id="3" name="Picture Placeholder 2"/>
          <p:cNvSpPr>
            <a:spLocks noGrp="1" noChangeAspect="1"/>
          </p:cNvSpPr>
          <p:nvPr>
            <p:ph type="pic" idx="1"/>
          </p:nvPr>
        </p:nvSpPr>
        <p:spPr>
          <a:xfrm>
            <a:off x="4868333" y="2336874"/>
            <a:ext cx="5425849" cy="3599312"/>
          </a:xfrm>
          <a:noFill/>
          <a:ln>
            <a:noFill/>
          </a:ln>
          <a:effectLst>
            <a:outerShdw blurRad="76200" dist="63500" dir="5040000" algn="tl" rotWithShape="0">
              <a:srgbClr val="000000">
                <a:alpha val="41000"/>
              </a:srgb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Drag picture to placeholder or click icon to add</a:t>
            </a:r>
          </a:p>
        </p:txBody>
      </p:sp>
      <p:sp>
        <p:nvSpPr>
          <p:cNvPr id="4" name="Text Placeholder 3"/>
          <p:cNvSpPr>
            <a:spLocks noGrp="1"/>
          </p:cNvSpPr>
          <p:nvPr>
            <p:ph type="body" sz="half" idx="2"/>
          </p:nvPr>
        </p:nvSpPr>
        <p:spPr>
          <a:xfrm>
            <a:off x="680323" y="2336873"/>
            <a:ext cx="3876256" cy="3599315"/>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1673806-0BCD-1F42-BAA8-2011034B3C6A}" type="datetimeFigureOut">
              <a:rPr lang="en-US" smtClean="0"/>
              <a:t>5/10/26</a:t>
            </a:fld>
            <a:endParaRPr lang="en-US" dirty="0"/>
          </a:p>
        </p:txBody>
      </p:sp>
      <p:sp>
        <p:nvSpPr>
          <p:cNvPr id="6" name="Footer Placeholder 5"/>
          <p:cNvSpPr>
            <a:spLocks noGrp="1"/>
          </p:cNvSpPr>
          <p:nvPr>
            <p:ph type="ftr" sz="quarter" idx="11"/>
          </p:nvPr>
        </p:nvSpPr>
        <p:spPr/>
        <p:txBody>
          <a:bodyPr/>
          <a:lstStyle/>
          <a:p>
            <a:r>
              <a:rPr lang="en-US" dirty="0"/>
              <a:t>
              </a:t>
            </a:r>
          </a:p>
        </p:txBody>
      </p:sp>
      <p:sp>
        <p:nvSpPr>
          <p:cNvPr id="7" name="Slide Number Placeholder 6"/>
          <p:cNvSpPr>
            <a:spLocks noGrp="1"/>
          </p:cNvSpPr>
          <p:nvPr>
            <p:ph type="sldNum" sz="quarter" idx="12"/>
          </p:nvPr>
        </p:nvSpPr>
        <p:spPr/>
        <p:txBody>
          <a:bodyPr/>
          <a:lstStyle/>
          <a:p>
            <a:fld id="{6E91FEF2-9535-6649-9966-C0D43DCC741C}" type="slidenum">
              <a:rPr lang="en-US" smtClean="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0" name="Rectangle 9"/>
          <p:cNvSpPr/>
          <p:nvPr/>
        </p:nvSpPr>
        <p:spPr>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4711616"/>
            <a:ext cx="9613859" cy="453051"/>
          </a:xfrm>
        </p:spPr>
        <p:txBody>
          <a:bodyPr anchor="b">
            <a:normAutofit/>
          </a:bodyPr>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680322" y="609597"/>
            <a:ext cx="9613859" cy="3589575"/>
          </a:xfrm>
          <a:noFill/>
          <a:ln>
            <a:noFill/>
          </a:ln>
          <a:effectLst>
            <a:outerShdw blurRad="76200" dist="63500" dir="5040000" algn="tl" rotWithShape="0">
              <a:srgbClr val="000000">
                <a:alpha val="41000"/>
              </a:srgb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Drag picture to placeholder or click icon to add</a:t>
            </a:r>
          </a:p>
        </p:txBody>
      </p:sp>
      <p:sp>
        <p:nvSpPr>
          <p:cNvPr id="4" name="Text Placeholder 3"/>
          <p:cNvSpPr>
            <a:spLocks noGrp="1"/>
          </p:cNvSpPr>
          <p:nvPr>
            <p:ph type="body" sz="half" idx="2"/>
          </p:nvPr>
        </p:nvSpPr>
        <p:spPr>
          <a:xfrm>
            <a:off x="680319" y="5169583"/>
            <a:ext cx="9613862" cy="622971"/>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1673806-0BCD-1F42-BAA8-2011034B3C6A}" type="datetimeFigureOut">
              <a:rPr lang="en-US" smtClean="0"/>
              <a:t>5/10/26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a:xfrm>
            <a:off x="10729455" y="4711309"/>
            <a:ext cx="1154151" cy="1090789"/>
          </a:xfrm>
        </p:spPr>
        <p:txBody>
          <a:bodyPr/>
          <a:lstStyle/>
          <a:p>
            <a:fld id="{6E91FEF2-9535-6649-9966-C0D43DCC741C}" type="slidenum">
              <a:rPr lang="en-US" smtClean="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0" name="Rectangle 9"/>
          <p:cNvSpPr/>
          <p:nvPr/>
        </p:nvSpPr>
        <p:spPr>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609597"/>
            <a:ext cx="9613858" cy="3592750"/>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680322" y="4711615"/>
            <a:ext cx="9613859" cy="1090789"/>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1673806-0BCD-1F42-BAA8-2011034B3C6A}" type="datetimeFigureOut">
              <a:rPr lang="en-US" smtClean="0"/>
              <a:t>5/10/26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a:xfrm>
            <a:off x="10729455" y="4711615"/>
            <a:ext cx="1154151" cy="1090789"/>
          </a:xfrm>
        </p:spPr>
        <p:txBody>
          <a:bodyPr/>
          <a:lstStyle/>
          <a:p>
            <a:fld id="{6E91FEF2-9535-6649-9966-C0D43DCC741C}" type="slidenum">
              <a:rPr lang="en-US" smtClean="0"/>
              <a:t>‹#›</a:t>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pic>
        <p:nvPicPr>
          <p:cNvPr id="11" name="Picture 10"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13" name="Picture 12"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4" name="Rectangle 13"/>
          <p:cNvSpPr/>
          <p:nvPr/>
        </p:nvSpPr>
        <p:spPr>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Rectangle 14"/>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127856" y="609598"/>
            <a:ext cx="8718877" cy="3036061"/>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402288" y="3653379"/>
            <a:ext cx="815657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680322" y="4711615"/>
            <a:ext cx="9613859" cy="1090789"/>
          </a:xfrm>
        </p:spPr>
        <p:txBody>
          <a:bodyPr anchor="ct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1673806-0BCD-1F42-BAA8-2011034B3C6A}" type="datetimeFigureOut">
              <a:rPr lang="en-US" smtClean="0"/>
              <a:t>5/10/26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a:xfrm>
            <a:off x="10729455" y="4709925"/>
            <a:ext cx="1154151" cy="1090789"/>
          </a:xfrm>
        </p:spPr>
        <p:txBody>
          <a:bodyPr/>
          <a:lstStyle/>
          <a:p>
            <a:fld id="{6E91FEF2-9535-6649-9966-C0D43DCC741C}" type="slidenum">
              <a:rPr lang="en-US" smtClean="0"/>
              <a:t>‹#›</a:t>
            </a:fld>
            <a:endParaRPr lang="en-US" dirty="0"/>
          </a:p>
        </p:txBody>
      </p:sp>
      <p:sp>
        <p:nvSpPr>
          <p:cNvPr id="16" name="TextBox 15"/>
          <p:cNvSpPr txBox="1"/>
          <p:nvPr/>
        </p:nvSpPr>
        <p:spPr>
          <a:xfrm>
            <a:off x="583572" y="74811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7200" dirty="0">
                <a:solidFill>
                  <a:schemeClr val="tx1"/>
                </a:solidFill>
                <a:effectLst/>
              </a:rPr>
              <a:t>“</a:t>
            </a:r>
          </a:p>
        </p:txBody>
      </p:sp>
      <p:sp>
        <p:nvSpPr>
          <p:cNvPr id="17" name="TextBox 16"/>
          <p:cNvSpPr txBox="1"/>
          <p:nvPr/>
        </p:nvSpPr>
        <p:spPr>
          <a:xfrm>
            <a:off x="9662809" y="303352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7200" dirty="0">
                <a:solidFill>
                  <a:schemeClr val="tx1"/>
                </a:solidFill>
                <a:effectLst/>
              </a:rPr>
              <a:t>”</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pic>
        <p:nvPicPr>
          <p:cNvPr id="9" name="Picture 8"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10" name="Picture 9"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1" name="Rectangle 10"/>
          <p:cNvSpPr/>
          <p:nvPr/>
        </p:nvSpPr>
        <p:spPr>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2" name="Rectangle 11"/>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19" y="4711615"/>
            <a:ext cx="9613862" cy="5885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680320" y="5300149"/>
            <a:ext cx="9613862" cy="502255"/>
          </a:xfrm>
        </p:spPr>
        <p:txBody>
          <a:bodyPr anchor="t"/>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1673806-0BCD-1F42-BAA8-2011034B3C6A}" type="datetimeFigureOut">
              <a:rPr lang="en-US" smtClean="0"/>
              <a:t>5/10/26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a:xfrm>
            <a:off x="10729455" y="4709925"/>
            <a:ext cx="1154151" cy="1090789"/>
          </a:xfrm>
        </p:spPr>
        <p:txBody>
          <a:bodyPr/>
          <a:lstStyle/>
          <a:p>
            <a:fld id="{6E91FEF2-9535-6649-9966-C0D43DCC741C}" type="slidenum">
              <a:rPr lang="en-US" smtClean="0"/>
              <a:t>‹#›</a:t>
            </a:fld>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pic>
        <p:nvPicPr>
          <p:cNvPr id="13" name="Picture 12"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4" name="Picture 13"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6" name="Rectangle 15"/>
          <p:cNvSpPr/>
          <p:nvPr/>
        </p:nvSpPr>
        <p:spPr>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Rectangle 16"/>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Title 1"/>
          <p:cNvSpPr>
            <a:spLocks noGrp="1"/>
          </p:cNvSpPr>
          <p:nvPr>
            <p:ph type="title"/>
          </p:nvPr>
        </p:nvSpPr>
        <p:spPr>
          <a:xfrm>
            <a:off x="669222" y="753228"/>
            <a:ext cx="9624960" cy="1080938"/>
          </a:xfrm>
        </p:spPr>
        <p:txBody>
          <a:bodyPr/>
          <a:lstStyle/>
          <a:p>
            <a:r>
              <a:rPr lang="en-US"/>
              <a:t>Click to edit Master title style</a:t>
            </a:r>
            <a:endParaRPr lang="en-US" dirty="0"/>
          </a:p>
        </p:txBody>
      </p:sp>
      <p:sp>
        <p:nvSpPr>
          <p:cNvPr id="7" name="Text Placeholder 2"/>
          <p:cNvSpPr>
            <a:spLocks noGrp="1"/>
          </p:cNvSpPr>
          <p:nvPr>
            <p:ph type="body" idx="1"/>
          </p:nvPr>
        </p:nvSpPr>
        <p:spPr>
          <a:xfrm>
            <a:off x="660946" y="2336873"/>
            <a:ext cx="3070034"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680322" y="3022673"/>
            <a:ext cx="3049702"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3956025" y="2336873"/>
            <a:ext cx="3063240"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3945470" y="3022673"/>
            <a:ext cx="3063240"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224156" y="2336873"/>
            <a:ext cx="3070025"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224156" y="3022673"/>
            <a:ext cx="3070025"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51673806-0BCD-1F42-BAA8-2011034B3C6A}" type="datetimeFigureOut">
              <a:rPr lang="en-US" smtClean="0"/>
              <a:t>5/10/26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E91FEF2-9535-6649-9966-C0D43DCC741C}" type="slidenum">
              <a:rPr lang="en-US" smtClean="0"/>
              <a:t>‹#›</a:t>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15" name="Picture 14"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6" name="Picture 15"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7" name="Rectangle 16"/>
          <p:cNvSpPr/>
          <p:nvPr/>
        </p:nvSpPr>
        <p:spPr>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8" name="Rectangle 17"/>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0" name="Title 1"/>
          <p:cNvSpPr>
            <a:spLocks noGrp="1"/>
          </p:cNvSpPr>
          <p:nvPr>
            <p:ph type="title"/>
          </p:nvPr>
        </p:nvSpPr>
        <p:spPr>
          <a:xfrm>
            <a:off x="680322" y="753228"/>
            <a:ext cx="9613860" cy="1080938"/>
          </a:xfrm>
        </p:spPr>
        <p:txBody>
          <a:bodyPr/>
          <a:lstStyle/>
          <a:p>
            <a:r>
              <a:rPr lang="en-US"/>
              <a:t>Click to edit Master title style</a:t>
            </a:r>
            <a:endParaRPr lang="en-US" dirty="0"/>
          </a:p>
        </p:txBody>
      </p:sp>
      <p:sp>
        <p:nvSpPr>
          <p:cNvPr id="19" name="Text Placeholder 2"/>
          <p:cNvSpPr>
            <a:spLocks noGrp="1"/>
          </p:cNvSpPr>
          <p:nvPr>
            <p:ph type="body" idx="1"/>
          </p:nvPr>
        </p:nvSpPr>
        <p:spPr>
          <a:xfrm>
            <a:off x="680318" y="4297503"/>
            <a:ext cx="3049705"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680318" y="2336873"/>
            <a:ext cx="3049705"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dirty="0"/>
              <a:t>Drag picture to placeholder or click icon to add</a:t>
            </a:r>
          </a:p>
        </p:txBody>
      </p:sp>
      <p:sp>
        <p:nvSpPr>
          <p:cNvPr id="21" name="Text Placeholder 3"/>
          <p:cNvSpPr>
            <a:spLocks noGrp="1"/>
          </p:cNvSpPr>
          <p:nvPr>
            <p:ph type="body" sz="half" idx="18"/>
          </p:nvPr>
        </p:nvSpPr>
        <p:spPr>
          <a:xfrm>
            <a:off x="680318" y="4873765"/>
            <a:ext cx="3049705" cy="106242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3945471" y="4297503"/>
            <a:ext cx="3063240"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3945470" y="2336873"/>
            <a:ext cx="3063240"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dirty="0"/>
              <a:t>Drag picture to placeholder or click icon to add</a:t>
            </a:r>
          </a:p>
        </p:txBody>
      </p:sp>
      <p:sp>
        <p:nvSpPr>
          <p:cNvPr id="24" name="Text Placeholder 3"/>
          <p:cNvSpPr>
            <a:spLocks noGrp="1"/>
          </p:cNvSpPr>
          <p:nvPr>
            <p:ph type="body" sz="half" idx="19"/>
          </p:nvPr>
        </p:nvSpPr>
        <p:spPr>
          <a:xfrm>
            <a:off x="3944117" y="4873764"/>
            <a:ext cx="3067297" cy="106242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230678" y="4297503"/>
            <a:ext cx="3063505"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7230677" y="2336873"/>
            <a:ext cx="3063505"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dirty="0"/>
              <a:t>Drag picture to placeholder or click icon to add</a:t>
            </a:r>
          </a:p>
        </p:txBody>
      </p:sp>
      <p:sp>
        <p:nvSpPr>
          <p:cNvPr id="27" name="Text Placeholder 3"/>
          <p:cNvSpPr>
            <a:spLocks noGrp="1"/>
          </p:cNvSpPr>
          <p:nvPr>
            <p:ph type="body" sz="half" idx="20"/>
          </p:nvPr>
        </p:nvSpPr>
        <p:spPr>
          <a:xfrm>
            <a:off x="7230553" y="4873762"/>
            <a:ext cx="3067563" cy="106242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51673806-0BCD-1F42-BAA8-2011034B3C6A}" type="datetimeFigureOut">
              <a:rPr lang="en-US" smtClean="0"/>
              <a:t>5/10/26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E91FEF2-9535-6649-9966-C0D43DCC741C}" type="slidenum">
              <a:rPr lang="en-US" smtClean="0"/>
              <a:t>‹#›</a:t>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9" name="Rectangle 8"/>
          <p:cNvSpPr/>
          <p:nvPr/>
        </p:nvSpPr>
        <p:spPr>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lvl1pPr algn="r">
              <a:defRPr/>
            </a:lvl1p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1673806-0BCD-1F42-BAA8-2011034B3C6A}" type="datetimeFigureOut">
              <a:rPr lang="en-US" smtClean="0"/>
              <a:t>5/10/26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E91FEF2-9535-6649-9966-C0D43DCC741C}" type="slidenum">
              <a:rPr lang="en-US" smtClean="0"/>
              <a:t>‹#›</a:t>
            </a:fld>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rot="5400000">
            <a:off x="8116207" y="1869395"/>
            <a:ext cx="5106988"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rot="5400000">
            <a:off x="9868202" y="5372403"/>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10129231" y="609597"/>
            <a:ext cx="1073802" cy="435376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80322" y="609597"/>
            <a:ext cx="8870004" cy="53265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6807126" y="5936187"/>
            <a:ext cx="2743200" cy="365125"/>
          </a:xfrm>
        </p:spPr>
        <p:txBody>
          <a:bodyPr/>
          <a:lstStyle/>
          <a:p>
            <a:fld id="{51673806-0BCD-1F42-BAA8-2011034B3C6A}" type="datetimeFigureOut">
              <a:rPr lang="en-US" smtClean="0"/>
              <a:t>5/10/26</a:t>
            </a:fld>
            <a:endParaRPr lang="en-US" dirty="0"/>
          </a:p>
        </p:txBody>
      </p:sp>
      <p:sp>
        <p:nvSpPr>
          <p:cNvPr id="5" name="Footer Placeholder 4"/>
          <p:cNvSpPr>
            <a:spLocks noGrp="1"/>
          </p:cNvSpPr>
          <p:nvPr>
            <p:ph type="ftr" sz="quarter" idx="11"/>
          </p:nvPr>
        </p:nvSpPr>
        <p:spPr>
          <a:xfrm>
            <a:off x="680321" y="5936188"/>
            <a:ext cx="6126805" cy="365125"/>
          </a:xfrm>
        </p:spPr>
        <p:txBody>
          <a:bodyPr/>
          <a:lstStyle/>
          <a:p>
            <a:endParaRPr lang="en-US" dirty="0"/>
          </a:p>
        </p:txBody>
      </p:sp>
      <p:sp>
        <p:nvSpPr>
          <p:cNvPr id="6" name="Slide Number Placeholder 5"/>
          <p:cNvSpPr>
            <a:spLocks noGrp="1"/>
          </p:cNvSpPr>
          <p:nvPr>
            <p:ph type="sldNum" sz="quarter" idx="12"/>
          </p:nvPr>
        </p:nvSpPr>
        <p:spPr>
          <a:xfrm>
            <a:off x="10097550" y="5398633"/>
            <a:ext cx="1154151" cy="1090789"/>
          </a:xfrm>
        </p:spPr>
        <p:txBody>
          <a:bodyPr anchor="t"/>
          <a:lstStyle>
            <a:lvl1pPr algn="ctr">
              <a:defRPr/>
            </a:lvl1pPr>
          </a:lstStyle>
          <a:p>
            <a:fld id="{6E91FEF2-9535-6649-9966-C0D43DCC741C}" type="slidenum">
              <a:rPr lang="en-US" smtClean="0"/>
              <a:t>‹#›</a:t>
            </a:fld>
            <a:endParaRPr lang="en-US" dirty="0"/>
          </a:p>
        </p:txBody>
      </p:sp>
    </p:spTree>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6" descr="hashOverlay-FullResolve.png"/>
          <p:cNvPicPr>
            <a:picLocks noChangeAspect="1"/>
          </p:cNvPicPr>
          <p:nvPr/>
        </p:nvPicPr>
        <p:blipFill>
          <a:blip r:embed="rId19">
            <a:alphaModFix amt="1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Placeholder 1"/>
          <p:cNvSpPr>
            <a:spLocks noGrp="1"/>
          </p:cNvSpPr>
          <p:nvPr>
            <p:ph type="title"/>
          </p:nvPr>
        </p:nvSpPr>
        <p:spPr>
          <a:xfrm>
            <a:off x="680321" y="753228"/>
            <a:ext cx="9613861" cy="1080938"/>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680321" y="2336873"/>
            <a:ext cx="9613861" cy="3599316"/>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7550981" y="5936187"/>
            <a:ext cx="2743200" cy="365125"/>
          </a:xfrm>
          <a:prstGeom prst="rect">
            <a:avLst/>
          </a:prstGeom>
        </p:spPr>
        <p:txBody>
          <a:bodyPr vert="horz" lIns="91440" tIns="45720" rIns="91440" bIns="45720" rtlCol="0" anchor="ctr"/>
          <a:lstStyle>
            <a:lvl1pPr algn="r">
              <a:defRPr sz="1050">
                <a:solidFill>
                  <a:schemeClr val="tx1">
                    <a:tint val="75000"/>
                  </a:schemeClr>
                </a:solidFill>
                <a:latin typeface="Times New Roman" charset="0"/>
                <a:ea typeface="Times New Roman" charset="0"/>
                <a:cs typeface="Times New Roman" charset="0"/>
              </a:defRPr>
            </a:lvl1pPr>
          </a:lstStyle>
          <a:p>
            <a:fld id="{51673806-0BCD-1F42-BAA8-2011034B3C6A}" type="datetimeFigureOut">
              <a:rPr lang="en-US" smtClean="0"/>
              <a:pPr/>
              <a:t>5/10/26</a:t>
            </a:fld>
            <a:endParaRPr lang="en-US" dirty="0"/>
          </a:p>
        </p:txBody>
      </p:sp>
      <p:sp>
        <p:nvSpPr>
          <p:cNvPr id="5" name="Footer Placeholder 4"/>
          <p:cNvSpPr>
            <a:spLocks noGrp="1"/>
          </p:cNvSpPr>
          <p:nvPr>
            <p:ph type="ftr" sz="quarter" idx="3"/>
          </p:nvPr>
        </p:nvSpPr>
        <p:spPr>
          <a:xfrm>
            <a:off x="680321" y="5936188"/>
            <a:ext cx="6870660" cy="365125"/>
          </a:xfrm>
          <a:prstGeom prst="rect">
            <a:avLst/>
          </a:prstGeom>
        </p:spPr>
        <p:txBody>
          <a:bodyPr vert="horz" lIns="91440" tIns="45720" rIns="91440" bIns="45720" rtlCol="0" anchor="ctr"/>
          <a:lstStyle>
            <a:lvl1pPr algn="l">
              <a:defRPr sz="1050">
                <a:solidFill>
                  <a:schemeClr val="tx1">
                    <a:tint val="75000"/>
                  </a:schemeClr>
                </a:solidFill>
                <a:latin typeface="Times New Roman" charset="0"/>
                <a:ea typeface="Times New Roman" charset="0"/>
                <a:cs typeface="Times New Roman" charset="0"/>
              </a:defRPr>
            </a:lvl1pPr>
          </a:lstStyle>
          <a:p>
            <a:endParaRPr lang="en-US" dirty="0"/>
          </a:p>
        </p:txBody>
      </p:sp>
      <p:sp>
        <p:nvSpPr>
          <p:cNvPr id="6" name="Slide Number Placeholder 5"/>
          <p:cNvSpPr>
            <a:spLocks noGrp="1"/>
          </p:cNvSpPr>
          <p:nvPr>
            <p:ph type="sldNum" sz="quarter" idx="4"/>
          </p:nvPr>
        </p:nvSpPr>
        <p:spPr>
          <a:xfrm>
            <a:off x="10729455" y="753227"/>
            <a:ext cx="1154151" cy="1090789"/>
          </a:xfrm>
          <a:prstGeom prst="rect">
            <a:avLst/>
          </a:prstGeom>
        </p:spPr>
        <p:txBody>
          <a:bodyPr vert="horz" lIns="91440" tIns="45720" rIns="91440" bIns="45720" rtlCol="0" anchor="ctr"/>
          <a:lstStyle>
            <a:lvl1pPr algn="l">
              <a:defRPr sz="3600">
                <a:solidFill>
                  <a:schemeClr val="tx1">
                    <a:tint val="75000"/>
                  </a:schemeClr>
                </a:solidFill>
                <a:latin typeface="Times New Roman" charset="0"/>
                <a:ea typeface="Times New Roman" charset="0"/>
                <a:cs typeface="Times New Roman" charset="0"/>
              </a:defRPr>
            </a:lvl1pPr>
          </a:lstStyle>
          <a:p>
            <a:fld id="{6E91FEF2-9535-6649-9966-C0D43DCC741C}" type="slidenum">
              <a:rPr lang="en-US" smtClean="0"/>
              <a:pPr/>
              <a:t>‹#›</a:t>
            </a:fld>
            <a:endParaRPr lang="en-US" dirty="0"/>
          </a:p>
        </p:txBody>
      </p:sp>
    </p:spTree>
    <p:extLst>
      <p:ext uri="{BB962C8B-B14F-4D97-AF65-F5344CB8AC3E}">
        <p14:creationId xmlns:p14="http://schemas.microsoft.com/office/powerpoint/2010/main" val="2069047378"/>
      </p:ext>
    </p:extLst>
  </p:cSld>
  <p:clrMap bg1="dk1" tx1="lt1" bg2="dk2" tx2="lt2" accent1="accent1" accent2="accent2" accent3="accent3" accent4="accent4" accent5="accent5" accent6="accent6" hlink="hlink" folHlink="folHlink"/>
  <p:sldLayoutIdLst>
    <p:sldLayoutId id="2147484295" r:id="rId1"/>
    <p:sldLayoutId id="2147484296" r:id="rId2"/>
    <p:sldLayoutId id="2147484297" r:id="rId3"/>
    <p:sldLayoutId id="2147484298" r:id="rId4"/>
    <p:sldLayoutId id="2147484299" r:id="rId5"/>
    <p:sldLayoutId id="2147484300" r:id="rId6"/>
    <p:sldLayoutId id="2147484301" r:id="rId7"/>
    <p:sldLayoutId id="2147484302" r:id="rId8"/>
    <p:sldLayoutId id="2147484303" r:id="rId9"/>
    <p:sldLayoutId id="2147484304" r:id="rId10"/>
    <p:sldLayoutId id="2147484305" r:id="rId11"/>
    <p:sldLayoutId id="2147484306" r:id="rId12"/>
    <p:sldLayoutId id="2147484307" r:id="rId13"/>
    <p:sldLayoutId id="2147484308" r:id="rId14"/>
    <p:sldLayoutId id="2147484309" r:id="rId15"/>
    <p:sldLayoutId id="2147484310" r:id="rId16"/>
    <p:sldLayoutId id="2147484311" r:id="rId17"/>
  </p:sldLayoutIdLst>
  <p:txStyles>
    <p:titleStyle>
      <a:lvl1pPr algn="l" defTabSz="914400" rtl="0" eaLnBrk="1" latinLnBrk="0" hangingPunct="1">
        <a:lnSpc>
          <a:spcPct val="90000"/>
        </a:lnSpc>
        <a:spcBef>
          <a:spcPct val="0"/>
        </a:spcBef>
        <a:buNone/>
        <a:defRPr sz="3600" kern="1200">
          <a:solidFill>
            <a:schemeClr val="tx1"/>
          </a:solidFill>
          <a:latin typeface="Times New Roman" charset="0"/>
          <a:ea typeface="Times New Roman" charset="0"/>
          <a:cs typeface="Times New Roman"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Times New Roman" charset="0"/>
          <a:ea typeface="Times New Roman" charset="0"/>
          <a:cs typeface="Times New Roman" charset="0"/>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charset="0"/>
          <a:ea typeface="Times New Roman" charset="0"/>
          <a:cs typeface="Times New Roman" charset="0"/>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charset="0"/>
          <a:ea typeface="Times New Roman" charset="0"/>
          <a:cs typeface="Times New Roman"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Times New Roman" charset="0"/>
          <a:ea typeface="Times New Roman" charset="0"/>
          <a:cs typeface="Times New Roman"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Times New Roman" charset="0"/>
          <a:ea typeface="Times New Roman" charset="0"/>
          <a:cs typeface="Times New Roman"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hyperlink" Target="https://peps.python.org/" TargetMode="Externa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Review</a:t>
            </a:r>
          </a:p>
        </p:txBody>
      </p:sp>
      <p:sp>
        <p:nvSpPr>
          <p:cNvPr id="3" name="Subtitle 2"/>
          <p:cNvSpPr>
            <a:spLocks noGrp="1"/>
          </p:cNvSpPr>
          <p:nvPr>
            <p:ph type="subTitle" idx="1"/>
          </p:nvPr>
        </p:nvSpPr>
        <p:spPr/>
        <p:txBody>
          <a:bodyPr>
            <a:normAutofit lnSpcReduction="10000"/>
          </a:bodyPr>
          <a:lstStyle/>
          <a:p>
            <a:r>
              <a:rPr lang="en-US" dirty="0"/>
              <a:t>SURP 2022 Python Bootcamp</a:t>
            </a:r>
          </a:p>
          <a:p>
            <a:r>
              <a:rPr lang="en-US" dirty="0"/>
              <a:t>Ohio State Astronomy </a:t>
            </a:r>
          </a:p>
          <a:p>
            <a:r>
              <a:rPr lang="en-US" dirty="0"/>
              <a:t>Slides by: James W. Johnson</a:t>
            </a:r>
          </a:p>
        </p:txBody>
      </p:sp>
    </p:spTree>
    <p:extLst>
      <p:ext uri="{BB962C8B-B14F-4D97-AF65-F5344CB8AC3E}">
        <p14:creationId xmlns:p14="http://schemas.microsoft.com/office/powerpoint/2010/main" val="175002756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Objectives</a:t>
            </a:r>
          </a:p>
        </p:txBody>
      </p:sp>
      <p:sp>
        <p:nvSpPr>
          <p:cNvPr id="3" name="Content Placeholder 2"/>
          <p:cNvSpPr>
            <a:spLocks noGrp="1"/>
          </p:cNvSpPr>
          <p:nvPr>
            <p:ph idx="1"/>
          </p:nvPr>
        </p:nvSpPr>
        <p:spPr>
          <a:xfrm>
            <a:off x="680321" y="2336872"/>
            <a:ext cx="9613861" cy="4210232"/>
          </a:xfrm>
        </p:spPr>
        <p:txBody>
          <a:bodyPr/>
          <a:lstStyle/>
          <a:p>
            <a:r>
              <a:rPr lang="en-US" dirty="0"/>
              <a:t>Built-in Data Types: </a:t>
            </a:r>
            <a:r>
              <a:rPr lang="en-US" i="1" dirty="0" err="1"/>
              <a:t>int</a:t>
            </a:r>
            <a:r>
              <a:rPr lang="en-US" dirty="0"/>
              <a:t>, </a:t>
            </a:r>
            <a:r>
              <a:rPr lang="en-US" i="1" dirty="0"/>
              <a:t>float</a:t>
            </a:r>
            <a:r>
              <a:rPr lang="en-US" dirty="0"/>
              <a:t>,</a:t>
            </a:r>
            <a:r>
              <a:rPr lang="en-US" i="1" dirty="0"/>
              <a:t> list</a:t>
            </a:r>
            <a:r>
              <a:rPr lang="en-US" dirty="0"/>
              <a:t>, </a:t>
            </a:r>
            <a:r>
              <a:rPr lang="en-US" i="1" dirty="0"/>
              <a:t>tuple</a:t>
            </a:r>
            <a:r>
              <a:rPr lang="en-US" dirty="0"/>
              <a:t>, </a:t>
            </a:r>
            <a:r>
              <a:rPr lang="en-US" i="1" dirty="0" err="1"/>
              <a:t>dict</a:t>
            </a:r>
            <a:r>
              <a:rPr lang="en-US" dirty="0"/>
              <a:t>, </a:t>
            </a:r>
            <a:r>
              <a:rPr lang="en-US" i="1" dirty="0"/>
              <a:t>array</a:t>
            </a:r>
            <a:r>
              <a:rPr lang="en-US" dirty="0"/>
              <a:t>, etc. </a:t>
            </a:r>
          </a:p>
          <a:p>
            <a:endParaRPr lang="en-US" dirty="0"/>
          </a:p>
          <a:p>
            <a:r>
              <a:rPr lang="en-US" dirty="0"/>
              <a:t>Conditionals: </a:t>
            </a:r>
            <a:r>
              <a:rPr lang="en-US" i="1" dirty="0"/>
              <a:t>if/else</a:t>
            </a:r>
            <a:r>
              <a:rPr lang="en-US" dirty="0"/>
              <a:t> statements </a:t>
            </a:r>
          </a:p>
          <a:p>
            <a:endParaRPr lang="en-US" dirty="0"/>
          </a:p>
          <a:p>
            <a:r>
              <a:rPr lang="en-US" dirty="0"/>
              <a:t>Loops:</a:t>
            </a:r>
            <a:r>
              <a:rPr lang="en-US" i="1" dirty="0"/>
              <a:t> for</a:t>
            </a:r>
            <a:r>
              <a:rPr lang="en-US" dirty="0"/>
              <a:t> and </a:t>
            </a:r>
            <a:r>
              <a:rPr lang="en-US" i="1" dirty="0"/>
              <a:t>while </a:t>
            </a:r>
            <a:endParaRPr lang="en-US" dirty="0"/>
          </a:p>
          <a:p>
            <a:endParaRPr lang="en-US" dirty="0"/>
          </a:p>
          <a:p>
            <a:r>
              <a:rPr lang="en-US" dirty="0"/>
              <a:t>Functions: </a:t>
            </a:r>
            <a:r>
              <a:rPr lang="en-US" i="1" dirty="0" err="1"/>
              <a:t>def</a:t>
            </a:r>
            <a:r>
              <a:rPr lang="en-US" i="1" dirty="0"/>
              <a:t> </a:t>
            </a:r>
            <a:r>
              <a:rPr lang="en-US" dirty="0"/>
              <a:t>statements </a:t>
            </a:r>
          </a:p>
          <a:p>
            <a:endParaRPr lang="en-US" dirty="0"/>
          </a:p>
          <a:p>
            <a:r>
              <a:rPr lang="en-US" dirty="0"/>
              <a:t>Catching Exceptions: </a:t>
            </a:r>
            <a:r>
              <a:rPr lang="en-US" i="1" dirty="0"/>
              <a:t>try</a:t>
            </a:r>
            <a:r>
              <a:rPr lang="en-US" dirty="0"/>
              <a:t>/</a:t>
            </a:r>
            <a:r>
              <a:rPr lang="en-US" i="1" dirty="0"/>
              <a:t>except</a:t>
            </a:r>
            <a:r>
              <a:rPr lang="en-US" dirty="0"/>
              <a:t>/</a:t>
            </a:r>
            <a:r>
              <a:rPr lang="en-US" i="1" dirty="0"/>
              <a:t>finally</a:t>
            </a:r>
            <a:endParaRPr lang="en-US" dirty="0"/>
          </a:p>
        </p:txBody>
      </p:sp>
    </p:spTree>
    <p:extLst>
      <p:ext uri="{BB962C8B-B14F-4D97-AF65-F5344CB8AC3E}">
        <p14:creationId xmlns:p14="http://schemas.microsoft.com/office/powerpoint/2010/main" val="8494387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Numeric Types </a:t>
            </a:r>
          </a:p>
        </p:txBody>
      </p:sp>
      <p:sp>
        <p:nvSpPr>
          <p:cNvPr id="3" name="Content Placeholder 2"/>
          <p:cNvSpPr>
            <a:spLocks noGrp="1"/>
          </p:cNvSpPr>
          <p:nvPr>
            <p:ph idx="1"/>
          </p:nvPr>
        </p:nvSpPr>
        <p:spPr>
          <a:xfrm>
            <a:off x="680321" y="2336872"/>
            <a:ext cx="9613861" cy="4352685"/>
          </a:xfrm>
        </p:spPr>
        <p:txBody>
          <a:bodyPr/>
          <a:lstStyle/>
          <a:p>
            <a:pPr marL="0" marR="0" lvl="0" indent="0" defTabSz="914400" eaLnBrk="1" fontAlgn="auto" latinLnBrk="0" hangingPunct="1">
              <a:lnSpc>
                <a:spcPct val="100000"/>
              </a:lnSpc>
              <a:spcBef>
                <a:spcPts val="0"/>
              </a:spcBef>
              <a:spcAft>
                <a:spcPts val="0"/>
              </a:spcAft>
              <a:buClrTx/>
              <a:buSzTx/>
              <a:buFontTx/>
              <a:buNone/>
              <a:tabLst/>
              <a:defRPr/>
            </a:pPr>
            <a:r>
              <a:rPr lang="en-US" dirty="0"/>
              <a:t>Built-in numeric types are </a:t>
            </a:r>
            <a:r>
              <a:rPr lang="en-US" i="1" dirty="0" err="1"/>
              <a:t>int</a:t>
            </a:r>
            <a:r>
              <a:rPr lang="en-US" dirty="0"/>
              <a:t> (integers) and </a:t>
            </a:r>
            <a:r>
              <a:rPr lang="en-US" i="1" dirty="0"/>
              <a:t>float</a:t>
            </a:r>
            <a:r>
              <a:rPr lang="en-US" dirty="0"/>
              <a:t> (real numbers) </a:t>
            </a:r>
          </a:p>
          <a:p>
            <a:pPr lvl="1">
              <a:lnSpc>
                <a:spcPct val="100000"/>
              </a:lnSpc>
              <a:spcBef>
                <a:spcPts val="0"/>
              </a:spcBef>
            </a:pPr>
            <a:r>
              <a:rPr lang="en-US" dirty="0"/>
              <a:t>Some packages implement their own numeric types (e.g. NumPy: numpy.int64) </a:t>
            </a:r>
          </a:p>
          <a:p>
            <a:pPr marL="0" marR="0" lvl="0" indent="0" defTabSz="914400" eaLnBrk="1" fontAlgn="auto" latinLnBrk="0" hangingPunct="1">
              <a:lnSpc>
                <a:spcPct val="100000"/>
              </a:lnSpc>
              <a:spcBef>
                <a:spcPts val="0"/>
              </a:spcBef>
              <a:spcAft>
                <a:spcPts val="0"/>
              </a:spcAft>
              <a:buClrTx/>
              <a:buSzTx/>
              <a:buFontTx/>
              <a:buNone/>
              <a:tabLst/>
              <a:defRPr/>
            </a:pPr>
            <a:endParaRPr lang="en-US" dirty="0"/>
          </a:p>
          <a:p>
            <a:pPr marL="0" marR="0" lvl="0" indent="0" defTabSz="914400" eaLnBrk="1" fontAlgn="auto" latinLnBrk="0" hangingPunct="1">
              <a:lnSpc>
                <a:spcPct val="100000"/>
              </a:lnSpc>
              <a:spcBef>
                <a:spcPts val="0"/>
              </a:spcBef>
              <a:spcAft>
                <a:spcPts val="0"/>
              </a:spcAft>
              <a:buClrTx/>
              <a:buSzTx/>
              <a:buFontTx/>
              <a:buNone/>
              <a:tabLst/>
              <a:defRPr/>
            </a:pPr>
            <a:r>
              <a:rPr lang="en-US" dirty="0"/>
              <a:t>Numeric operations </a:t>
            </a:r>
          </a:p>
          <a:p>
            <a:pPr marL="0" marR="0" lvl="0" indent="0" defTabSz="914400" eaLnBrk="1" fontAlgn="auto" latinLnBrk="0" hangingPunct="1">
              <a:lnSpc>
                <a:spcPct val="100000"/>
              </a:lnSpc>
              <a:spcBef>
                <a:spcPts val="0"/>
              </a:spcBef>
              <a:spcAft>
                <a:spcPts val="0"/>
              </a:spcAft>
              <a:buClrTx/>
              <a:buSzTx/>
              <a:buFontTx/>
              <a:buNone/>
              <a:tabLst/>
              <a:defRPr/>
            </a:pPr>
            <a:r>
              <a:rPr lang="en-US" dirty="0"/>
              <a:t>	=, ==, +, -, *, /, //, %, +=, -=, *=, /=, //=, %= </a:t>
            </a:r>
          </a:p>
          <a:p>
            <a:pPr marL="0" marR="0" lvl="0" indent="0" defTabSz="914400" eaLnBrk="1" fontAlgn="auto" latinLnBrk="0" hangingPunct="1">
              <a:lnSpc>
                <a:spcPct val="100000"/>
              </a:lnSpc>
              <a:spcBef>
                <a:spcPts val="0"/>
              </a:spcBef>
              <a:spcAft>
                <a:spcPts val="0"/>
              </a:spcAft>
              <a:buClrTx/>
              <a:buSzTx/>
              <a:buFontTx/>
              <a:buNone/>
              <a:tabLst/>
              <a:defRPr/>
            </a:pPr>
            <a:r>
              <a:rPr lang="en-US" dirty="0"/>
              <a:t>	Recall: x += y is the same as x = x + y </a:t>
            </a:r>
          </a:p>
          <a:p>
            <a:pPr marL="0" marR="0" lvl="0" indent="0" defTabSz="914400" eaLnBrk="1" fontAlgn="auto" latinLnBrk="0" hangingPunct="1">
              <a:lnSpc>
                <a:spcPct val="100000"/>
              </a:lnSpc>
              <a:spcBef>
                <a:spcPts val="0"/>
              </a:spcBef>
              <a:spcAft>
                <a:spcPts val="0"/>
              </a:spcAft>
              <a:buClrTx/>
              <a:buSzTx/>
              <a:buFontTx/>
              <a:buNone/>
              <a:tabLst/>
              <a:defRPr/>
            </a:pPr>
            <a:endParaRPr lang="en-US" dirty="0"/>
          </a:p>
          <a:p>
            <a:pPr marL="0" marR="0" lvl="0" indent="0" defTabSz="914400" eaLnBrk="1" fontAlgn="auto" latinLnBrk="0" hangingPunct="1">
              <a:lnSpc>
                <a:spcPct val="100000"/>
              </a:lnSpc>
              <a:spcBef>
                <a:spcPts val="0"/>
              </a:spcBef>
              <a:spcAft>
                <a:spcPts val="0"/>
              </a:spcAft>
              <a:buClrTx/>
              <a:buSzTx/>
              <a:buFontTx/>
              <a:buNone/>
              <a:tabLst/>
              <a:defRPr/>
            </a:pPr>
            <a:r>
              <a:rPr lang="en-US" dirty="0"/>
              <a:t>/ vs. //: true division vs. floor division (i.e. integer quotient) </a:t>
            </a:r>
          </a:p>
          <a:p>
            <a:pPr lvl="1">
              <a:lnSpc>
                <a:spcPct val="100000"/>
              </a:lnSpc>
              <a:spcBef>
                <a:spcPts val="0"/>
              </a:spcBef>
            </a:pPr>
            <a:r>
              <a:rPr lang="en-US" dirty="0"/>
              <a:t>3 / 2 returns 1.5, but 3 // 2 returns 1 </a:t>
            </a:r>
          </a:p>
          <a:p>
            <a:pPr marL="0" marR="0" lvl="0" indent="0" defTabSz="914400" eaLnBrk="1" fontAlgn="auto" latinLnBrk="0" hangingPunct="1">
              <a:lnSpc>
                <a:spcPct val="100000"/>
              </a:lnSpc>
              <a:spcBef>
                <a:spcPts val="0"/>
              </a:spcBef>
              <a:spcAft>
                <a:spcPts val="0"/>
              </a:spcAft>
              <a:buClrTx/>
              <a:buSzTx/>
              <a:buFontTx/>
              <a:buNone/>
              <a:tabLst/>
              <a:defRPr/>
            </a:pPr>
            <a:endParaRPr lang="en-US" dirty="0"/>
          </a:p>
          <a:p>
            <a:pPr marL="0" marR="0" lvl="0" indent="0" defTabSz="914400" eaLnBrk="1" fontAlgn="auto" latinLnBrk="0" hangingPunct="1">
              <a:lnSpc>
                <a:spcPct val="100000"/>
              </a:lnSpc>
              <a:spcBef>
                <a:spcPts val="0"/>
              </a:spcBef>
              <a:spcAft>
                <a:spcPts val="0"/>
              </a:spcAft>
              <a:buClrTx/>
              <a:buSzTx/>
              <a:buFontTx/>
              <a:buNone/>
              <a:tabLst/>
              <a:defRPr/>
            </a:pPr>
            <a:r>
              <a:rPr lang="en-US" dirty="0"/>
              <a:t>%: modulo (calculates remainder)  </a:t>
            </a:r>
          </a:p>
          <a:p>
            <a:pPr lvl="1">
              <a:lnSpc>
                <a:spcPct val="100000"/>
              </a:lnSpc>
              <a:spcBef>
                <a:spcPts val="0"/>
              </a:spcBef>
            </a:pPr>
            <a:r>
              <a:rPr lang="en-US" dirty="0"/>
              <a:t>5 % 2 returns 1; 5 % 3 returns 2; 5 % 1 returns 0 </a:t>
            </a:r>
          </a:p>
        </p:txBody>
      </p:sp>
    </p:spTree>
    <p:extLst>
      <p:ext uri="{BB962C8B-B14F-4D97-AF65-F5344CB8AC3E}">
        <p14:creationId xmlns:p14="http://schemas.microsoft.com/office/powerpoint/2010/main" val="12688701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Strings </a:t>
            </a:r>
          </a:p>
        </p:txBody>
      </p:sp>
      <p:sp>
        <p:nvSpPr>
          <p:cNvPr id="3" name="Content Placeholder 2"/>
          <p:cNvSpPr>
            <a:spLocks noGrp="1"/>
          </p:cNvSpPr>
          <p:nvPr>
            <p:ph idx="1"/>
          </p:nvPr>
        </p:nvSpPr>
        <p:spPr>
          <a:xfrm>
            <a:off x="680321" y="2336873"/>
            <a:ext cx="5852825" cy="4316590"/>
          </a:xfrm>
        </p:spPr>
        <p:txBody>
          <a:bodyPr/>
          <a:lstStyle/>
          <a:p>
            <a:pPr marL="0" marR="0" lvl="0" indent="0" defTabSz="914400" eaLnBrk="1" fontAlgn="auto" latinLnBrk="0" hangingPunct="1">
              <a:lnSpc>
                <a:spcPct val="100000"/>
              </a:lnSpc>
              <a:spcBef>
                <a:spcPts val="0"/>
              </a:spcBef>
              <a:spcAft>
                <a:spcPts val="0"/>
              </a:spcAft>
              <a:buClrTx/>
              <a:buSzTx/>
              <a:buFontTx/>
              <a:buNone/>
              <a:tabLst/>
              <a:defRPr/>
            </a:pPr>
            <a:r>
              <a:rPr lang="en-US" dirty="0"/>
              <a:t>Text - declared with either single ‘’ or double “” quotes </a:t>
            </a:r>
          </a:p>
          <a:p>
            <a:pPr marL="0" marR="0" lvl="0" indent="0" defTabSz="914400" eaLnBrk="1" fontAlgn="auto" latinLnBrk="0" hangingPunct="1">
              <a:lnSpc>
                <a:spcPct val="100000"/>
              </a:lnSpc>
              <a:spcBef>
                <a:spcPts val="0"/>
              </a:spcBef>
              <a:spcAft>
                <a:spcPts val="0"/>
              </a:spcAft>
              <a:buClrTx/>
              <a:buSzTx/>
              <a:buFontTx/>
              <a:buNone/>
              <a:tabLst/>
              <a:defRPr/>
            </a:pPr>
            <a:endParaRPr lang="en-US" dirty="0"/>
          </a:p>
          <a:p>
            <a:pPr marL="0" marR="0" lvl="0" indent="0" defTabSz="914400" eaLnBrk="1" fontAlgn="auto" latinLnBrk="0" hangingPunct="1">
              <a:lnSpc>
                <a:spcPct val="100000"/>
              </a:lnSpc>
              <a:spcBef>
                <a:spcPts val="0"/>
              </a:spcBef>
              <a:spcAft>
                <a:spcPts val="0"/>
              </a:spcAft>
              <a:buClrTx/>
              <a:buSzTx/>
              <a:buFontTx/>
              <a:buNone/>
              <a:tabLst/>
              <a:defRPr/>
            </a:pPr>
            <a:r>
              <a:rPr lang="en-US" dirty="0"/>
              <a:t>Triple quotes declare a multi-line string (This will come up again later) </a:t>
            </a:r>
          </a:p>
          <a:p>
            <a:pPr marL="0" marR="0" lvl="0" indent="0" defTabSz="914400" eaLnBrk="1" fontAlgn="auto" latinLnBrk="0" hangingPunct="1">
              <a:lnSpc>
                <a:spcPct val="100000"/>
              </a:lnSpc>
              <a:spcBef>
                <a:spcPts val="0"/>
              </a:spcBef>
              <a:spcAft>
                <a:spcPts val="0"/>
              </a:spcAft>
              <a:buClrTx/>
              <a:buSzTx/>
              <a:buFontTx/>
              <a:buNone/>
              <a:tabLst/>
              <a:defRPr/>
            </a:pPr>
            <a:endParaRPr lang="en-US" dirty="0"/>
          </a:p>
          <a:p>
            <a:pPr marL="0" marR="0" lvl="0" indent="0" defTabSz="914400" eaLnBrk="1" fontAlgn="auto" latinLnBrk="0" hangingPunct="1">
              <a:lnSpc>
                <a:spcPct val="100000"/>
              </a:lnSpc>
              <a:spcBef>
                <a:spcPts val="0"/>
              </a:spcBef>
              <a:spcAft>
                <a:spcPts val="0"/>
              </a:spcAft>
              <a:buClrTx/>
              <a:buSzTx/>
              <a:buFontTx/>
              <a:buNone/>
              <a:tabLst/>
              <a:defRPr/>
            </a:pPr>
            <a:r>
              <a:rPr lang="en-US" dirty="0"/>
              <a:t>Are compatible with the += operator </a:t>
            </a:r>
          </a:p>
          <a:p>
            <a:pPr marL="0" marR="0" lvl="0" indent="0" defTabSz="914400" eaLnBrk="1" fontAlgn="auto" latinLnBrk="0" hangingPunct="1">
              <a:lnSpc>
                <a:spcPct val="100000"/>
              </a:lnSpc>
              <a:spcBef>
                <a:spcPts val="0"/>
              </a:spcBef>
              <a:spcAft>
                <a:spcPts val="0"/>
              </a:spcAft>
              <a:buClrTx/>
              <a:buSzTx/>
              <a:buFontTx/>
              <a:buNone/>
              <a:tabLst/>
              <a:defRPr/>
            </a:pPr>
            <a:endParaRPr lang="en-US" dirty="0"/>
          </a:p>
          <a:p>
            <a:pPr marL="0" marR="0" lvl="0" indent="0" defTabSz="914400" eaLnBrk="1" fontAlgn="auto" latinLnBrk="0" hangingPunct="1">
              <a:lnSpc>
                <a:spcPct val="100000"/>
              </a:lnSpc>
              <a:spcBef>
                <a:spcPts val="0"/>
              </a:spcBef>
              <a:spcAft>
                <a:spcPts val="0"/>
              </a:spcAft>
              <a:buClrTx/>
              <a:buSzTx/>
              <a:buFontTx/>
              <a:buNone/>
              <a:tabLst/>
              <a:defRPr/>
            </a:pPr>
            <a:r>
              <a:rPr lang="en-US" dirty="0"/>
              <a:t>In Python 3, strings are </a:t>
            </a:r>
            <a:r>
              <a:rPr lang="en-US" i="1" dirty="0" err="1"/>
              <a:t>unicode</a:t>
            </a:r>
            <a:r>
              <a:rPr lang="en-US" dirty="0"/>
              <a:t> by default, meaning you can use special characters without changing anything </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992180" y="3068053"/>
            <a:ext cx="3934099" cy="1950793"/>
          </a:xfrm>
          <a:prstGeom prst="rect">
            <a:avLst/>
          </a:prstGeom>
        </p:spPr>
      </p:pic>
    </p:spTree>
    <p:extLst>
      <p:ext uri="{BB962C8B-B14F-4D97-AF65-F5344CB8AC3E}">
        <p14:creationId xmlns:p14="http://schemas.microsoft.com/office/powerpoint/2010/main" val="1634323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Print Function</a:t>
            </a:r>
          </a:p>
        </p:txBody>
      </p:sp>
      <p:sp>
        <p:nvSpPr>
          <p:cNvPr id="3" name="Content Placeholder 2"/>
          <p:cNvSpPr>
            <a:spLocks noGrp="1"/>
          </p:cNvSpPr>
          <p:nvPr>
            <p:ph idx="1"/>
          </p:nvPr>
        </p:nvSpPr>
        <p:spPr>
          <a:xfrm>
            <a:off x="680321" y="2336872"/>
            <a:ext cx="10629363" cy="4112053"/>
          </a:xfrm>
        </p:spPr>
        <p:txBody>
          <a:bodyPr>
            <a:norm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en-US" dirty="0"/>
              <a:t>In C/C++ print statements are done with </a:t>
            </a:r>
            <a:r>
              <a:rPr lang="en-US" i="1" dirty="0" err="1"/>
              <a:t>printf</a:t>
            </a:r>
            <a:r>
              <a:rPr lang="en-US" dirty="0"/>
              <a:t> in </a:t>
            </a:r>
            <a:r>
              <a:rPr lang="en-US" dirty="0" err="1"/>
              <a:t>stdio.h</a:t>
            </a:r>
            <a:r>
              <a:rPr lang="en-US" dirty="0"/>
              <a:t>, and </a:t>
            </a:r>
            <a:r>
              <a:rPr lang="en-US" i="1" dirty="0" err="1"/>
              <a:t>cout</a:t>
            </a:r>
            <a:r>
              <a:rPr lang="en-US" i="1" dirty="0"/>
              <a:t> </a:t>
            </a:r>
            <a:r>
              <a:rPr lang="en-US" dirty="0"/>
              <a:t>in </a:t>
            </a:r>
            <a:r>
              <a:rPr lang="en-US" dirty="0" err="1"/>
              <a:t>iostream</a:t>
            </a:r>
            <a:r>
              <a:rPr lang="en-US" dirty="0"/>
              <a:t> </a:t>
            </a:r>
          </a:p>
          <a:p>
            <a:pPr marL="0" marR="0" lvl="0" indent="0" defTabSz="914400" eaLnBrk="1" fontAlgn="auto" latinLnBrk="0" hangingPunct="1">
              <a:lnSpc>
                <a:spcPct val="100000"/>
              </a:lnSpc>
              <a:spcBef>
                <a:spcPts val="0"/>
              </a:spcBef>
              <a:spcAft>
                <a:spcPts val="0"/>
              </a:spcAft>
              <a:buClrTx/>
              <a:buSzTx/>
              <a:buFontTx/>
              <a:buNone/>
              <a:tabLst/>
              <a:defRPr/>
            </a:pPr>
            <a:endParaRPr lang="en-US" dirty="0"/>
          </a:p>
          <a:p>
            <a:pPr marL="0" marR="0" lvl="0" indent="0" defTabSz="914400" eaLnBrk="1" fontAlgn="auto" latinLnBrk="0" hangingPunct="1">
              <a:lnSpc>
                <a:spcPct val="100000"/>
              </a:lnSpc>
              <a:spcBef>
                <a:spcPts val="0"/>
              </a:spcBef>
              <a:spcAft>
                <a:spcPts val="0"/>
              </a:spcAft>
              <a:buClrTx/>
              <a:buSzTx/>
              <a:buFontTx/>
              <a:buNone/>
              <a:tabLst/>
              <a:defRPr/>
            </a:pPr>
            <a:endParaRPr lang="en-US" dirty="0"/>
          </a:p>
          <a:p>
            <a:pPr marL="0" marR="0" lvl="0" indent="0" defTabSz="914400" eaLnBrk="1" fontAlgn="auto" latinLnBrk="0" hangingPunct="1">
              <a:lnSpc>
                <a:spcPct val="100000"/>
              </a:lnSpc>
              <a:spcBef>
                <a:spcPts val="0"/>
              </a:spcBef>
              <a:spcAft>
                <a:spcPts val="0"/>
              </a:spcAft>
              <a:buClrTx/>
              <a:buSzTx/>
              <a:buFontTx/>
              <a:buNone/>
              <a:tabLst/>
              <a:defRPr/>
            </a:pPr>
            <a:r>
              <a:rPr lang="en-US" dirty="0"/>
              <a:t>Python: </a:t>
            </a:r>
            <a:r>
              <a:rPr lang="en-US" i="1" dirty="0"/>
              <a:t>print(&lt;things to print&gt;) </a:t>
            </a:r>
          </a:p>
          <a:p>
            <a:pPr lvl="1">
              <a:lnSpc>
                <a:spcPct val="100000"/>
              </a:lnSpc>
              <a:spcBef>
                <a:spcPts val="0"/>
              </a:spcBef>
            </a:pPr>
            <a:r>
              <a:rPr lang="en-US" dirty="0"/>
              <a:t>Can pass multiple parameters separated by commas, and they’ll print with spaces between them </a:t>
            </a:r>
          </a:p>
        </p:txBody>
      </p:sp>
    </p:spTree>
    <p:extLst>
      <p:ext uri="{BB962C8B-B14F-4D97-AF65-F5344CB8AC3E}">
        <p14:creationId xmlns:p14="http://schemas.microsoft.com/office/powerpoint/2010/main" val="19233066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Type Casting </a:t>
            </a:r>
          </a:p>
        </p:txBody>
      </p:sp>
      <p:sp>
        <p:nvSpPr>
          <p:cNvPr id="3" name="Content Placeholder 2"/>
          <p:cNvSpPr>
            <a:spLocks noGrp="1"/>
          </p:cNvSpPr>
          <p:nvPr>
            <p:ph idx="1"/>
          </p:nvPr>
        </p:nvSpPr>
        <p:spPr>
          <a:xfrm>
            <a:off x="680321" y="2336873"/>
            <a:ext cx="5540005" cy="4268464"/>
          </a:xfrm>
        </p:spPr>
        <p:txBody>
          <a:bodyPr/>
          <a:lstStyle/>
          <a:p>
            <a:pPr marL="0" marR="0" lvl="0" indent="0" defTabSz="914400" eaLnBrk="1" fontAlgn="auto" latinLnBrk="0" hangingPunct="1">
              <a:lnSpc>
                <a:spcPct val="100000"/>
              </a:lnSpc>
              <a:spcBef>
                <a:spcPts val="0"/>
              </a:spcBef>
              <a:spcAft>
                <a:spcPts val="0"/>
              </a:spcAft>
              <a:buClrTx/>
              <a:buSzTx/>
              <a:buFontTx/>
              <a:buNone/>
              <a:tabLst/>
              <a:defRPr/>
            </a:pPr>
            <a:r>
              <a:rPr lang="en-US" dirty="0"/>
              <a:t>Python objects can be converted between compatible types </a:t>
            </a:r>
          </a:p>
          <a:p>
            <a:pPr marL="0" marR="0" lvl="0" indent="0" defTabSz="914400" eaLnBrk="1" fontAlgn="auto" latinLnBrk="0" hangingPunct="1">
              <a:lnSpc>
                <a:spcPct val="100000"/>
              </a:lnSpc>
              <a:spcBef>
                <a:spcPts val="0"/>
              </a:spcBef>
              <a:spcAft>
                <a:spcPts val="0"/>
              </a:spcAft>
              <a:buClrTx/>
              <a:buSzTx/>
              <a:buFontTx/>
              <a:buNone/>
              <a:tabLst/>
              <a:defRPr/>
            </a:pPr>
            <a:endParaRPr lang="en-US" dirty="0"/>
          </a:p>
          <a:p>
            <a:pPr marL="0" marR="0" lvl="0" indent="0" defTabSz="914400" eaLnBrk="1" fontAlgn="auto" latinLnBrk="0" hangingPunct="1">
              <a:lnSpc>
                <a:spcPct val="100000"/>
              </a:lnSpc>
              <a:spcBef>
                <a:spcPts val="0"/>
              </a:spcBef>
              <a:spcAft>
                <a:spcPts val="0"/>
              </a:spcAft>
              <a:buClrTx/>
              <a:buSzTx/>
              <a:buFontTx/>
              <a:buNone/>
              <a:tabLst/>
              <a:defRPr/>
            </a:pPr>
            <a:endParaRPr lang="en-US" dirty="0"/>
          </a:p>
          <a:p>
            <a:pPr marL="0" marR="0" lvl="0" indent="0" defTabSz="914400" eaLnBrk="1" fontAlgn="auto" latinLnBrk="0" hangingPunct="1">
              <a:lnSpc>
                <a:spcPct val="100000"/>
              </a:lnSpc>
              <a:spcBef>
                <a:spcPts val="0"/>
              </a:spcBef>
              <a:spcAft>
                <a:spcPts val="0"/>
              </a:spcAft>
              <a:buClrTx/>
              <a:buSzTx/>
              <a:buFontTx/>
              <a:buNone/>
              <a:tabLst/>
              <a:defRPr/>
            </a:pPr>
            <a:r>
              <a:rPr lang="en-US" dirty="0"/>
              <a:t>Strings containing numbers can be converted to numeric types </a:t>
            </a:r>
          </a:p>
          <a:p>
            <a:pPr marL="0" marR="0" lvl="0" indent="0" defTabSz="914400" eaLnBrk="1" fontAlgn="auto" latinLnBrk="0" hangingPunct="1">
              <a:lnSpc>
                <a:spcPct val="100000"/>
              </a:lnSpc>
              <a:spcBef>
                <a:spcPts val="0"/>
              </a:spcBef>
              <a:spcAft>
                <a:spcPts val="0"/>
              </a:spcAft>
              <a:buClrTx/>
              <a:buSzTx/>
              <a:buFontTx/>
              <a:buNone/>
              <a:tabLst/>
              <a:defRPr/>
            </a:pPr>
            <a:endParaRPr lang="en-US" dirty="0"/>
          </a:p>
          <a:p>
            <a:pPr marL="0" marR="0" lvl="0" indent="0" defTabSz="914400" eaLnBrk="1" fontAlgn="auto" latinLnBrk="0" hangingPunct="1">
              <a:lnSpc>
                <a:spcPct val="100000"/>
              </a:lnSpc>
              <a:spcBef>
                <a:spcPts val="0"/>
              </a:spcBef>
              <a:spcAft>
                <a:spcPts val="0"/>
              </a:spcAft>
              <a:buClrTx/>
              <a:buSzTx/>
              <a:buFontTx/>
              <a:buNone/>
              <a:tabLst/>
              <a:defRPr/>
            </a:pPr>
            <a:endParaRPr lang="en-US" dirty="0"/>
          </a:p>
          <a:p>
            <a:pPr marL="0" marR="0" lvl="0" indent="0" defTabSz="914400" eaLnBrk="1" fontAlgn="auto" latinLnBrk="0" hangingPunct="1">
              <a:lnSpc>
                <a:spcPct val="100000"/>
              </a:lnSpc>
              <a:spcBef>
                <a:spcPts val="0"/>
              </a:spcBef>
              <a:spcAft>
                <a:spcPts val="0"/>
              </a:spcAft>
              <a:buClrTx/>
              <a:buSzTx/>
              <a:buFontTx/>
              <a:buNone/>
              <a:tabLst/>
              <a:defRPr/>
            </a:pPr>
            <a:r>
              <a:rPr lang="en-US" dirty="0"/>
              <a:t>Integers can be converted to floats and vice versa </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83500" y="2336873"/>
            <a:ext cx="1854200" cy="4076700"/>
          </a:xfrm>
          <a:prstGeom prst="rect">
            <a:avLst/>
          </a:prstGeom>
        </p:spPr>
      </p:pic>
    </p:spTree>
    <p:extLst>
      <p:ext uri="{BB962C8B-B14F-4D97-AF65-F5344CB8AC3E}">
        <p14:creationId xmlns:p14="http://schemas.microsoft.com/office/powerpoint/2010/main" val="100719772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Import Statements </a:t>
            </a:r>
          </a:p>
        </p:txBody>
      </p:sp>
      <p:sp>
        <p:nvSpPr>
          <p:cNvPr id="3" name="Content Placeholder 2"/>
          <p:cNvSpPr>
            <a:spLocks noGrp="1"/>
          </p:cNvSpPr>
          <p:nvPr>
            <p:ph idx="1"/>
          </p:nvPr>
        </p:nvSpPr>
        <p:spPr>
          <a:xfrm>
            <a:off x="680321" y="2336873"/>
            <a:ext cx="5323437" cy="4220338"/>
          </a:xfrm>
        </p:spPr>
        <p:txBody>
          <a:bodyPr>
            <a:normAutofit/>
          </a:bodyPr>
          <a:lstStyle/>
          <a:p>
            <a:pPr marL="0" indent="0">
              <a:buNone/>
            </a:pPr>
            <a:r>
              <a:rPr lang="en-US" dirty="0"/>
              <a:t>Used to load a python library into your current code </a:t>
            </a:r>
          </a:p>
          <a:p>
            <a:pPr marL="0" indent="0">
              <a:buNone/>
            </a:pPr>
            <a:endParaRPr lang="en-US" dirty="0"/>
          </a:p>
          <a:p>
            <a:pPr marL="0" indent="0">
              <a:buNone/>
            </a:pPr>
            <a:r>
              <a:rPr lang="en-US" dirty="0"/>
              <a:t>Analogous to </a:t>
            </a:r>
            <a:r>
              <a:rPr lang="en-US" i="1" dirty="0"/>
              <a:t>#include</a:t>
            </a:r>
            <a:r>
              <a:rPr lang="en-US" dirty="0"/>
              <a:t> and </a:t>
            </a:r>
            <a:r>
              <a:rPr lang="en-US" i="1" dirty="0"/>
              <a:t>using</a:t>
            </a:r>
            <a:r>
              <a:rPr lang="en-US" dirty="0"/>
              <a:t> in C/C++ </a:t>
            </a:r>
          </a:p>
          <a:p>
            <a:pPr marL="0" indent="0">
              <a:buNone/>
            </a:pPr>
            <a:endParaRPr lang="en-US" dirty="0"/>
          </a:p>
          <a:p>
            <a:pPr marL="0" indent="0">
              <a:buNone/>
            </a:pPr>
            <a:r>
              <a:rPr lang="en-US" dirty="0"/>
              <a:t>Can assign imported modules new names upon import with </a:t>
            </a:r>
            <a:r>
              <a:rPr lang="en-US" i="1" dirty="0"/>
              <a:t>from</a:t>
            </a:r>
            <a:r>
              <a:rPr lang="en-US" dirty="0"/>
              <a:t> and </a:t>
            </a:r>
            <a:r>
              <a:rPr lang="en-US" i="1" dirty="0"/>
              <a:t>as </a:t>
            </a:r>
          </a:p>
          <a:p>
            <a:pPr marL="0" indent="0">
              <a:buNone/>
            </a:pPr>
            <a:endParaRPr lang="en-US" i="1" dirty="0"/>
          </a:p>
          <a:p>
            <a:pPr marL="0" indent="0">
              <a:buNone/>
            </a:pPr>
            <a:r>
              <a:rPr lang="en-US" i="1" dirty="0"/>
              <a:t>from</a:t>
            </a:r>
            <a:r>
              <a:rPr lang="en-US" dirty="0"/>
              <a:t> ___ </a:t>
            </a:r>
            <a:r>
              <a:rPr lang="en-US" i="1" dirty="0"/>
              <a:t>import *</a:t>
            </a:r>
            <a:r>
              <a:rPr lang="en-US" dirty="0"/>
              <a:t> imports all contents </a:t>
            </a:r>
            <a:endParaRPr lang="en-US" i="1"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911973" y="2766214"/>
            <a:ext cx="3550652" cy="3297034"/>
          </a:xfrm>
          <a:prstGeom prst="rect">
            <a:avLst/>
          </a:prstGeom>
        </p:spPr>
      </p:pic>
    </p:spTree>
    <p:extLst>
      <p:ext uri="{BB962C8B-B14F-4D97-AF65-F5344CB8AC3E}">
        <p14:creationId xmlns:p14="http://schemas.microsoft.com/office/powerpoint/2010/main" val="18066231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List</a:t>
            </a:r>
          </a:p>
        </p:txBody>
      </p:sp>
      <p:sp>
        <p:nvSpPr>
          <p:cNvPr id="3" name="Content Placeholder 2"/>
          <p:cNvSpPr>
            <a:spLocks noGrp="1"/>
          </p:cNvSpPr>
          <p:nvPr>
            <p:ph idx="1"/>
          </p:nvPr>
        </p:nvSpPr>
        <p:spPr>
          <a:xfrm>
            <a:off x="680322" y="2336873"/>
            <a:ext cx="6798652" cy="3599316"/>
          </a:xfrm>
        </p:spPr>
        <p:txBody>
          <a:bodyPr/>
          <a:lstStyle/>
          <a:p>
            <a:pPr marL="0" indent="0">
              <a:buNone/>
            </a:pPr>
            <a:r>
              <a:rPr lang="en-US" dirty="0"/>
              <a:t>A sequence of objects </a:t>
            </a:r>
          </a:p>
          <a:p>
            <a:pPr lvl="1"/>
            <a:r>
              <a:rPr lang="en-US" dirty="0"/>
              <a:t>Created with square brackets [ ]</a:t>
            </a:r>
          </a:p>
          <a:p>
            <a:pPr lvl="1"/>
            <a:r>
              <a:rPr lang="en-US" dirty="0"/>
              <a:t>Can be any mix of types </a:t>
            </a:r>
          </a:p>
          <a:p>
            <a:pPr lvl="1"/>
            <a:r>
              <a:rPr lang="en-US" dirty="0"/>
              <a:t>Access an element of the sequence by its position</a:t>
            </a:r>
          </a:p>
          <a:p>
            <a:pPr lvl="2"/>
            <a:r>
              <a:rPr lang="en-US" dirty="0"/>
              <a:t>Negative indices start at the </a:t>
            </a:r>
            <a:r>
              <a:rPr lang="en-US" i="1" dirty="0"/>
              <a:t>end</a:t>
            </a:r>
            <a:r>
              <a:rPr lang="en-US" dirty="0"/>
              <a:t> of the list and count backwards </a:t>
            </a:r>
          </a:p>
          <a:p>
            <a:pPr lvl="2"/>
            <a:r>
              <a:rPr lang="en-US" dirty="0"/>
              <a:t>Modification proceeds in the same manner </a:t>
            </a:r>
          </a:p>
          <a:p>
            <a:pPr lvl="1"/>
            <a:r>
              <a:rPr lang="en-US" dirty="0"/>
              <a:t>Append function adds an element to the end </a:t>
            </a:r>
          </a:p>
          <a:p>
            <a:pPr lvl="2"/>
            <a:r>
              <a:rPr lang="en-US" dirty="0"/>
              <a:t>Can also use ‘+’ to combine lists </a:t>
            </a:r>
          </a:p>
          <a:p>
            <a:endParaRPr lang="en-US" dirty="0"/>
          </a:p>
          <a:p>
            <a:endParaRPr lang="en-US" dirty="0"/>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478974" y="2114350"/>
            <a:ext cx="4056040" cy="4516003"/>
          </a:xfrm>
          <a:prstGeom prst="rect">
            <a:avLst/>
          </a:prstGeom>
        </p:spPr>
      </p:pic>
    </p:spTree>
    <p:extLst>
      <p:ext uri="{BB962C8B-B14F-4D97-AF65-F5344CB8AC3E}">
        <p14:creationId xmlns:p14="http://schemas.microsoft.com/office/powerpoint/2010/main" val="12726478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Tuple</a:t>
            </a:r>
          </a:p>
        </p:txBody>
      </p:sp>
      <p:sp>
        <p:nvSpPr>
          <p:cNvPr id="3" name="Content Placeholder 2"/>
          <p:cNvSpPr>
            <a:spLocks noGrp="1"/>
          </p:cNvSpPr>
          <p:nvPr>
            <p:ph idx="1"/>
          </p:nvPr>
        </p:nvSpPr>
        <p:spPr>
          <a:xfrm>
            <a:off x="680321" y="2336873"/>
            <a:ext cx="6275677" cy="3599316"/>
          </a:xfrm>
        </p:spPr>
        <p:txBody>
          <a:bodyPr/>
          <a:lstStyle/>
          <a:p>
            <a:pPr marL="0" indent="0">
              <a:buNone/>
            </a:pPr>
            <a:r>
              <a:rPr lang="en-US" dirty="0"/>
              <a:t>An </a:t>
            </a:r>
            <a:r>
              <a:rPr lang="en-US" i="1" dirty="0"/>
              <a:t>immutable</a:t>
            </a:r>
            <a:r>
              <a:rPr lang="en-US" dirty="0"/>
              <a:t> sequence of objects </a:t>
            </a:r>
          </a:p>
          <a:p>
            <a:pPr lvl="1"/>
            <a:r>
              <a:rPr lang="en-US" dirty="0"/>
              <a:t>Created with parentheses ( ) </a:t>
            </a:r>
          </a:p>
          <a:p>
            <a:pPr lvl="1"/>
            <a:r>
              <a:rPr lang="en-US" dirty="0"/>
              <a:t>Can be any mix of types </a:t>
            </a:r>
          </a:p>
          <a:p>
            <a:pPr lvl="1"/>
            <a:r>
              <a:rPr lang="en-US" dirty="0"/>
              <a:t>Access an element of the sequence by its position </a:t>
            </a:r>
          </a:p>
          <a:p>
            <a:pPr lvl="2"/>
            <a:r>
              <a:rPr lang="en-US" dirty="0"/>
              <a:t>Negative indices start at the </a:t>
            </a:r>
            <a:r>
              <a:rPr lang="en-US" i="1" dirty="0"/>
              <a:t>end</a:t>
            </a:r>
            <a:r>
              <a:rPr lang="en-US" dirty="0"/>
              <a:t> of the tuple and count backwards </a:t>
            </a:r>
          </a:p>
          <a:p>
            <a:pPr lvl="2"/>
            <a:r>
              <a:rPr lang="en-US" dirty="0"/>
              <a:t>Modification </a:t>
            </a:r>
            <a:r>
              <a:rPr lang="en-US" i="1" dirty="0"/>
              <a:t>not allowed</a:t>
            </a:r>
            <a:r>
              <a:rPr lang="en-US" dirty="0"/>
              <a:t> (immutability) </a:t>
            </a:r>
          </a:p>
          <a:p>
            <a:pPr lvl="2"/>
            <a:r>
              <a:rPr lang="en-US" dirty="0"/>
              <a:t>Can still use ‘+’ to add elements to the end </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64574" y="533819"/>
            <a:ext cx="5429384" cy="5996634"/>
          </a:xfrm>
          <a:prstGeom prst="rect">
            <a:avLst/>
          </a:prstGeom>
        </p:spPr>
      </p:pic>
    </p:spTree>
    <p:extLst>
      <p:ext uri="{BB962C8B-B14F-4D97-AF65-F5344CB8AC3E}">
        <p14:creationId xmlns:p14="http://schemas.microsoft.com/office/powerpoint/2010/main" val="2549901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Set</a:t>
            </a:r>
          </a:p>
        </p:txBody>
      </p:sp>
      <p:sp>
        <p:nvSpPr>
          <p:cNvPr id="3" name="Content Placeholder 2"/>
          <p:cNvSpPr>
            <a:spLocks noGrp="1"/>
          </p:cNvSpPr>
          <p:nvPr>
            <p:ph idx="1"/>
          </p:nvPr>
        </p:nvSpPr>
        <p:spPr>
          <a:xfrm>
            <a:off x="680321" y="2336873"/>
            <a:ext cx="5574175" cy="3599316"/>
          </a:xfrm>
        </p:spPr>
        <p:txBody>
          <a:bodyPr/>
          <a:lstStyle/>
          <a:p>
            <a:pPr marL="0" marR="0" lvl="0" indent="0" defTabSz="914400" eaLnBrk="1" fontAlgn="auto" latinLnBrk="0" hangingPunct="1">
              <a:lnSpc>
                <a:spcPct val="100000"/>
              </a:lnSpc>
              <a:spcBef>
                <a:spcPts val="0"/>
              </a:spcBef>
              <a:spcAft>
                <a:spcPts val="0"/>
              </a:spcAft>
              <a:buClrTx/>
              <a:buSzTx/>
              <a:buFontTx/>
              <a:buNone/>
              <a:tabLst/>
              <a:defRPr/>
            </a:pPr>
            <a:r>
              <a:rPr lang="en-US" dirty="0"/>
              <a:t>Ensure uniqueness</a:t>
            </a:r>
          </a:p>
          <a:p>
            <a:pPr lvl="1">
              <a:lnSpc>
                <a:spcPct val="100000"/>
              </a:lnSpc>
              <a:spcBef>
                <a:spcPts val="0"/>
              </a:spcBef>
            </a:pPr>
            <a:r>
              <a:rPr lang="en-US" i="1" dirty="0"/>
              <a:t>list(set(</a:t>
            </a:r>
            <a:r>
              <a:rPr lang="en-US" i="1" dirty="0" err="1"/>
              <a:t>some_list</a:t>
            </a:r>
            <a:r>
              <a:rPr lang="en-US" i="1" dirty="0"/>
              <a:t>))</a:t>
            </a:r>
            <a:r>
              <a:rPr lang="en-US" dirty="0"/>
              <a:t> will remove duplicate elements </a:t>
            </a:r>
          </a:p>
          <a:p>
            <a:pPr lvl="1">
              <a:lnSpc>
                <a:spcPct val="100000"/>
              </a:lnSpc>
              <a:spcBef>
                <a:spcPts val="0"/>
              </a:spcBef>
            </a:pPr>
            <a:r>
              <a:rPr lang="en-US" dirty="0"/>
              <a:t>Created with the </a:t>
            </a:r>
            <a:r>
              <a:rPr lang="en-US" i="1" dirty="0"/>
              <a:t>set()</a:t>
            </a:r>
            <a:r>
              <a:rPr lang="en-US" dirty="0"/>
              <a:t> function or with {} enclosing elements (be careful w/this, see next slide) </a:t>
            </a:r>
          </a:p>
          <a:p>
            <a:pPr lvl="1">
              <a:lnSpc>
                <a:spcPct val="100000"/>
              </a:lnSpc>
              <a:spcBef>
                <a:spcPts val="0"/>
              </a:spcBef>
            </a:pPr>
            <a:r>
              <a:rPr lang="en-US" dirty="0"/>
              <a:t>Don</a:t>
            </a:r>
            <a:r>
              <a:rPr lang="mr-IN" dirty="0"/>
              <a:t>’</a:t>
            </a:r>
            <a:r>
              <a:rPr lang="en-US" dirty="0"/>
              <a:t>t allow indexing, so aren’t as commonly used as lists, tuples, and dictionaries </a:t>
            </a:r>
          </a:p>
          <a:p>
            <a:pPr lvl="1">
              <a:lnSpc>
                <a:spcPct val="100000"/>
              </a:lnSpc>
              <a:spcBef>
                <a:spcPts val="0"/>
              </a:spcBef>
            </a:pPr>
            <a:r>
              <a:rPr lang="en-US" dirty="0"/>
              <a:t>Have some other useful function such as union and intersection (‘|’ and ‘&amp;’) </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169404" y="2726831"/>
            <a:ext cx="3619500" cy="2819400"/>
          </a:xfrm>
          <a:prstGeom prst="rect">
            <a:avLst/>
          </a:prstGeom>
        </p:spPr>
      </p:pic>
    </p:spTree>
    <p:extLst>
      <p:ext uri="{BB962C8B-B14F-4D97-AF65-F5344CB8AC3E}">
        <p14:creationId xmlns:p14="http://schemas.microsoft.com/office/powerpoint/2010/main" val="210718839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Dictionary</a:t>
            </a:r>
          </a:p>
        </p:txBody>
      </p:sp>
      <p:sp>
        <p:nvSpPr>
          <p:cNvPr id="3" name="Content Placeholder 2"/>
          <p:cNvSpPr>
            <a:spLocks noGrp="1"/>
          </p:cNvSpPr>
          <p:nvPr>
            <p:ph idx="1"/>
          </p:nvPr>
        </p:nvSpPr>
        <p:spPr>
          <a:xfrm>
            <a:off x="680322" y="2336873"/>
            <a:ext cx="4423941" cy="3599316"/>
          </a:xfrm>
        </p:spPr>
        <p:txBody>
          <a:bodyPr/>
          <a:lstStyle/>
          <a:p>
            <a:pPr marL="0" indent="0">
              <a:buNone/>
            </a:pPr>
            <a:r>
              <a:rPr lang="en-US" dirty="0"/>
              <a:t>Python’s version of a</a:t>
            </a:r>
            <a:r>
              <a:rPr lang="en-US" i="1" dirty="0"/>
              <a:t> hash table</a:t>
            </a:r>
            <a:r>
              <a:rPr lang="en-US" dirty="0"/>
              <a:t>. </a:t>
            </a:r>
          </a:p>
          <a:p>
            <a:pPr lvl="1"/>
            <a:r>
              <a:rPr lang="en-US" dirty="0"/>
              <a:t>Can be used to map objects to other objects </a:t>
            </a:r>
          </a:p>
          <a:p>
            <a:pPr lvl="1"/>
            <a:r>
              <a:rPr lang="en-US" dirty="0"/>
              <a:t>Created with {} </a:t>
            </a:r>
          </a:p>
          <a:p>
            <a:pPr lvl="1"/>
            <a:r>
              <a:rPr lang="en-US" dirty="0"/>
              <a:t>Stored values can be accessed via their </a:t>
            </a:r>
            <a:r>
              <a:rPr lang="en-US" i="1" dirty="0"/>
              <a:t>key</a:t>
            </a:r>
            <a:r>
              <a:rPr lang="en-US" dirty="0"/>
              <a:t> </a:t>
            </a:r>
          </a:p>
          <a:p>
            <a:pPr lvl="1"/>
            <a:r>
              <a:rPr lang="en-US" i="1" dirty="0"/>
              <a:t>keys() </a:t>
            </a:r>
            <a:r>
              <a:rPr lang="en-US" dirty="0"/>
              <a:t>function returns each key </a:t>
            </a:r>
          </a:p>
          <a:p>
            <a:pPr lvl="1"/>
            <a:r>
              <a:rPr lang="en-US" dirty="0"/>
              <a:t>Popular method of storing data b/c keys can be strings which describe the data, allowing very readable code </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277893" y="2336873"/>
            <a:ext cx="6591300" cy="3429000"/>
          </a:xfrm>
          <a:prstGeom prst="rect">
            <a:avLst/>
          </a:prstGeom>
        </p:spPr>
      </p:pic>
    </p:spTree>
    <p:extLst>
      <p:ext uri="{BB962C8B-B14F-4D97-AF65-F5344CB8AC3E}">
        <p14:creationId xmlns:p14="http://schemas.microsoft.com/office/powerpoint/2010/main" val="10445911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Which Data Type Should I Use? </a:t>
            </a:r>
          </a:p>
        </p:txBody>
      </p:sp>
      <p:sp>
        <p:nvSpPr>
          <p:cNvPr id="3" name="Content Placeholder 2"/>
          <p:cNvSpPr>
            <a:spLocks noGrp="1"/>
          </p:cNvSpPr>
          <p:nvPr>
            <p:ph idx="1"/>
          </p:nvPr>
        </p:nvSpPr>
        <p:spPr>
          <a:xfrm>
            <a:off x="680321" y="2336872"/>
            <a:ext cx="9854068" cy="4198039"/>
          </a:xfrm>
        </p:spPr>
        <p:txBody>
          <a:bodyPr>
            <a:norm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en-US" dirty="0"/>
              <a:t>Do you need a logical </a:t>
            </a:r>
            <a:r>
              <a:rPr lang="en-US" i="1" dirty="0"/>
              <a:t>key-value</a:t>
            </a:r>
            <a:r>
              <a:rPr lang="en-US" dirty="0"/>
              <a:t> connection?</a:t>
            </a:r>
          </a:p>
          <a:p>
            <a:pPr marL="0" marR="0" lvl="0" indent="0" defTabSz="914400" eaLnBrk="1" fontAlgn="auto" latinLnBrk="0" hangingPunct="1">
              <a:lnSpc>
                <a:spcPct val="100000"/>
              </a:lnSpc>
              <a:spcBef>
                <a:spcPts val="0"/>
              </a:spcBef>
              <a:spcAft>
                <a:spcPts val="0"/>
              </a:spcAft>
              <a:buClrTx/>
              <a:buSzTx/>
              <a:buFontTx/>
              <a:buNone/>
              <a:tabLst/>
              <a:defRPr/>
            </a:pPr>
            <a:r>
              <a:rPr lang="en-US" dirty="0"/>
              <a:t>	If yes: use a dictionary</a:t>
            </a:r>
          </a:p>
          <a:p>
            <a:pPr marL="0" marR="0" lvl="0" indent="0" defTabSz="914400" eaLnBrk="1" fontAlgn="auto" latinLnBrk="0" hangingPunct="1">
              <a:lnSpc>
                <a:spcPct val="100000"/>
              </a:lnSpc>
              <a:spcBef>
                <a:spcPts val="0"/>
              </a:spcBef>
              <a:spcAft>
                <a:spcPts val="0"/>
              </a:spcAft>
              <a:buClrTx/>
              <a:buSzTx/>
              <a:buFontTx/>
              <a:buNone/>
              <a:tabLst/>
              <a:defRPr/>
            </a:pPr>
            <a:endParaRPr lang="en-US" dirty="0"/>
          </a:p>
          <a:p>
            <a:pPr marL="0" marR="0" lvl="0" indent="0" defTabSz="914400" eaLnBrk="1" fontAlgn="auto" latinLnBrk="0" hangingPunct="1">
              <a:lnSpc>
                <a:spcPct val="100000"/>
              </a:lnSpc>
              <a:spcBef>
                <a:spcPts val="0"/>
              </a:spcBef>
              <a:spcAft>
                <a:spcPts val="0"/>
              </a:spcAft>
              <a:buClrTx/>
              <a:buSzTx/>
              <a:buFontTx/>
              <a:buNone/>
              <a:tabLst/>
              <a:defRPr/>
            </a:pPr>
            <a:r>
              <a:rPr lang="en-US" dirty="0"/>
              <a:t>Do you need to ensure uniqueness of each element, or perhaps union or intersection operations?</a:t>
            </a:r>
          </a:p>
          <a:p>
            <a:pPr marL="0" marR="0" lvl="0" indent="0" defTabSz="914400" eaLnBrk="1" fontAlgn="auto" latinLnBrk="0" hangingPunct="1">
              <a:lnSpc>
                <a:spcPct val="100000"/>
              </a:lnSpc>
              <a:spcBef>
                <a:spcPts val="0"/>
              </a:spcBef>
              <a:spcAft>
                <a:spcPts val="0"/>
              </a:spcAft>
              <a:buClrTx/>
              <a:buSzTx/>
              <a:buFontTx/>
              <a:buNone/>
              <a:tabLst/>
              <a:defRPr/>
            </a:pPr>
            <a:r>
              <a:rPr lang="en-US" dirty="0"/>
              <a:t>	If yes: use a set</a:t>
            </a:r>
          </a:p>
          <a:p>
            <a:pPr marL="0" marR="0" lvl="0" indent="0" defTabSz="914400" eaLnBrk="1" fontAlgn="auto" latinLnBrk="0" hangingPunct="1">
              <a:lnSpc>
                <a:spcPct val="100000"/>
              </a:lnSpc>
              <a:spcBef>
                <a:spcPts val="0"/>
              </a:spcBef>
              <a:spcAft>
                <a:spcPts val="0"/>
              </a:spcAft>
              <a:buClrTx/>
              <a:buSzTx/>
              <a:buFontTx/>
              <a:buNone/>
              <a:tabLst/>
              <a:defRPr/>
            </a:pPr>
            <a:endParaRPr lang="en-US" dirty="0"/>
          </a:p>
          <a:p>
            <a:pPr marL="0" marR="0" lvl="0" indent="0" defTabSz="914400" eaLnBrk="1" fontAlgn="auto" latinLnBrk="0" hangingPunct="1">
              <a:lnSpc>
                <a:spcPct val="100000"/>
              </a:lnSpc>
              <a:spcBef>
                <a:spcPts val="0"/>
              </a:spcBef>
              <a:spcAft>
                <a:spcPts val="0"/>
              </a:spcAft>
              <a:buClrTx/>
              <a:buSzTx/>
              <a:buFontTx/>
              <a:buNone/>
              <a:tabLst/>
              <a:defRPr/>
            </a:pPr>
            <a:r>
              <a:rPr lang="en-US" dirty="0"/>
              <a:t>Do you need to ensure that the contents will never change?</a:t>
            </a:r>
          </a:p>
          <a:p>
            <a:pPr marL="0" marR="0" lvl="0" indent="0" defTabSz="914400" eaLnBrk="1" fontAlgn="auto" latinLnBrk="0" hangingPunct="1">
              <a:lnSpc>
                <a:spcPct val="100000"/>
              </a:lnSpc>
              <a:spcBef>
                <a:spcPts val="0"/>
              </a:spcBef>
              <a:spcAft>
                <a:spcPts val="0"/>
              </a:spcAft>
              <a:buClrTx/>
              <a:buSzTx/>
              <a:buFontTx/>
              <a:buNone/>
              <a:tabLst/>
              <a:defRPr/>
            </a:pPr>
            <a:r>
              <a:rPr lang="en-US" dirty="0"/>
              <a:t>	If yes: use a tuple</a:t>
            </a:r>
          </a:p>
          <a:p>
            <a:pPr marL="0" marR="0" lvl="0" indent="0" defTabSz="914400" eaLnBrk="1" fontAlgn="auto" latinLnBrk="0" hangingPunct="1">
              <a:lnSpc>
                <a:spcPct val="100000"/>
              </a:lnSpc>
              <a:spcBef>
                <a:spcPts val="0"/>
              </a:spcBef>
              <a:spcAft>
                <a:spcPts val="0"/>
              </a:spcAft>
              <a:buClrTx/>
              <a:buSzTx/>
              <a:buFontTx/>
              <a:buNone/>
              <a:tabLst/>
              <a:defRPr/>
            </a:pPr>
            <a:endParaRPr lang="en-US" dirty="0"/>
          </a:p>
          <a:p>
            <a:pPr marL="0" marR="0" lvl="0" indent="0" defTabSz="914400" eaLnBrk="1" fontAlgn="auto" latinLnBrk="0" hangingPunct="1">
              <a:lnSpc>
                <a:spcPct val="100000"/>
              </a:lnSpc>
              <a:spcBef>
                <a:spcPts val="0"/>
              </a:spcBef>
              <a:spcAft>
                <a:spcPts val="0"/>
              </a:spcAft>
              <a:buClrTx/>
              <a:buSzTx/>
              <a:buFontTx/>
              <a:buNone/>
              <a:tabLst/>
              <a:defRPr/>
            </a:pPr>
            <a:r>
              <a:rPr lang="en-US" dirty="0"/>
              <a:t>If you answered no to all of these, a list should suffice.</a:t>
            </a:r>
          </a:p>
        </p:txBody>
      </p:sp>
    </p:spTree>
    <p:extLst>
      <p:ext uri="{BB962C8B-B14F-4D97-AF65-F5344CB8AC3E}">
        <p14:creationId xmlns:p14="http://schemas.microsoft.com/office/powerpoint/2010/main" val="18301147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Arrays </a:t>
            </a:r>
          </a:p>
        </p:txBody>
      </p:sp>
      <p:sp>
        <p:nvSpPr>
          <p:cNvPr id="3" name="Content Placeholder 2"/>
          <p:cNvSpPr>
            <a:spLocks noGrp="1"/>
          </p:cNvSpPr>
          <p:nvPr>
            <p:ph idx="1"/>
          </p:nvPr>
        </p:nvSpPr>
        <p:spPr>
          <a:xfrm>
            <a:off x="680321" y="2336872"/>
            <a:ext cx="10505421" cy="3901090"/>
          </a:xfrm>
        </p:spPr>
        <p:txBody>
          <a:bodyPr>
            <a:normAutofit/>
          </a:bodyPr>
          <a:lstStyle/>
          <a:p>
            <a:pPr marL="0" indent="0">
              <a:buNone/>
            </a:pPr>
            <a:r>
              <a:rPr lang="en-US" dirty="0"/>
              <a:t>In practice the same as a list, but has some special implementation of tracking data types under the hood, and allow some calculations to be automatically “vectorized”</a:t>
            </a:r>
          </a:p>
          <a:p>
            <a:pPr lvl="1"/>
            <a:r>
              <a:rPr lang="en-US" dirty="0"/>
              <a:t>Can often speed up code</a:t>
            </a:r>
          </a:p>
          <a:p>
            <a:pPr lvl="1"/>
            <a:r>
              <a:rPr lang="en-US" dirty="0"/>
              <a:t>There is a built-in array object, but in practice, most people use the NumPy array</a:t>
            </a:r>
          </a:p>
          <a:p>
            <a:pPr marL="0" indent="0">
              <a:buNone/>
            </a:pPr>
            <a:endParaRPr lang="en-US" dirty="0"/>
          </a:p>
          <a:p>
            <a:pPr marL="0" indent="0">
              <a:buNone/>
            </a:pPr>
            <a:r>
              <a:rPr lang="en-US" dirty="0"/>
              <a:t>The single most important thing to remember about arrays:</a:t>
            </a:r>
          </a:p>
          <a:p>
            <a:pPr marL="0" indent="0" algn="ctr">
              <a:buNone/>
            </a:pPr>
            <a:r>
              <a:rPr lang="en-US" sz="3600" dirty="0"/>
              <a:t>LISTS AND ARRAYS ARE </a:t>
            </a:r>
            <a:r>
              <a:rPr lang="en-US" sz="3600" b="1" i="1" u="sng" dirty="0"/>
              <a:t>NOT</a:t>
            </a:r>
            <a:r>
              <a:rPr lang="en-US" sz="3600" dirty="0"/>
              <a:t> THE SAME THING</a:t>
            </a:r>
          </a:p>
        </p:txBody>
      </p:sp>
    </p:spTree>
    <p:extLst>
      <p:ext uri="{BB962C8B-B14F-4D97-AF65-F5344CB8AC3E}">
        <p14:creationId xmlns:p14="http://schemas.microsoft.com/office/powerpoint/2010/main" val="11565556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Lists vs. Arrays </a:t>
            </a:r>
          </a:p>
        </p:txBody>
      </p:sp>
      <p:sp>
        <p:nvSpPr>
          <p:cNvPr id="3" name="Content Placeholder 2"/>
          <p:cNvSpPr>
            <a:spLocks noGrp="1"/>
          </p:cNvSpPr>
          <p:nvPr>
            <p:ph idx="1"/>
          </p:nvPr>
        </p:nvSpPr>
        <p:spPr>
          <a:xfrm>
            <a:off x="680322" y="2336873"/>
            <a:ext cx="5010616" cy="4208306"/>
          </a:xfrm>
        </p:spPr>
        <p:txBody>
          <a:bodyPr>
            <a:normAutofit/>
          </a:bodyPr>
          <a:lstStyle/>
          <a:p>
            <a:pPr marL="0" indent="0">
              <a:buNone/>
            </a:pPr>
            <a:r>
              <a:rPr lang="en-US" dirty="0"/>
              <a:t>They are </a:t>
            </a:r>
            <a:r>
              <a:rPr lang="en-US" b="1" i="1" dirty="0"/>
              <a:t>different objects</a:t>
            </a:r>
            <a:r>
              <a:rPr lang="en-US" b="1" dirty="0"/>
              <a:t> </a:t>
            </a:r>
            <a:r>
              <a:rPr lang="en-US" dirty="0"/>
              <a:t>meant to store similar data </a:t>
            </a:r>
          </a:p>
          <a:p>
            <a:pPr marL="0" indent="0">
              <a:buNone/>
            </a:pPr>
            <a:endParaRPr lang="en-US" dirty="0"/>
          </a:p>
          <a:p>
            <a:pPr marL="0" indent="0">
              <a:buNone/>
            </a:pPr>
            <a:r>
              <a:rPr lang="en-US" dirty="0"/>
              <a:t>Example: </a:t>
            </a:r>
            <a:r>
              <a:rPr lang="en-US" dirty="0" err="1"/>
              <a:t>NumPy</a:t>
            </a:r>
            <a:r>
              <a:rPr lang="en-US" dirty="0"/>
              <a:t> arrays allow multiplication with another array. A list does not. </a:t>
            </a:r>
          </a:p>
          <a:p>
            <a:pPr marL="0" indent="0">
              <a:buNone/>
            </a:pPr>
            <a:endParaRPr lang="en-US" dirty="0"/>
          </a:p>
          <a:p>
            <a:pPr marL="0" indent="0">
              <a:buNone/>
            </a:pPr>
            <a:r>
              <a:rPr lang="en-US" dirty="0"/>
              <a:t>Advice: Pick one of either lists or arrays for a given program and stick to it </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49211" y="1491915"/>
            <a:ext cx="5354201" cy="4854742"/>
          </a:xfrm>
          <a:prstGeom prst="rect">
            <a:avLst/>
          </a:prstGeom>
        </p:spPr>
      </p:pic>
    </p:spTree>
    <p:extLst>
      <p:ext uri="{BB962C8B-B14F-4D97-AF65-F5344CB8AC3E}">
        <p14:creationId xmlns:p14="http://schemas.microsoft.com/office/powerpoint/2010/main" val="4165324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Lists vs. Arrays </a:t>
            </a:r>
          </a:p>
        </p:txBody>
      </p:sp>
      <p:sp>
        <p:nvSpPr>
          <p:cNvPr id="3" name="Content Placeholder 2"/>
          <p:cNvSpPr>
            <a:spLocks noGrp="1"/>
          </p:cNvSpPr>
          <p:nvPr>
            <p:ph idx="1"/>
          </p:nvPr>
        </p:nvSpPr>
        <p:spPr>
          <a:xfrm>
            <a:off x="680322" y="2336873"/>
            <a:ext cx="5010616" cy="4208306"/>
          </a:xfrm>
        </p:spPr>
        <p:txBody>
          <a:bodyPr>
            <a:normAutofit/>
          </a:bodyPr>
          <a:lstStyle/>
          <a:p>
            <a:pPr marL="0" indent="0">
              <a:buNone/>
            </a:pPr>
            <a:r>
              <a:rPr lang="en-US" dirty="0"/>
              <a:t>They are </a:t>
            </a:r>
            <a:r>
              <a:rPr lang="en-US" b="1" i="1" dirty="0"/>
              <a:t>different objects</a:t>
            </a:r>
            <a:r>
              <a:rPr lang="en-US" b="1" dirty="0"/>
              <a:t> </a:t>
            </a:r>
            <a:r>
              <a:rPr lang="en-US" dirty="0"/>
              <a:t>meant to store similar data </a:t>
            </a:r>
          </a:p>
          <a:p>
            <a:pPr marL="0" indent="0">
              <a:buNone/>
            </a:pPr>
            <a:endParaRPr lang="en-US" dirty="0"/>
          </a:p>
          <a:p>
            <a:pPr marL="0" indent="0">
              <a:buNone/>
            </a:pPr>
            <a:endParaRPr lang="en-US" dirty="0"/>
          </a:p>
          <a:p>
            <a:pPr marL="0" indent="0">
              <a:buNone/>
            </a:pPr>
            <a:r>
              <a:rPr lang="en-US" dirty="0"/>
              <a:t>It’s probably safe to say that a large portion of all modern scientific code is written using NumPy arrays </a:t>
            </a:r>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49211" y="1491915"/>
            <a:ext cx="5354201" cy="4854742"/>
          </a:xfrm>
          <a:prstGeom prst="rect">
            <a:avLst/>
          </a:prstGeom>
        </p:spPr>
      </p:pic>
    </p:spTree>
    <p:extLst>
      <p:ext uri="{BB962C8B-B14F-4D97-AF65-F5344CB8AC3E}">
        <p14:creationId xmlns:p14="http://schemas.microsoft.com/office/powerpoint/2010/main" val="135558324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Slicing</a:t>
            </a:r>
          </a:p>
        </p:txBody>
      </p:sp>
      <p:sp>
        <p:nvSpPr>
          <p:cNvPr id="3" name="Content Placeholder 2"/>
          <p:cNvSpPr>
            <a:spLocks noGrp="1"/>
          </p:cNvSpPr>
          <p:nvPr>
            <p:ph idx="1"/>
          </p:nvPr>
        </p:nvSpPr>
        <p:spPr>
          <a:xfrm>
            <a:off x="680320" y="2336873"/>
            <a:ext cx="5670376" cy="4301922"/>
          </a:xfrm>
        </p:spPr>
        <p:txBody>
          <a:bodyPr>
            <a:norm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en-US" dirty="0"/>
              <a:t>A technique used to pull multiple items from array-like objects </a:t>
            </a:r>
          </a:p>
          <a:p>
            <a:pPr lvl="1">
              <a:lnSpc>
                <a:spcPct val="100000"/>
              </a:lnSpc>
              <a:spcBef>
                <a:spcPts val="0"/>
              </a:spcBef>
              <a:defRPr/>
            </a:pPr>
            <a:r>
              <a:rPr lang="en-US" dirty="0"/>
              <a:t>General rule: </a:t>
            </a:r>
            <a:r>
              <a:rPr lang="en-US" i="1" dirty="0" err="1"/>
              <a:t>start:stop:stepsize</a:t>
            </a:r>
            <a:endParaRPr lang="en-US" i="1" dirty="0"/>
          </a:p>
          <a:p>
            <a:pPr lvl="1">
              <a:lnSpc>
                <a:spcPct val="100000"/>
              </a:lnSpc>
              <a:spcBef>
                <a:spcPts val="0"/>
              </a:spcBef>
              <a:defRPr/>
            </a:pPr>
            <a:r>
              <a:rPr lang="en-US" i="1" dirty="0"/>
              <a:t>Start</a:t>
            </a:r>
            <a:r>
              <a:rPr lang="en-US" dirty="0"/>
              <a:t>, </a:t>
            </a:r>
            <a:r>
              <a:rPr lang="en-US" i="1" dirty="0"/>
              <a:t>stop</a:t>
            </a:r>
            <a:r>
              <a:rPr lang="en-US" dirty="0"/>
              <a:t>, and </a:t>
            </a:r>
            <a:r>
              <a:rPr lang="en-US" i="1" dirty="0" err="1"/>
              <a:t>stepsize</a:t>
            </a:r>
            <a:r>
              <a:rPr lang="en-US" i="1" dirty="0"/>
              <a:t> </a:t>
            </a:r>
            <a:r>
              <a:rPr lang="en-US" dirty="0"/>
              <a:t>can be omitted, and Python defaults to the beginning or end with a step size of 1, depending on what’s omitted</a:t>
            </a:r>
            <a:endParaRPr lang="en-US" i="1" dirty="0"/>
          </a:p>
          <a:p>
            <a:pPr marL="0" marR="0" lvl="0" indent="0" defTabSz="914400" eaLnBrk="1" fontAlgn="auto" latinLnBrk="0" hangingPunct="1">
              <a:lnSpc>
                <a:spcPct val="100000"/>
              </a:lnSpc>
              <a:spcBef>
                <a:spcPts val="0"/>
              </a:spcBef>
              <a:spcAft>
                <a:spcPts val="0"/>
              </a:spcAft>
              <a:buClrTx/>
              <a:buSzTx/>
              <a:buFontTx/>
              <a:buNone/>
              <a:tabLst/>
              <a:defRPr/>
            </a:pPr>
            <a:endParaRPr lang="en-US" dirty="0"/>
          </a:p>
          <a:p>
            <a:pPr marL="0" marR="0" lvl="0" indent="0" defTabSz="914400" eaLnBrk="1" fontAlgn="auto" latinLnBrk="0" hangingPunct="1">
              <a:lnSpc>
                <a:spcPct val="100000"/>
              </a:lnSpc>
              <a:spcBef>
                <a:spcPts val="0"/>
              </a:spcBef>
              <a:spcAft>
                <a:spcPts val="0"/>
              </a:spcAft>
              <a:buClrTx/>
              <a:buSzTx/>
              <a:buFontTx/>
              <a:buNone/>
              <a:tabLst/>
              <a:defRPr/>
            </a:pPr>
            <a:r>
              <a:rPr lang="en-US" dirty="0"/>
              <a:t>Achieved by separating indices with a colon</a:t>
            </a:r>
          </a:p>
          <a:p>
            <a:pPr marL="0" marR="0" lvl="0" indent="0" defTabSz="914400" eaLnBrk="1" fontAlgn="auto" latinLnBrk="0" hangingPunct="1">
              <a:lnSpc>
                <a:spcPct val="100000"/>
              </a:lnSpc>
              <a:spcBef>
                <a:spcPts val="0"/>
              </a:spcBef>
              <a:spcAft>
                <a:spcPts val="0"/>
              </a:spcAft>
              <a:buClrTx/>
              <a:buSzTx/>
              <a:buFontTx/>
              <a:buNone/>
              <a:tabLst/>
              <a:defRPr/>
            </a:pPr>
            <a:endParaRPr lang="en-US" dirty="0"/>
          </a:p>
          <a:p>
            <a:pPr marL="0" marR="0" lvl="0" indent="0" defTabSz="914400" eaLnBrk="1" fontAlgn="auto" latinLnBrk="0" hangingPunct="1">
              <a:lnSpc>
                <a:spcPct val="100000"/>
              </a:lnSpc>
              <a:spcBef>
                <a:spcPts val="0"/>
              </a:spcBef>
              <a:spcAft>
                <a:spcPts val="0"/>
              </a:spcAft>
              <a:buClrTx/>
              <a:buSzTx/>
              <a:buFontTx/>
              <a:buNone/>
              <a:tabLst/>
              <a:defRPr/>
            </a:pPr>
            <a:r>
              <a:rPr lang="en-US" dirty="0"/>
              <a:t>Negative step sizes go through the array in reverse order</a:t>
            </a:r>
          </a:p>
        </p:txBody>
      </p:sp>
      <p:pic>
        <p:nvPicPr>
          <p:cNvPr id="6" name="Picture 5" descr="Text&#10;&#10;Description automatically generated">
            <a:extLst>
              <a:ext uri="{FF2B5EF4-FFF2-40B4-BE49-F238E27FC236}">
                <a16:creationId xmlns:a16="http://schemas.microsoft.com/office/drawing/2014/main" id="{6B3DD78F-DD09-AC42-BB43-2415A3CDC728}"/>
              </a:ext>
            </a:extLst>
          </p:cNvPr>
          <p:cNvPicPr>
            <a:picLocks noChangeAspect="1"/>
          </p:cNvPicPr>
          <p:nvPr/>
        </p:nvPicPr>
        <p:blipFill>
          <a:blip r:embed="rId3"/>
          <a:stretch>
            <a:fillRect/>
          </a:stretch>
        </p:blipFill>
        <p:spPr>
          <a:xfrm>
            <a:off x="6845975" y="753228"/>
            <a:ext cx="4152900" cy="5600700"/>
          </a:xfrm>
          <a:prstGeom prst="rect">
            <a:avLst/>
          </a:prstGeom>
        </p:spPr>
      </p:pic>
    </p:spTree>
    <p:extLst>
      <p:ext uri="{BB962C8B-B14F-4D97-AF65-F5344CB8AC3E}">
        <p14:creationId xmlns:p14="http://schemas.microsoft.com/office/powerpoint/2010/main" val="73671166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Conditions</a:t>
            </a:r>
          </a:p>
        </p:txBody>
      </p:sp>
      <p:sp>
        <p:nvSpPr>
          <p:cNvPr id="3" name="Content Placeholder 2"/>
          <p:cNvSpPr>
            <a:spLocks noGrp="1"/>
          </p:cNvSpPr>
          <p:nvPr>
            <p:ph idx="1"/>
          </p:nvPr>
        </p:nvSpPr>
        <p:spPr>
          <a:xfrm>
            <a:off x="680321" y="2336872"/>
            <a:ext cx="5912983" cy="4214240"/>
          </a:xfrm>
        </p:spPr>
        <p:txBody>
          <a:bodyPr>
            <a:normAutofit/>
          </a:bodyPr>
          <a:lstStyle/>
          <a:p>
            <a:pPr marL="0" indent="0">
              <a:buNone/>
            </a:pPr>
            <a:r>
              <a:rPr lang="en-US" dirty="0"/>
              <a:t>Conduct different operations based on whether or not a given condition is satisfied</a:t>
            </a:r>
          </a:p>
          <a:p>
            <a:pPr marL="0" indent="0">
              <a:buNone/>
            </a:pPr>
            <a:endParaRPr lang="en-US" dirty="0"/>
          </a:p>
          <a:p>
            <a:pPr marL="0" indent="0">
              <a:buNone/>
            </a:pPr>
            <a:r>
              <a:rPr lang="en-US" dirty="0"/>
              <a:t>Uses </a:t>
            </a:r>
            <a:r>
              <a:rPr lang="en-US" dirty="0" err="1"/>
              <a:t>boolean</a:t>
            </a:r>
            <a:r>
              <a:rPr lang="en-US" dirty="0"/>
              <a:t> logic: </a:t>
            </a:r>
            <a:r>
              <a:rPr lang="en-US" i="1" dirty="0"/>
              <a:t>True</a:t>
            </a:r>
            <a:r>
              <a:rPr lang="en-US" dirty="0"/>
              <a:t> and </a:t>
            </a:r>
            <a:r>
              <a:rPr lang="en-US" i="1" dirty="0"/>
              <a:t>False</a:t>
            </a:r>
          </a:p>
          <a:p>
            <a:pPr lvl="1"/>
            <a:r>
              <a:rPr lang="en-US" dirty="0"/>
              <a:t>Note: Numbers can be used as well </a:t>
            </a:r>
            <a:r>
              <a:rPr lang="mr-IN" dirty="0"/>
              <a:t>–</a:t>
            </a:r>
            <a:r>
              <a:rPr lang="en-US" dirty="0"/>
              <a:t> anything nonzero evaluates to True.</a:t>
            </a:r>
          </a:p>
          <a:p>
            <a:pPr marL="0" indent="0">
              <a:buNone/>
            </a:pPr>
            <a:endParaRPr lang="en-US" dirty="0"/>
          </a:p>
          <a:p>
            <a:pPr marL="0" indent="0">
              <a:buNone/>
            </a:pPr>
            <a:r>
              <a:rPr lang="en-US" dirty="0"/>
              <a:t>Tip: Don’t compare to </a:t>
            </a:r>
            <a:r>
              <a:rPr lang="en-US" i="1" dirty="0"/>
              <a:t>True</a:t>
            </a:r>
            <a:r>
              <a:rPr lang="en-US" dirty="0"/>
              <a:t> and </a:t>
            </a:r>
            <a:r>
              <a:rPr lang="en-US" i="1" dirty="0"/>
              <a:t>False</a:t>
            </a:r>
          </a:p>
          <a:p>
            <a:pPr lvl="1"/>
            <a:r>
              <a:rPr lang="en-US" i="1" dirty="0"/>
              <a:t>if x == True</a:t>
            </a:r>
            <a:r>
              <a:rPr lang="en-US" dirty="0"/>
              <a:t> and </a:t>
            </a:r>
            <a:r>
              <a:rPr lang="en-US" i="1" dirty="0"/>
              <a:t>if x == False </a:t>
            </a:r>
            <a:r>
              <a:rPr lang="en-US" dirty="0"/>
              <a:t>are simply </a:t>
            </a:r>
            <a:r>
              <a:rPr lang="en-US" i="1" dirty="0"/>
              <a:t>if x </a:t>
            </a:r>
            <a:r>
              <a:rPr lang="en-US" dirty="0"/>
              <a:t>and </a:t>
            </a:r>
            <a:r>
              <a:rPr lang="en-US" i="1" dirty="0"/>
              <a:t>if not x</a:t>
            </a:r>
            <a:endParaRPr lang="en-US"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57432" y="0"/>
            <a:ext cx="3282566" cy="6858000"/>
          </a:xfrm>
          <a:prstGeom prst="rect">
            <a:avLst/>
          </a:prstGeom>
        </p:spPr>
      </p:pic>
    </p:spTree>
    <p:extLst>
      <p:ext uri="{BB962C8B-B14F-4D97-AF65-F5344CB8AC3E}">
        <p14:creationId xmlns:p14="http://schemas.microsoft.com/office/powerpoint/2010/main" val="173683490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Conditions</a:t>
            </a:r>
          </a:p>
        </p:txBody>
      </p:sp>
      <p:sp>
        <p:nvSpPr>
          <p:cNvPr id="3" name="Content Placeholder 2"/>
          <p:cNvSpPr>
            <a:spLocks noGrp="1"/>
          </p:cNvSpPr>
          <p:nvPr>
            <p:ph idx="1"/>
          </p:nvPr>
        </p:nvSpPr>
        <p:spPr>
          <a:xfrm>
            <a:off x="680321" y="2336873"/>
            <a:ext cx="5912983" cy="4316590"/>
          </a:xfrm>
        </p:spPr>
        <p:txBody>
          <a:bodyPr/>
          <a:lstStyle/>
          <a:p>
            <a:pPr marL="0" indent="0">
              <a:buNone/>
            </a:pPr>
            <a:r>
              <a:rPr lang="en-US" dirty="0"/>
              <a:t>Conduct different operations based on whether or not a given condition is satisfied </a:t>
            </a:r>
          </a:p>
          <a:p>
            <a:pPr marL="0" indent="0">
              <a:buNone/>
            </a:pPr>
            <a:endParaRPr lang="en-US" dirty="0"/>
          </a:p>
          <a:p>
            <a:pPr marL="0" indent="0">
              <a:buNone/>
            </a:pPr>
            <a:r>
              <a:rPr lang="en-US" dirty="0"/>
              <a:t>Uses </a:t>
            </a:r>
            <a:r>
              <a:rPr lang="en-US" dirty="0" err="1"/>
              <a:t>boolean</a:t>
            </a:r>
            <a:r>
              <a:rPr lang="en-US" dirty="0"/>
              <a:t> logic: </a:t>
            </a:r>
            <a:r>
              <a:rPr lang="en-US" i="1" dirty="0"/>
              <a:t>True</a:t>
            </a:r>
            <a:r>
              <a:rPr lang="en-US" dirty="0"/>
              <a:t> and </a:t>
            </a:r>
            <a:r>
              <a:rPr lang="en-US" i="1" dirty="0"/>
              <a:t>False</a:t>
            </a:r>
          </a:p>
          <a:p>
            <a:pPr lvl="1"/>
            <a:r>
              <a:rPr lang="en-US" dirty="0"/>
              <a:t>Note: Numbers can be used as well </a:t>
            </a:r>
            <a:r>
              <a:rPr lang="mr-IN" dirty="0"/>
              <a:t>–</a:t>
            </a:r>
            <a:r>
              <a:rPr lang="en-US" dirty="0"/>
              <a:t> anything nonzero evaluates to True. </a:t>
            </a:r>
          </a:p>
          <a:p>
            <a:pPr marL="0" indent="0">
              <a:buNone/>
            </a:pPr>
            <a:endParaRPr lang="en-US" dirty="0"/>
          </a:p>
          <a:p>
            <a:pPr marL="0" indent="0">
              <a:buNone/>
            </a:pPr>
            <a:r>
              <a:rPr lang="en-US" dirty="0"/>
              <a:t>Note: </a:t>
            </a:r>
            <a:r>
              <a:rPr lang="en-US" i="1" dirty="0"/>
              <a:t>if</a:t>
            </a:r>
            <a:r>
              <a:rPr lang="en-US" dirty="0"/>
              <a:t>/</a:t>
            </a:r>
            <a:r>
              <a:rPr lang="en-US" i="1" dirty="0" err="1"/>
              <a:t>elif</a:t>
            </a:r>
            <a:r>
              <a:rPr lang="en-US" dirty="0"/>
              <a:t>/</a:t>
            </a:r>
            <a:r>
              <a:rPr lang="en-US" i="1" dirty="0"/>
              <a:t>else</a:t>
            </a:r>
            <a:r>
              <a:rPr lang="en-US" dirty="0"/>
              <a:t> blocks executed </a:t>
            </a:r>
            <a:r>
              <a:rPr lang="en-US" i="1" dirty="0"/>
              <a:t>in order</a:t>
            </a:r>
            <a:r>
              <a:rPr lang="en-US" dirty="0"/>
              <a:t>. </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52753" y="0"/>
            <a:ext cx="3337316" cy="6858000"/>
          </a:xfrm>
          <a:prstGeom prst="rect">
            <a:avLst/>
          </a:prstGeom>
        </p:spPr>
      </p:pic>
    </p:spTree>
    <p:extLst>
      <p:ext uri="{BB962C8B-B14F-4D97-AF65-F5344CB8AC3E}">
        <p14:creationId xmlns:p14="http://schemas.microsoft.com/office/powerpoint/2010/main" val="49252529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Loops </a:t>
            </a:r>
          </a:p>
        </p:txBody>
      </p:sp>
      <p:sp>
        <p:nvSpPr>
          <p:cNvPr id="3" name="Content Placeholder 2"/>
          <p:cNvSpPr>
            <a:spLocks noGrp="1"/>
          </p:cNvSpPr>
          <p:nvPr>
            <p:ph idx="1"/>
          </p:nvPr>
        </p:nvSpPr>
        <p:spPr>
          <a:xfrm>
            <a:off x="680321" y="2336872"/>
            <a:ext cx="8714199" cy="4151609"/>
          </a:xfrm>
        </p:spPr>
        <p:txBody>
          <a:bodyPr/>
          <a:lstStyle/>
          <a:p>
            <a:pPr marL="0" indent="0">
              <a:buNone/>
            </a:pPr>
            <a:r>
              <a:rPr lang="en-US" dirty="0"/>
              <a:t>Two types</a:t>
            </a:r>
          </a:p>
          <a:p>
            <a:pPr lvl="1"/>
            <a:r>
              <a:rPr lang="en-US" dirty="0"/>
              <a:t>For- and while-loops </a:t>
            </a:r>
          </a:p>
          <a:p>
            <a:pPr marL="0" indent="0">
              <a:buNone/>
            </a:pPr>
            <a:endParaRPr lang="en-US" dirty="0"/>
          </a:p>
          <a:p>
            <a:pPr marL="0" indent="0">
              <a:buNone/>
            </a:pPr>
            <a:r>
              <a:rPr lang="en-US" dirty="0"/>
              <a:t>Both execute the same block of code some number of times</a:t>
            </a:r>
          </a:p>
          <a:p>
            <a:pPr marL="0" indent="0">
              <a:buNone/>
            </a:pPr>
            <a:endParaRPr lang="en-US" dirty="0"/>
          </a:p>
          <a:p>
            <a:pPr marL="0" indent="0">
              <a:buNone/>
            </a:pPr>
            <a:r>
              <a:rPr lang="en-US" dirty="0"/>
              <a:t>Both types of loops can be forced to terminate with the command “break”, and to start the next iteration with “continue” </a:t>
            </a:r>
          </a:p>
        </p:txBody>
      </p:sp>
    </p:spTree>
    <p:extLst>
      <p:ext uri="{BB962C8B-B14F-4D97-AF65-F5344CB8AC3E}">
        <p14:creationId xmlns:p14="http://schemas.microsoft.com/office/powerpoint/2010/main" val="50126009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For-loops </a:t>
            </a:r>
          </a:p>
        </p:txBody>
      </p:sp>
      <p:sp>
        <p:nvSpPr>
          <p:cNvPr id="3" name="Content Placeholder 2"/>
          <p:cNvSpPr>
            <a:spLocks noGrp="1"/>
          </p:cNvSpPr>
          <p:nvPr>
            <p:ph idx="1"/>
          </p:nvPr>
        </p:nvSpPr>
        <p:spPr>
          <a:xfrm>
            <a:off x="680322" y="2336872"/>
            <a:ext cx="6273932" cy="4201713"/>
          </a:xfrm>
        </p:spPr>
        <p:txBody>
          <a:bodyPr/>
          <a:lstStyle/>
          <a:p>
            <a:pPr marL="0" marR="0" lvl="0" indent="0" defTabSz="914400" eaLnBrk="1" fontAlgn="auto" latinLnBrk="0" hangingPunct="1">
              <a:lnSpc>
                <a:spcPct val="100000"/>
              </a:lnSpc>
              <a:spcBef>
                <a:spcPts val="0"/>
              </a:spcBef>
              <a:spcAft>
                <a:spcPts val="0"/>
              </a:spcAft>
              <a:buClrTx/>
              <a:buSzTx/>
              <a:buFontTx/>
              <a:buNone/>
              <a:tabLst/>
              <a:defRPr/>
            </a:pPr>
            <a:r>
              <a:rPr lang="en-US" dirty="0"/>
              <a:t>Should be used when you know </a:t>
            </a:r>
            <a:r>
              <a:rPr lang="en-US" i="1" dirty="0"/>
              <a:t>exactly </a:t>
            </a:r>
            <a:r>
              <a:rPr lang="en-US" dirty="0"/>
              <a:t>how many times the block should repeat </a:t>
            </a:r>
          </a:p>
          <a:p>
            <a:pPr marL="0" marR="0" lvl="0" indent="0" defTabSz="914400" eaLnBrk="1" fontAlgn="auto" latinLnBrk="0" hangingPunct="1">
              <a:lnSpc>
                <a:spcPct val="100000"/>
              </a:lnSpc>
              <a:spcBef>
                <a:spcPts val="0"/>
              </a:spcBef>
              <a:spcAft>
                <a:spcPts val="0"/>
              </a:spcAft>
              <a:buClrTx/>
              <a:buSzTx/>
              <a:buFontTx/>
              <a:buNone/>
              <a:tabLst/>
              <a:defRPr/>
            </a:pPr>
            <a:endParaRPr lang="en-US" dirty="0"/>
          </a:p>
          <a:p>
            <a:pPr marL="0" marR="0" lvl="0" indent="0" defTabSz="914400" eaLnBrk="1" fontAlgn="auto" latinLnBrk="0" hangingPunct="1">
              <a:lnSpc>
                <a:spcPct val="100000"/>
              </a:lnSpc>
              <a:spcBef>
                <a:spcPts val="0"/>
              </a:spcBef>
              <a:spcAft>
                <a:spcPts val="0"/>
              </a:spcAft>
              <a:buClrTx/>
              <a:buSzTx/>
              <a:buFontTx/>
              <a:buNone/>
              <a:tabLst/>
              <a:defRPr/>
            </a:pPr>
            <a:endParaRPr lang="en-US" dirty="0"/>
          </a:p>
          <a:p>
            <a:pPr marL="0" marR="0" lvl="0" indent="0" defTabSz="914400" eaLnBrk="1" fontAlgn="auto" latinLnBrk="0" hangingPunct="1">
              <a:lnSpc>
                <a:spcPct val="100000"/>
              </a:lnSpc>
              <a:spcBef>
                <a:spcPts val="0"/>
              </a:spcBef>
              <a:spcAft>
                <a:spcPts val="0"/>
              </a:spcAft>
              <a:buClrTx/>
              <a:buSzTx/>
              <a:buFontTx/>
              <a:buNone/>
              <a:tabLst/>
              <a:defRPr/>
            </a:pPr>
            <a:r>
              <a:rPr lang="en-US" dirty="0"/>
              <a:t>Come in two flavors: </a:t>
            </a:r>
          </a:p>
          <a:p>
            <a:pPr lvl="1">
              <a:lnSpc>
                <a:spcPct val="100000"/>
              </a:lnSpc>
              <a:spcBef>
                <a:spcPts val="0"/>
              </a:spcBef>
            </a:pPr>
            <a:r>
              <a:rPr lang="en-US" i="1" dirty="0"/>
              <a:t>Explicit</a:t>
            </a:r>
            <a:r>
              <a:rPr lang="en-US" dirty="0"/>
              <a:t> for loop: “</a:t>
            </a:r>
            <a:r>
              <a:rPr lang="en-US" i="1" dirty="0"/>
              <a:t>for </a:t>
            </a:r>
            <a:r>
              <a:rPr lang="en-US" i="1" dirty="0" err="1"/>
              <a:t>i</a:t>
            </a:r>
            <a:r>
              <a:rPr lang="en-US" i="1" dirty="0"/>
              <a:t> in &lt;some </a:t>
            </a:r>
            <a:r>
              <a:rPr lang="en-US" i="1" dirty="0" err="1"/>
              <a:t>iterable</a:t>
            </a:r>
            <a:r>
              <a:rPr lang="en-US" i="1" dirty="0"/>
              <a:t>&gt;”</a:t>
            </a:r>
            <a:r>
              <a:rPr lang="en-US" dirty="0"/>
              <a:t> followed by an indented block (example: top) </a:t>
            </a:r>
          </a:p>
          <a:p>
            <a:pPr lvl="1">
              <a:lnSpc>
                <a:spcPct val="100000"/>
              </a:lnSpc>
              <a:spcBef>
                <a:spcPts val="0"/>
              </a:spcBef>
            </a:pPr>
            <a:r>
              <a:rPr lang="en-US" i="1" dirty="0"/>
              <a:t>Implicit</a:t>
            </a:r>
            <a:r>
              <a:rPr lang="en-US" dirty="0"/>
              <a:t> for loop: occurs within a list comprehension (example: bottom)</a:t>
            </a:r>
          </a:p>
          <a:p>
            <a:pPr lvl="2">
              <a:lnSpc>
                <a:spcPct val="100000"/>
              </a:lnSpc>
              <a:spcBef>
                <a:spcPts val="0"/>
              </a:spcBef>
            </a:pPr>
            <a:r>
              <a:rPr lang="en-US" dirty="0"/>
              <a:t>Note that list comprehensions return a </a:t>
            </a:r>
            <a:r>
              <a:rPr lang="en-US" i="1" dirty="0"/>
              <a:t>list</a:t>
            </a:r>
            <a:r>
              <a:rPr lang="en-US" dirty="0"/>
              <a:t>, so you must type-cast to an array if you want to write your program using arrays</a:t>
            </a:r>
          </a:p>
          <a:p>
            <a:pPr marL="0" marR="0" lvl="0" indent="0" defTabSz="914400" eaLnBrk="1" fontAlgn="auto" latinLnBrk="0" hangingPunct="1">
              <a:lnSpc>
                <a:spcPct val="100000"/>
              </a:lnSpc>
              <a:spcBef>
                <a:spcPts val="0"/>
              </a:spcBef>
              <a:spcAft>
                <a:spcPts val="0"/>
              </a:spcAft>
              <a:buClrTx/>
              <a:buSzTx/>
              <a:buFontTx/>
              <a:buNone/>
              <a:tabLst/>
              <a:defRPr/>
            </a:pPr>
            <a:endParaRPr lang="en-US"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177505" y="2336873"/>
            <a:ext cx="4396874" cy="3833860"/>
          </a:xfrm>
          <a:prstGeom prst="rect">
            <a:avLst/>
          </a:prstGeom>
        </p:spPr>
      </p:pic>
    </p:spTree>
    <p:extLst>
      <p:ext uri="{BB962C8B-B14F-4D97-AF65-F5344CB8AC3E}">
        <p14:creationId xmlns:p14="http://schemas.microsoft.com/office/powerpoint/2010/main" val="72070381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While-loops </a:t>
            </a:r>
          </a:p>
        </p:txBody>
      </p:sp>
      <p:sp>
        <p:nvSpPr>
          <p:cNvPr id="3" name="Content Placeholder 2"/>
          <p:cNvSpPr>
            <a:spLocks noGrp="1"/>
          </p:cNvSpPr>
          <p:nvPr>
            <p:ph idx="1"/>
          </p:nvPr>
        </p:nvSpPr>
        <p:spPr>
          <a:xfrm>
            <a:off x="680321" y="2336873"/>
            <a:ext cx="7092079" cy="4143440"/>
          </a:xfrm>
        </p:spPr>
        <p:txBody>
          <a:bodyPr/>
          <a:lstStyle/>
          <a:p>
            <a:pPr marL="0" marR="0" lvl="0" indent="0" defTabSz="914400" eaLnBrk="1" fontAlgn="auto" latinLnBrk="0" hangingPunct="1">
              <a:lnSpc>
                <a:spcPct val="100000"/>
              </a:lnSpc>
              <a:spcBef>
                <a:spcPts val="0"/>
              </a:spcBef>
              <a:spcAft>
                <a:spcPts val="0"/>
              </a:spcAft>
              <a:buClrTx/>
              <a:buSzTx/>
              <a:buFontTx/>
              <a:buNone/>
              <a:tabLst/>
              <a:defRPr/>
            </a:pPr>
            <a:r>
              <a:rPr lang="en-US" dirty="0"/>
              <a:t>Should be used when you </a:t>
            </a:r>
            <a:r>
              <a:rPr lang="en-US" i="1" dirty="0"/>
              <a:t>don’t</a:t>
            </a:r>
            <a:r>
              <a:rPr lang="en-US" dirty="0"/>
              <a:t> know how many times the block should repeat</a:t>
            </a:r>
          </a:p>
          <a:p>
            <a:pPr lvl="1">
              <a:lnSpc>
                <a:spcPct val="100000"/>
              </a:lnSpc>
              <a:spcBef>
                <a:spcPts val="0"/>
              </a:spcBef>
              <a:defRPr/>
            </a:pPr>
            <a:r>
              <a:rPr lang="en-US" dirty="0"/>
              <a:t>You should break this rule when the alternate version is significantly more readable (this is quite universal advice)</a:t>
            </a:r>
          </a:p>
          <a:p>
            <a:pPr marL="0" indent="0">
              <a:lnSpc>
                <a:spcPct val="100000"/>
              </a:lnSpc>
              <a:spcBef>
                <a:spcPts val="0"/>
              </a:spcBef>
              <a:buNone/>
            </a:pPr>
            <a:endParaRPr lang="en-US" i="1" dirty="0"/>
          </a:p>
          <a:p>
            <a:pPr marL="0" indent="0">
              <a:lnSpc>
                <a:spcPct val="100000"/>
              </a:lnSpc>
              <a:spcBef>
                <a:spcPts val="0"/>
              </a:spcBef>
              <a:buNone/>
            </a:pPr>
            <a:endParaRPr lang="en-US" i="1" dirty="0"/>
          </a:p>
          <a:p>
            <a:pPr marL="0" indent="0">
              <a:lnSpc>
                <a:spcPct val="100000"/>
              </a:lnSpc>
              <a:spcBef>
                <a:spcPts val="0"/>
              </a:spcBef>
              <a:buNone/>
            </a:pPr>
            <a:r>
              <a:rPr lang="en-US" i="1" dirty="0"/>
              <a:t>while True: &lt;</a:t>
            </a:r>
            <a:r>
              <a:rPr lang="mr-IN" i="1" dirty="0"/>
              <a:t>…</a:t>
            </a:r>
            <a:r>
              <a:rPr lang="en-US" i="1" dirty="0"/>
              <a:t>&gt; break </a:t>
            </a:r>
            <a:r>
              <a:rPr lang="en-US" dirty="0"/>
              <a:t>is not uncommon, but considered bad practice by some</a:t>
            </a:r>
          </a:p>
          <a:p>
            <a:pPr lvl="1">
              <a:lnSpc>
                <a:spcPct val="100000"/>
              </a:lnSpc>
              <a:spcBef>
                <a:spcPts val="0"/>
              </a:spcBef>
            </a:pPr>
            <a:r>
              <a:rPr lang="en-US" dirty="0"/>
              <a:t>Advantage: The loop will </a:t>
            </a:r>
            <a:r>
              <a:rPr lang="en-US" i="1" dirty="0"/>
              <a:t>always</a:t>
            </a:r>
            <a:r>
              <a:rPr lang="en-US" dirty="0"/>
              <a:t> execute at least once. Other languages achieve this with what is called a </a:t>
            </a:r>
            <a:r>
              <a:rPr lang="en-US" i="1" dirty="0"/>
              <a:t>do-while</a:t>
            </a:r>
            <a:r>
              <a:rPr lang="en-US" dirty="0"/>
              <a:t> loop. </a:t>
            </a:r>
          </a:p>
          <a:p>
            <a:pPr marL="0" indent="0">
              <a:lnSpc>
                <a:spcPct val="100000"/>
              </a:lnSpc>
              <a:spcBef>
                <a:spcPts val="0"/>
              </a:spcBef>
              <a:buNone/>
            </a:pPr>
            <a:endParaRPr lang="en-US" i="1" dirty="0"/>
          </a:p>
          <a:p>
            <a:pPr marL="0" indent="0">
              <a:lnSpc>
                <a:spcPct val="100000"/>
              </a:lnSpc>
              <a:spcBef>
                <a:spcPts val="0"/>
              </a:spcBef>
              <a:buNone/>
            </a:pPr>
            <a:endParaRPr lang="en-US" i="1"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121984" y="0"/>
            <a:ext cx="3021806" cy="6858000"/>
          </a:xfrm>
          <a:prstGeom prst="rect">
            <a:avLst/>
          </a:prstGeom>
        </p:spPr>
      </p:pic>
    </p:spTree>
    <p:extLst>
      <p:ext uri="{BB962C8B-B14F-4D97-AF65-F5344CB8AC3E}">
        <p14:creationId xmlns:p14="http://schemas.microsoft.com/office/powerpoint/2010/main" val="40978785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Functions </a:t>
            </a:r>
          </a:p>
        </p:txBody>
      </p:sp>
      <p:sp>
        <p:nvSpPr>
          <p:cNvPr id="3" name="Content Placeholder 2"/>
          <p:cNvSpPr>
            <a:spLocks noGrp="1"/>
          </p:cNvSpPr>
          <p:nvPr>
            <p:ph idx="1"/>
          </p:nvPr>
        </p:nvSpPr>
        <p:spPr>
          <a:xfrm>
            <a:off x="680321" y="2229257"/>
            <a:ext cx="6490500" cy="4015132"/>
          </a:xfrm>
        </p:spPr>
        <p:txBody>
          <a:bodyPr>
            <a:normAutofit/>
          </a:bodyPr>
          <a:lstStyle/>
          <a:p>
            <a:pPr marL="0" indent="0">
              <a:buNone/>
            </a:pPr>
            <a:r>
              <a:rPr lang="en-US" dirty="0"/>
              <a:t>Often referred to as “methods” in other languages </a:t>
            </a:r>
          </a:p>
          <a:p>
            <a:pPr marL="0" indent="0">
              <a:buNone/>
            </a:pPr>
            <a:endParaRPr lang="en-US" dirty="0"/>
          </a:p>
          <a:p>
            <a:pPr marL="0" indent="0">
              <a:buNone/>
            </a:pPr>
            <a:r>
              <a:rPr lang="en-US" dirty="0"/>
              <a:t>Created with the </a:t>
            </a:r>
            <a:r>
              <a:rPr lang="en-US" i="1" dirty="0" err="1"/>
              <a:t>def</a:t>
            </a:r>
            <a:r>
              <a:rPr lang="en-US" dirty="0"/>
              <a:t> keyword followed by an indented block. Between the </a:t>
            </a:r>
            <a:r>
              <a:rPr lang="en-US" i="1" dirty="0" err="1"/>
              <a:t>def</a:t>
            </a:r>
            <a:r>
              <a:rPr lang="en-US" dirty="0"/>
              <a:t> statement and the body of the function is where you should put a </a:t>
            </a:r>
            <a:r>
              <a:rPr lang="en-US" i="1" dirty="0" err="1"/>
              <a:t>docstring</a:t>
            </a:r>
            <a:r>
              <a:rPr lang="en-US" dirty="0"/>
              <a:t>. </a:t>
            </a:r>
          </a:p>
          <a:p>
            <a:pPr marL="0" indent="0">
              <a:buNone/>
            </a:pPr>
            <a:endParaRPr lang="en-US" dirty="0"/>
          </a:p>
          <a:p>
            <a:pPr marL="0" indent="0">
              <a:buNone/>
            </a:pPr>
            <a:r>
              <a:rPr lang="en-US" dirty="0"/>
              <a:t>Astronomers (and scientists in general) are </a:t>
            </a:r>
            <a:r>
              <a:rPr lang="en-US" i="1" dirty="0"/>
              <a:t>notorious </a:t>
            </a:r>
            <a:r>
              <a:rPr lang="en-US" dirty="0"/>
              <a:t>for thin documentation if they document at all. </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43274" y="889668"/>
            <a:ext cx="4267200" cy="5511800"/>
          </a:xfrm>
          <a:prstGeom prst="rect">
            <a:avLst/>
          </a:prstGeom>
        </p:spPr>
      </p:pic>
    </p:spTree>
    <p:extLst>
      <p:ext uri="{BB962C8B-B14F-4D97-AF65-F5344CB8AC3E}">
        <p14:creationId xmlns:p14="http://schemas.microsoft.com/office/powerpoint/2010/main" val="127489212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Functions: The Implicit Return </a:t>
            </a:r>
          </a:p>
        </p:txBody>
      </p:sp>
      <p:sp>
        <p:nvSpPr>
          <p:cNvPr id="3" name="Content Placeholder 2"/>
          <p:cNvSpPr>
            <a:spLocks noGrp="1"/>
          </p:cNvSpPr>
          <p:nvPr>
            <p:ph idx="1"/>
          </p:nvPr>
        </p:nvSpPr>
        <p:spPr>
          <a:xfrm>
            <a:off x="680321" y="2229257"/>
            <a:ext cx="6297996" cy="4063259"/>
          </a:xfrm>
        </p:spPr>
        <p:txBody>
          <a:bodyPr>
            <a:normAutofit/>
          </a:bodyPr>
          <a:lstStyle/>
          <a:p>
            <a:pPr marL="0" indent="0">
              <a:buNone/>
            </a:pPr>
            <a:r>
              <a:rPr lang="en-US" dirty="0"/>
              <a:t>Unless otherwise specified, a function will return </a:t>
            </a:r>
            <a:r>
              <a:rPr lang="en-US" i="1" dirty="0"/>
              <a:t>None</a:t>
            </a:r>
            <a:r>
              <a:rPr lang="en-US" dirty="0"/>
              <a:t>. </a:t>
            </a:r>
          </a:p>
          <a:p>
            <a:pPr marL="0" indent="0">
              <a:buNone/>
            </a:pPr>
            <a:endParaRPr lang="en-US" dirty="0"/>
          </a:p>
          <a:p>
            <a:pPr marL="0" indent="0">
              <a:buNone/>
            </a:pPr>
            <a:r>
              <a:rPr lang="en-US" dirty="0"/>
              <a:t>In order to obtain an object from a function, you have to override this with a </a:t>
            </a:r>
            <a:r>
              <a:rPr lang="en-US" i="1" dirty="0"/>
              <a:t>return</a:t>
            </a:r>
            <a:r>
              <a:rPr lang="en-US" dirty="0"/>
              <a:t> statement </a:t>
            </a:r>
          </a:p>
          <a:p>
            <a:pPr marL="0" indent="0">
              <a:buNone/>
            </a:pPr>
            <a:endParaRPr lang="en-US" dirty="0"/>
          </a:p>
          <a:p>
            <a:pPr marL="0" indent="0">
              <a:buNone/>
            </a:pPr>
            <a:r>
              <a:rPr lang="en-US" dirty="0"/>
              <a:t>A note about variable scope: variables declared inside a function cannot be accessed outside the function. </a:t>
            </a:r>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179733" y="342900"/>
            <a:ext cx="4673600" cy="6172200"/>
          </a:xfrm>
          <a:prstGeom prst="rect">
            <a:avLst/>
          </a:prstGeom>
        </p:spPr>
      </p:pic>
    </p:spTree>
    <p:extLst>
      <p:ext uri="{BB962C8B-B14F-4D97-AF65-F5344CB8AC3E}">
        <p14:creationId xmlns:p14="http://schemas.microsoft.com/office/powerpoint/2010/main" val="196428148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Functions: An Alternative for One-Liners </a:t>
            </a:r>
          </a:p>
        </p:txBody>
      </p:sp>
      <p:sp>
        <p:nvSpPr>
          <p:cNvPr id="3" name="Content Placeholder 2"/>
          <p:cNvSpPr>
            <a:spLocks noGrp="1"/>
          </p:cNvSpPr>
          <p:nvPr>
            <p:ph idx="1"/>
          </p:nvPr>
        </p:nvSpPr>
        <p:spPr>
          <a:xfrm>
            <a:off x="680321" y="2336873"/>
            <a:ext cx="4781695" cy="3599316"/>
          </a:xfrm>
        </p:spPr>
        <p:txBody>
          <a:bodyPr/>
          <a:lstStyle/>
          <a:p>
            <a:pPr marL="0" marR="0" lvl="0" indent="0" defTabSz="914400" eaLnBrk="1" fontAlgn="auto" latinLnBrk="0" hangingPunct="1">
              <a:lnSpc>
                <a:spcPct val="100000"/>
              </a:lnSpc>
              <a:spcBef>
                <a:spcPts val="0"/>
              </a:spcBef>
              <a:spcAft>
                <a:spcPts val="0"/>
              </a:spcAft>
              <a:buClrTx/>
              <a:buSzTx/>
              <a:buFontTx/>
              <a:buNone/>
              <a:tabLst/>
              <a:defRPr/>
            </a:pPr>
            <a:r>
              <a:rPr lang="en-US" dirty="0"/>
              <a:t>One line function: </a:t>
            </a:r>
            <a:r>
              <a:rPr lang="en-US" i="1" dirty="0"/>
              <a:t>lambda</a:t>
            </a:r>
            <a:r>
              <a:rPr lang="en-US" dirty="0"/>
              <a:t> </a:t>
            </a:r>
          </a:p>
          <a:p>
            <a:pPr marL="0" marR="0" lvl="0" indent="0" defTabSz="914400" eaLnBrk="1" fontAlgn="auto" latinLnBrk="0" hangingPunct="1">
              <a:lnSpc>
                <a:spcPct val="100000"/>
              </a:lnSpc>
              <a:spcBef>
                <a:spcPts val="0"/>
              </a:spcBef>
              <a:spcAft>
                <a:spcPts val="0"/>
              </a:spcAft>
              <a:buClrTx/>
              <a:buSzTx/>
              <a:buFontTx/>
              <a:buNone/>
              <a:tabLst/>
              <a:defRPr/>
            </a:pPr>
            <a:endParaRPr lang="en-US" dirty="0"/>
          </a:p>
          <a:p>
            <a:pPr marL="0" marR="0" lvl="0" indent="0" defTabSz="914400" eaLnBrk="1" fontAlgn="auto" latinLnBrk="0" hangingPunct="1">
              <a:lnSpc>
                <a:spcPct val="100000"/>
              </a:lnSpc>
              <a:spcBef>
                <a:spcPts val="0"/>
              </a:spcBef>
              <a:spcAft>
                <a:spcPts val="0"/>
              </a:spcAft>
              <a:buClrTx/>
              <a:buSzTx/>
              <a:buFontTx/>
              <a:buNone/>
              <a:tabLst/>
              <a:defRPr/>
            </a:pPr>
            <a:r>
              <a:rPr lang="en-US" dirty="0"/>
              <a:t>By nature don’t have any error-handling or documentation attached to them, so should only be used </a:t>
            </a:r>
            <a:r>
              <a:rPr lang="en-US"/>
              <a:t>when this isn’t necessary </a:t>
            </a:r>
            <a:r>
              <a:rPr lang="mr-IN"/>
              <a:t>–</a:t>
            </a:r>
            <a:r>
              <a:rPr lang="en-US" dirty="0"/>
              <a:t> a </a:t>
            </a:r>
            <a:r>
              <a:rPr lang="en-US" i="1" dirty="0"/>
              <a:t>lambda </a:t>
            </a:r>
            <a:r>
              <a:rPr lang="en-US" dirty="0"/>
              <a:t>worth documenting is better replaced by a </a:t>
            </a:r>
            <a:r>
              <a:rPr lang="en-US" i="1" dirty="0" err="1"/>
              <a:t>def</a:t>
            </a:r>
            <a:r>
              <a:rPr lang="en-US" dirty="0"/>
              <a:t> with a one-line </a:t>
            </a:r>
            <a:r>
              <a:rPr lang="en-US" i="1" dirty="0"/>
              <a:t>return</a:t>
            </a:r>
            <a:r>
              <a:rPr lang="en-US" dirty="0"/>
              <a:t> and a </a:t>
            </a:r>
            <a:r>
              <a:rPr lang="en-US" dirty="0" err="1"/>
              <a:t>docstring</a:t>
            </a:r>
            <a:r>
              <a:rPr lang="en-US" dirty="0"/>
              <a:t> </a:t>
            </a:r>
            <a:endParaRPr lang="en-US" i="1"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77456" y="2745881"/>
            <a:ext cx="3352800" cy="2781300"/>
          </a:xfrm>
          <a:prstGeom prst="rect">
            <a:avLst/>
          </a:prstGeom>
        </p:spPr>
      </p:pic>
    </p:spTree>
    <p:extLst>
      <p:ext uri="{BB962C8B-B14F-4D97-AF65-F5344CB8AC3E}">
        <p14:creationId xmlns:p14="http://schemas.microsoft.com/office/powerpoint/2010/main" val="154181355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Catching Exceptions: try-except</a:t>
            </a:r>
          </a:p>
        </p:txBody>
      </p:sp>
      <p:sp>
        <p:nvSpPr>
          <p:cNvPr id="3" name="Content Placeholder 2"/>
          <p:cNvSpPr>
            <a:spLocks noGrp="1"/>
          </p:cNvSpPr>
          <p:nvPr>
            <p:ph idx="1"/>
          </p:nvPr>
        </p:nvSpPr>
        <p:spPr>
          <a:xfrm>
            <a:off x="680321" y="2336872"/>
            <a:ext cx="5549791" cy="4152827"/>
          </a:xfrm>
        </p:spPr>
        <p:txBody>
          <a:bodyPr/>
          <a:lstStyle/>
          <a:p>
            <a:pPr marL="0" marR="0" lvl="0" indent="0" defTabSz="914400" eaLnBrk="1" fontAlgn="auto" latinLnBrk="0" hangingPunct="1">
              <a:lnSpc>
                <a:spcPct val="100000"/>
              </a:lnSpc>
              <a:spcBef>
                <a:spcPts val="0"/>
              </a:spcBef>
              <a:spcAft>
                <a:spcPts val="0"/>
              </a:spcAft>
              <a:buClrTx/>
              <a:buSzTx/>
              <a:buFontTx/>
              <a:buNone/>
              <a:tabLst/>
              <a:defRPr/>
            </a:pPr>
            <a:r>
              <a:rPr lang="en-US" dirty="0"/>
              <a:t>Catch exceptions before their raised and handle them.</a:t>
            </a:r>
          </a:p>
          <a:p>
            <a:pPr marL="0" marR="0" lvl="0" indent="0" defTabSz="914400" eaLnBrk="1" fontAlgn="auto" latinLnBrk="0" hangingPunct="1">
              <a:lnSpc>
                <a:spcPct val="100000"/>
              </a:lnSpc>
              <a:spcBef>
                <a:spcPts val="0"/>
              </a:spcBef>
              <a:spcAft>
                <a:spcPts val="0"/>
              </a:spcAft>
              <a:buClrTx/>
              <a:buSzTx/>
              <a:buFontTx/>
              <a:buNone/>
              <a:tabLst/>
              <a:defRPr/>
            </a:pPr>
            <a:endParaRPr lang="en-US" dirty="0"/>
          </a:p>
          <a:p>
            <a:pPr marL="0" marR="0" lvl="0" indent="0" defTabSz="914400" eaLnBrk="1" fontAlgn="auto" latinLnBrk="0" hangingPunct="1">
              <a:lnSpc>
                <a:spcPct val="100000"/>
              </a:lnSpc>
              <a:spcBef>
                <a:spcPts val="0"/>
              </a:spcBef>
              <a:spcAft>
                <a:spcPts val="0"/>
              </a:spcAft>
              <a:buClrTx/>
              <a:buSzTx/>
              <a:buFontTx/>
              <a:buNone/>
              <a:tabLst/>
              <a:defRPr/>
            </a:pPr>
            <a:endParaRPr lang="en-US" dirty="0"/>
          </a:p>
          <a:p>
            <a:pPr marL="0" marR="0" lvl="0" indent="0" defTabSz="914400" eaLnBrk="1" fontAlgn="auto" latinLnBrk="0" hangingPunct="1">
              <a:lnSpc>
                <a:spcPct val="100000"/>
              </a:lnSpc>
              <a:spcBef>
                <a:spcPts val="0"/>
              </a:spcBef>
              <a:spcAft>
                <a:spcPts val="0"/>
              </a:spcAft>
              <a:buClrTx/>
              <a:buSzTx/>
              <a:buFontTx/>
              <a:buNone/>
              <a:tabLst/>
              <a:defRPr/>
            </a:pPr>
            <a:r>
              <a:rPr lang="en-US" dirty="0"/>
              <a:t>Different types of exceptions can be treated differently by specifying them in the except statement.</a:t>
            </a:r>
          </a:p>
          <a:p>
            <a:pPr marL="0" marR="0" lvl="0" indent="0" defTabSz="914400" eaLnBrk="1" fontAlgn="auto" latinLnBrk="0" hangingPunct="1">
              <a:lnSpc>
                <a:spcPct val="100000"/>
              </a:lnSpc>
              <a:spcBef>
                <a:spcPts val="0"/>
              </a:spcBef>
              <a:spcAft>
                <a:spcPts val="0"/>
              </a:spcAft>
              <a:buClrTx/>
              <a:buSzTx/>
              <a:buFontTx/>
              <a:buNone/>
              <a:tabLst/>
              <a:defRPr/>
            </a:pPr>
            <a:endParaRPr lang="en-US" dirty="0"/>
          </a:p>
          <a:p>
            <a:pPr marL="0" marR="0" lvl="0" indent="0" defTabSz="914400" eaLnBrk="1" fontAlgn="auto" latinLnBrk="0" hangingPunct="1">
              <a:lnSpc>
                <a:spcPct val="100000"/>
              </a:lnSpc>
              <a:spcBef>
                <a:spcPts val="0"/>
              </a:spcBef>
              <a:spcAft>
                <a:spcPts val="0"/>
              </a:spcAft>
              <a:buClrTx/>
              <a:buSzTx/>
              <a:buFontTx/>
              <a:buNone/>
              <a:tabLst/>
              <a:defRPr/>
            </a:pPr>
            <a:r>
              <a:rPr lang="en-US" dirty="0"/>
              <a:t>The exception can be raised “as is” with the python keyword </a:t>
            </a:r>
            <a:r>
              <a:rPr lang="en-US" i="1" dirty="0"/>
              <a:t>raise</a:t>
            </a:r>
            <a:endParaRPr lang="en-US" dirty="0"/>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64787" y="2184400"/>
            <a:ext cx="4597400" cy="4305300"/>
          </a:xfrm>
          <a:prstGeom prst="rect">
            <a:avLst/>
          </a:prstGeom>
        </p:spPr>
      </p:pic>
    </p:spTree>
    <p:extLst>
      <p:ext uri="{BB962C8B-B14F-4D97-AF65-F5344CB8AC3E}">
        <p14:creationId xmlns:p14="http://schemas.microsoft.com/office/powerpoint/2010/main" val="193619750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Catching Exceptions: try-except-finally </a:t>
            </a:r>
          </a:p>
        </p:txBody>
      </p:sp>
      <p:sp>
        <p:nvSpPr>
          <p:cNvPr id="3" name="Content Placeholder 2"/>
          <p:cNvSpPr>
            <a:spLocks noGrp="1"/>
          </p:cNvSpPr>
          <p:nvPr>
            <p:ph idx="1"/>
          </p:nvPr>
        </p:nvSpPr>
        <p:spPr>
          <a:xfrm>
            <a:off x="680321" y="2336872"/>
            <a:ext cx="5354719" cy="4356535"/>
          </a:xfrm>
        </p:spPr>
        <p:txBody>
          <a:bodyPr/>
          <a:lstStyle/>
          <a:p>
            <a:pPr marL="0" marR="0" lvl="0" indent="0" defTabSz="914400" eaLnBrk="1" fontAlgn="auto" latinLnBrk="0" hangingPunct="1">
              <a:lnSpc>
                <a:spcPct val="100000"/>
              </a:lnSpc>
              <a:spcBef>
                <a:spcPts val="0"/>
              </a:spcBef>
              <a:spcAft>
                <a:spcPts val="0"/>
              </a:spcAft>
              <a:buClrTx/>
              <a:buSzTx/>
              <a:buFontTx/>
              <a:buNone/>
              <a:tabLst/>
              <a:defRPr/>
            </a:pPr>
            <a:r>
              <a:rPr lang="en-US" dirty="0"/>
              <a:t>Use a </a:t>
            </a:r>
            <a:r>
              <a:rPr lang="en-US" i="1" dirty="0"/>
              <a:t>finally</a:t>
            </a:r>
            <a:r>
              <a:rPr lang="en-US" dirty="0"/>
              <a:t> block when you need something to </a:t>
            </a:r>
            <a:r>
              <a:rPr lang="en-US" i="1" dirty="0"/>
              <a:t>always run</a:t>
            </a:r>
            <a:r>
              <a:rPr lang="en-US" dirty="0"/>
              <a:t> regardless of the errors that may or may not be raised. </a:t>
            </a:r>
          </a:p>
          <a:p>
            <a:pPr marL="0" marR="0" lvl="0" indent="0" defTabSz="914400" eaLnBrk="1" fontAlgn="auto" latinLnBrk="0" hangingPunct="1">
              <a:lnSpc>
                <a:spcPct val="100000"/>
              </a:lnSpc>
              <a:spcBef>
                <a:spcPts val="0"/>
              </a:spcBef>
              <a:spcAft>
                <a:spcPts val="0"/>
              </a:spcAft>
              <a:buClrTx/>
              <a:buSzTx/>
              <a:buFontTx/>
              <a:buNone/>
              <a:tabLst/>
              <a:defRPr/>
            </a:pPr>
            <a:endParaRPr lang="en-US" dirty="0"/>
          </a:p>
          <a:p>
            <a:pPr marL="0" marR="0" lvl="0" indent="0" defTabSz="914400" eaLnBrk="1" fontAlgn="auto" latinLnBrk="0" hangingPunct="1">
              <a:lnSpc>
                <a:spcPct val="100000"/>
              </a:lnSpc>
              <a:spcBef>
                <a:spcPts val="0"/>
              </a:spcBef>
              <a:spcAft>
                <a:spcPts val="0"/>
              </a:spcAft>
              <a:buClrTx/>
              <a:buSzTx/>
              <a:buFontTx/>
              <a:buNone/>
              <a:tabLst/>
              <a:defRPr/>
            </a:pPr>
            <a:r>
              <a:rPr lang="en-US" dirty="0"/>
              <a:t>Example: closing files</a:t>
            </a:r>
          </a:p>
          <a:p>
            <a:pPr marL="0" marR="0" lvl="0" indent="0" defTabSz="914400" eaLnBrk="1" fontAlgn="auto" latinLnBrk="0" hangingPunct="1">
              <a:lnSpc>
                <a:spcPct val="100000"/>
              </a:lnSpc>
              <a:spcBef>
                <a:spcPts val="0"/>
              </a:spcBef>
              <a:spcAft>
                <a:spcPts val="0"/>
              </a:spcAft>
              <a:buClrTx/>
              <a:buSzTx/>
              <a:buFontTx/>
              <a:buNone/>
              <a:tabLst/>
              <a:defRPr/>
            </a:pPr>
            <a:endParaRPr lang="en-US"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614160" y="2564384"/>
            <a:ext cx="4559300" cy="2997200"/>
          </a:xfrm>
          <a:prstGeom prst="rect">
            <a:avLst/>
          </a:prstGeom>
        </p:spPr>
      </p:pic>
    </p:spTree>
    <p:extLst>
      <p:ext uri="{BB962C8B-B14F-4D97-AF65-F5344CB8AC3E}">
        <p14:creationId xmlns:p14="http://schemas.microsoft.com/office/powerpoint/2010/main" val="131487317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CA18A1-AFA1-644C-B2C7-ECD421140330}"/>
              </a:ext>
            </a:extLst>
          </p:cNvPr>
          <p:cNvSpPr>
            <a:spLocks noGrp="1"/>
          </p:cNvSpPr>
          <p:nvPr>
            <p:ph type="title"/>
          </p:nvPr>
        </p:nvSpPr>
        <p:spPr/>
        <p:txBody>
          <a:bodyPr/>
          <a:lstStyle/>
          <a:p>
            <a:r>
              <a:rPr lang="en-US" dirty="0"/>
              <a:t>Pattern-Matching: Python 3.10</a:t>
            </a:r>
          </a:p>
        </p:txBody>
      </p:sp>
      <p:sp>
        <p:nvSpPr>
          <p:cNvPr id="3" name="Content Placeholder 2">
            <a:extLst>
              <a:ext uri="{FF2B5EF4-FFF2-40B4-BE49-F238E27FC236}">
                <a16:creationId xmlns:a16="http://schemas.microsoft.com/office/drawing/2014/main" id="{127FD841-4A5A-FA41-B7B1-EB2054DBBB84}"/>
              </a:ext>
            </a:extLst>
          </p:cNvPr>
          <p:cNvSpPr>
            <a:spLocks noGrp="1"/>
          </p:cNvSpPr>
          <p:nvPr>
            <p:ph idx="1"/>
          </p:nvPr>
        </p:nvSpPr>
        <p:spPr>
          <a:xfrm>
            <a:off x="225760" y="2091350"/>
            <a:ext cx="6174463" cy="4676616"/>
          </a:xfrm>
        </p:spPr>
        <p:txBody>
          <a:bodyPr>
            <a:normAutofit/>
          </a:bodyPr>
          <a:lstStyle/>
          <a:p>
            <a:pPr marL="0" indent="0">
              <a:buNone/>
            </a:pPr>
            <a:r>
              <a:rPr lang="en-US" dirty="0"/>
              <a:t>Python 3.10 (released October 4, 2021) introduced the new </a:t>
            </a:r>
            <a:r>
              <a:rPr lang="en-US" i="1" dirty="0"/>
              <a:t>match-case</a:t>
            </a:r>
            <a:r>
              <a:rPr lang="en-US" dirty="0"/>
              <a:t> syntax</a:t>
            </a:r>
          </a:p>
          <a:p>
            <a:pPr lvl="1"/>
            <a:r>
              <a:rPr lang="en-US" dirty="0"/>
              <a:t>Similar to the </a:t>
            </a:r>
            <a:r>
              <a:rPr lang="en-US" i="1" dirty="0"/>
              <a:t>switch-case</a:t>
            </a:r>
            <a:r>
              <a:rPr lang="en-US" dirty="0"/>
              <a:t> construction in C/C++</a:t>
            </a:r>
          </a:p>
          <a:p>
            <a:pPr lvl="1"/>
            <a:r>
              <a:rPr lang="en-US" dirty="0"/>
              <a:t>Usually implicitly includes some form of type-checking and length-matching for short arrays</a:t>
            </a:r>
          </a:p>
          <a:p>
            <a:pPr marL="0" indent="0">
              <a:buNone/>
            </a:pPr>
            <a:endParaRPr lang="en-US" dirty="0"/>
          </a:p>
          <a:p>
            <a:pPr marL="0" indent="0">
              <a:buNone/>
            </a:pPr>
            <a:r>
              <a:rPr lang="en-US" dirty="0"/>
              <a:t>Case statements can introduce new local variables</a:t>
            </a:r>
          </a:p>
          <a:p>
            <a:pPr marL="0" indent="0">
              <a:buNone/>
            </a:pPr>
            <a:endParaRPr lang="en-US" dirty="0"/>
          </a:p>
          <a:p>
            <a:pPr marL="0" indent="0">
              <a:buNone/>
            </a:pPr>
            <a:r>
              <a:rPr lang="en-US" dirty="0"/>
              <a:t>_ represents some default scenario</a:t>
            </a:r>
          </a:p>
        </p:txBody>
      </p:sp>
      <p:pic>
        <p:nvPicPr>
          <p:cNvPr id="7" name="Picture 6">
            <a:extLst>
              <a:ext uri="{FF2B5EF4-FFF2-40B4-BE49-F238E27FC236}">
                <a16:creationId xmlns:a16="http://schemas.microsoft.com/office/drawing/2014/main" id="{48509C0C-1507-8D49-B33C-69ECE5F8565D}"/>
              </a:ext>
            </a:extLst>
          </p:cNvPr>
          <p:cNvPicPr>
            <a:picLocks noChangeAspect="1"/>
          </p:cNvPicPr>
          <p:nvPr/>
        </p:nvPicPr>
        <p:blipFill>
          <a:blip r:embed="rId3"/>
          <a:stretch>
            <a:fillRect/>
          </a:stretch>
        </p:blipFill>
        <p:spPr>
          <a:xfrm>
            <a:off x="6694186" y="2091350"/>
            <a:ext cx="5267472" cy="4556781"/>
          </a:xfrm>
          <a:prstGeom prst="rect">
            <a:avLst/>
          </a:prstGeom>
        </p:spPr>
      </p:pic>
    </p:spTree>
    <p:extLst>
      <p:ext uri="{BB962C8B-B14F-4D97-AF65-F5344CB8AC3E}">
        <p14:creationId xmlns:p14="http://schemas.microsoft.com/office/powerpoint/2010/main" val="425385012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CA18A1-AFA1-644C-B2C7-ECD421140330}"/>
              </a:ext>
            </a:extLst>
          </p:cNvPr>
          <p:cNvSpPr>
            <a:spLocks noGrp="1"/>
          </p:cNvSpPr>
          <p:nvPr>
            <p:ph type="title"/>
          </p:nvPr>
        </p:nvSpPr>
        <p:spPr/>
        <p:txBody>
          <a:bodyPr/>
          <a:lstStyle/>
          <a:p>
            <a:r>
              <a:rPr lang="en-US" dirty="0"/>
              <a:t>Pattern-Matching: Python 3.10</a:t>
            </a:r>
          </a:p>
        </p:txBody>
      </p:sp>
      <p:sp>
        <p:nvSpPr>
          <p:cNvPr id="3" name="Content Placeholder 2">
            <a:extLst>
              <a:ext uri="{FF2B5EF4-FFF2-40B4-BE49-F238E27FC236}">
                <a16:creationId xmlns:a16="http://schemas.microsoft.com/office/drawing/2014/main" id="{127FD841-4A5A-FA41-B7B1-EB2054DBBB84}"/>
              </a:ext>
            </a:extLst>
          </p:cNvPr>
          <p:cNvSpPr>
            <a:spLocks noGrp="1"/>
          </p:cNvSpPr>
          <p:nvPr>
            <p:ph idx="1"/>
          </p:nvPr>
        </p:nvSpPr>
        <p:spPr>
          <a:xfrm>
            <a:off x="225760" y="2091350"/>
            <a:ext cx="6174463" cy="4676616"/>
          </a:xfrm>
        </p:spPr>
        <p:txBody>
          <a:bodyPr>
            <a:normAutofit/>
          </a:bodyPr>
          <a:lstStyle/>
          <a:p>
            <a:pPr marL="0" indent="0">
              <a:buNone/>
            </a:pPr>
            <a:r>
              <a:rPr lang="en-US" dirty="0"/>
              <a:t>Python 3.10 (released October 4, 2021) introduced the new </a:t>
            </a:r>
            <a:r>
              <a:rPr lang="en-US" i="1" dirty="0"/>
              <a:t>match-case</a:t>
            </a:r>
            <a:r>
              <a:rPr lang="en-US" dirty="0"/>
              <a:t> syntax</a:t>
            </a:r>
          </a:p>
          <a:p>
            <a:pPr lvl="1"/>
            <a:r>
              <a:rPr lang="en-US" dirty="0"/>
              <a:t>Similar to the </a:t>
            </a:r>
            <a:r>
              <a:rPr lang="en-US" i="1" dirty="0"/>
              <a:t>switch-case</a:t>
            </a:r>
            <a:r>
              <a:rPr lang="en-US" dirty="0"/>
              <a:t> construction in C/C++</a:t>
            </a:r>
          </a:p>
          <a:p>
            <a:pPr lvl="1"/>
            <a:r>
              <a:rPr lang="en-US" dirty="0"/>
              <a:t>Usually implicitly includes some form of type-checking and length-matching for short arrays</a:t>
            </a:r>
          </a:p>
          <a:p>
            <a:pPr marL="0" indent="0">
              <a:buNone/>
            </a:pPr>
            <a:endParaRPr lang="en-US" dirty="0"/>
          </a:p>
          <a:p>
            <a:pPr marL="0" indent="0">
              <a:buNone/>
            </a:pPr>
            <a:r>
              <a:rPr lang="en-US" dirty="0"/>
              <a:t>Logical “or” function can be used with | character…</a:t>
            </a:r>
          </a:p>
        </p:txBody>
      </p:sp>
      <p:pic>
        <p:nvPicPr>
          <p:cNvPr id="8" name="Picture 7">
            <a:extLst>
              <a:ext uri="{FF2B5EF4-FFF2-40B4-BE49-F238E27FC236}">
                <a16:creationId xmlns:a16="http://schemas.microsoft.com/office/drawing/2014/main" id="{A5717878-7AFA-4B42-8792-73F3748BDFBF}"/>
              </a:ext>
            </a:extLst>
          </p:cNvPr>
          <p:cNvPicPr>
            <a:picLocks noChangeAspect="1"/>
          </p:cNvPicPr>
          <p:nvPr/>
        </p:nvPicPr>
        <p:blipFill>
          <a:blip r:embed="rId2"/>
          <a:stretch>
            <a:fillRect/>
          </a:stretch>
        </p:blipFill>
        <p:spPr>
          <a:xfrm>
            <a:off x="6980844" y="1628256"/>
            <a:ext cx="4165600" cy="4914900"/>
          </a:xfrm>
          <a:prstGeom prst="rect">
            <a:avLst/>
          </a:prstGeom>
        </p:spPr>
      </p:pic>
    </p:spTree>
    <p:extLst>
      <p:ext uri="{BB962C8B-B14F-4D97-AF65-F5344CB8AC3E}">
        <p14:creationId xmlns:p14="http://schemas.microsoft.com/office/powerpoint/2010/main" val="296912041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CA18A1-AFA1-644C-B2C7-ECD421140330}"/>
              </a:ext>
            </a:extLst>
          </p:cNvPr>
          <p:cNvSpPr>
            <a:spLocks noGrp="1"/>
          </p:cNvSpPr>
          <p:nvPr>
            <p:ph type="title"/>
          </p:nvPr>
        </p:nvSpPr>
        <p:spPr/>
        <p:txBody>
          <a:bodyPr/>
          <a:lstStyle/>
          <a:p>
            <a:r>
              <a:rPr lang="en-US" dirty="0"/>
              <a:t>Pattern-Matching: Python 3.10</a:t>
            </a:r>
          </a:p>
        </p:txBody>
      </p:sp>
      <p:sp>
        <p:nvSpPr>
          <p:cNvPr id="3" name="Content Placeholder 2">
            <a:extLst>
              <a:ext uri="{FF2B5EF4-FFF2-40B4-BE49-F238E27FC236}">
                <a16:creationId xmlns:a16="http://schemas.microsoft.com/office/drawing/2014/main" id="{127FD841-4A5A-FA41-B7B1-EB2054DBBB84}"/>
              </a:ext>
            </a:extLst>
          </p:cNvPr>
          <p:cNvSpPr>
            <a:spLocks noGrp="1"/>
          </p:cNvSpPr>
          <p:nvPr>
            <p:ph idx="1"/>
          </p:nvPr>
        </p:nvSpPr>
        <p:spPr>
          <a:xfrm>
            <a:off x="225761" y="2091350"/>
            <a:ext cx="5875782" cy="4676616"/>
          </a:xfrm>
        </p:spPr>
        <p:txBody>
          <a:bodyPr>
            <a:normAutofit/>
          </a:bodyPr>
          <a:lstStyle/>
          <a:p>
            <a:pPr marL="0" indent="0">
              <a:buNone/>
            </a:pPr>
            <a:r>
              <a:rPr lang="en-US" dirty="0"/>
              <a:t>Python 3.10 (released October 4, 2021) introduced the new </a:t>
            </a:r>
            <a:r>
              <a:rPr lang="en-US" i="1" dirty="0"/>
              <a:t>match-case</a:t>
            </a:r>
            <a:r>
              <a:rPr lang="en-US" dirty="0"/>
              <a:t> syntax</a:t>
            </a:r>
          </a:p>
          <a:p>
            <a:pPr lvl="1"/>
            <a:r>
              <a:rPr lang="en-US" dirty="0"/>
              <a:t>Similar to the </a:t>
            </a:r>
            <a:r>
              <a:rPr lang="en-US" i="1" dirty="0"/>
              <a:t>switch-case</a:t>
            </a:r>
            <a:r>
              <a:rPr lang="en-US" dirty="0"/>
              <a:t> construction in C/C++</a:t>
            </a:r>
          </a:p>
          <a:p>
            <a:pPr lvl="1"/>
            <a:r>
              <a:rPr lang="en-US" dirty="0"/>
              <a:t>Usually implicitly includes some form of type-checking and length-matching for short arrays</a:t>
            </a:r>
          </a:p>
          <a:p>
            <a:pPr marL="0" indent="0">
              <a:buNone/>
            </a:pPr>
            <a:endParaRPr lang="en-US" dirty="0"/>
          </a:p>
          <a:p>
            <a:pPr marL="0" indent="0">
              <a:buNone/>
            </a:pPr>
            <a:r>
              <a:rPr lang="en-US" dirty="0"/>
              <a:t>Logical “or” function can be used with | character…</a:t>
            </a:r>
          </a:p>
          <a:p>
            <a:pPr marL="0" indent="0">
              <a:buNone/>
            </a:pPr>
            <a:endParaRPr lang="en-US" dirty="0"/>
          </a:p>
          <a:p>
            <a:pPr marL="0" indent="0">
              <a:buNone/>
            </a:pPr>
            <a:r>
              <a:rPr lang="en-US" dirty="0"/>
              <a:t>… and can be used with </a:t>
            </a:r>
            <a:r>
              <a:rPr lang="en-US" i="1" dirty="0"/>
              <a:t>as</a:t>
            </a:r>
            <a:r>
              <a:rPr lang="en-US" dirty="0"/>
              <a:t> to capture the value as a local variable</a:t>
            </a:r>
          </a:p>
        </p:txBody>
      </p:sp>
      <p:pic>
        <p:nvPicPr>
          <p:cNvPr id="10" name="Picture 9">
            <a:extLst>
              <a:ext uri="{FF2B5EF4-FFF2-40B4-BE49-F238E27FC236}">
                <a16:creationId xmlns:a16="http://schemas.microsoft.com/office/drawing/2014/main" id="{DC6A2B06-CC18-D44E-B110-FFDAC9A71280}"/>
              </a:ext>
            </a:extLst>
          </p:cNvPr>
          <p:cNvPicPr>
            <a:picLocks noChangeAspect="1"/>
          </p:cNvPicPr>
          <p:nvPr/>
        </p:nvPicPr>
        <p:blipFill>
          <a:blip r:embed="rId2"/>
          <a:stretch>
            <a:fillRect/>
          </a:stretch>
        </p:blipFill>
        <p:spPr>
          <a:xfrm>
            <a:off x="6101543" y="2069142"/>
            <a:ext cx="5978085" cy="4698824"/>
          </a:xfrm>
          <a:prstGeom prst="rect">
            <a:avLst/>
          </a:prstGeom>
        </p:spPr>
      </p:pic>
    </p:spTree>
    <p:extLst>
      <p:ext uri="{BB962C8B-B14F-4D97-AF65-F5344CB8AC3E}">
        <p14:creationId xmlns:p14="http://schemas.microsoft.com/office/powerpoint/2010/main" val="410646566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CA18A1-AFA1-644C-B2C7-ECD421140330}"/>
              </a:ext>
            </a:extLst>
          </p:cNvPr>
          <p:cNvSpPr>
            <a:spLocks noGrp="1"/>
          </p:cNvSpPr>
          <p:nvPr>
            <p:ph type="title"/>
          </p:nvPr>
        </p:nvSpPr>
        <p:spPr/>
        <p:txBody>
          <a:bodyPr/>
          <a:lstStyle/>
          <a:p>
            <a:r>
              <a:rPr lang="en-US" dirty="0"/>
              <a:t>Pattern-Matching: Python 3.10</a:t>
            </a:r>
          </a:p>
        </p:txBody>
      </p:sp>
      <p:sp>
        <p:nvSpPr>
          <p:cNvPr id="3" name="Content Placeholder 2">
            <a:extLst>
              <a:ext uri="{FF2B5EF4-FFF2-40B4-BE49-F238E27FC236}">
                <a16:creationId xmlns:a16="http://schemas.microsoft.com/office/drawing/2014/main" id="{127FD841-4A5A-FA41-B7B1-EB2054DBBB84}"/>
              </a:ext>
            </a:extLst>
          </p:cNvPr>
          <p:cNvSpPr>
            <a:spLocks noGrp="1"/>
          </p:cNvSpPr>
          <p:nvPr>
            <p:ph idx="1"/>
          </p:nvPr>
        </p:nvSpPr>
        <p:spPr>
          <a:xfrm>
            <a:off x="225761" y="2091350"/>
            <a:ext cx="5875782" cy="4676616"/>
          </a:xfrm>
        </p:spPr>
        <p:txBody>
          <a:bodyPr>
            <a:normAutofit/>
          </a:bodyPr>
          <a:lstStyle/>
          <a:p>
            <a:pPr marL="0" indent="0">
              <a:buNone/>
            </a:pPr>
            <a:r>
              <a:rPr lang="en-US" dirty="0"/>
              <a:t>Python 3.10 (released October 4, 2021) introduced the new </a:t>
            </a:r>
            <a:r>
              <a:rPr lang="en-US" i="1" dirty="0"/>
              <a:t>match-case</a:t>
            </a:r>
            <a:r>
              <a:rPr lang="en-US" dirty="0"/>
              <a:t> syntax</a:t>
            </a:r>
          </a:p>
          <a:p>
            <a:pPr lvl="1"/>
            <a:r>
              <a:rPr lang="en-US" dirty="0"/>
              <a:t>Similar to the </a:t>
            </a:r>
            <a:r>
              <a:rPr lang="en-US" i="1" dirty="0"/>
              <a:t>switch-case</a:t>
            </a:r>
            <a:r>
              <a:rPr lang="en-US" dirty="0"/>
              <a:t> construction in C/C++</a:t>
            </a:r>
          </a:p>
          <a:p>
            <a:pPr lvl="1"/>
            <a:r>
              <a:rPr lang="en-US" dirty="0"/>
              <a:t>Usually implicitly includes some form of type-checking and length-matching for short arrays</a:t>
            </a:r>
          </a:p>
          <a:p>
            <a:pPr marL="0" indent="0">
              <a:buNone/>
            </a:pPr>
            <a:endParaRPr lang="en-US" dirty="0"/>
          </a:p>
          <a:p>
            <a:pPr marL="0" indent="0">
              <a:buNone/>
            </a:pPr>
            <a:endParaRPr lang="en-US" dirty="0"/>
          </a:p>
          <a:p>
            <a:pPr marL="0" indent="0">
              <a:buNone/>
            </a:pPr>
            <a:endParaRPr lang="en-US" dirty="0"/>
          </a:p>
          <a:p>
            <a:pPr marL="0" indent="0">
              <a:buNone/>
            </a:pPr>
            <a:r>
              <a:rPr lang="en-US" dirty="0"/>
              <a:t>PEP 636 presents a comprehensive tutorial</a:t>
            </a:r>
          </a:p>
          <a:p>
            <a:pPr lvl="1"/>
            <a:r>
              <a:rPr lang="en-US" dirty="0">
                <a:hlinkClick r:id="rId2"/>
              </a:rPr>
              <a:t>https://peps.python.org</a:t>
            </a:r>
            <a:r>
              <a:rPr lang="en-US" dirty="0"/>
              <a:t> or google “pep 636”</a:t>
            </a:r>
          </a:p>
          <a:p>
            <a:pPr lvl="1"/>
            <a:r>
              <a:rPr lang="en-US" dirty="0"/>
              <a:t>PEP: Python Enhancement Proposal</a:t>
            </a:r>
          </a:p>
        </p:txBody>
      </p:sp>
      <p:pic>
        <p:nvPicPr>
          <p:cNvPr id="5" name="Picture 4">
            <a:extLst>
              <a:ext uri="{FF2B5EF4-FFF2-40B4-BE49-F238E27FC236}">
                <a16:creationId xmlns:a16="http://schemas.microsoft.com/office/drawing/2014/main" id="{52DA699F-09C7-A64E-B784-457847EA027B}"/>
              </a:ext>
            </a:extLst>
          </p:cNvPr>
          <p:cNvPicPr>
            <a:picLocks noChangeAspect="1"/>
          </p:cNvPicPr>
          <p:nvPr/>
        </p:nvPicPr>
        <p:blipFill>
          <a:blip r:embed="rId3"/>
          <a:stretch>
            <a:fillRect/>
          </a:stretch>
        </p:blipFill>
        <p:spPr>
          <a:xfrm>
            <a:off x="6101543" y="2069142"/>
            <a:ext cx="5978085" cy="4698824"/>
          </a:xfrm>
          <a:prstGeom prst="rect">
            <a:avLst/>
          </a:prstGeom>
        </p:spPr>
      </p:pic>
    </p:spTree>
    <p:extLst>
      <p:ext uri="{BB962C8B-B14F-4D97-AF65-F5344CB8AC3E}">
        <p14:creationId xmlns:p14="http://schemas.microsoft.com/office/powerpoint/2010/main" val="18059936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Useful Built-In Functions </a:t>
            </a:r>
          </a:p>
        </p:txBody>
      </p:sp>
      <p:sp>
        <p:nvSpPr>
          <p:cNvPr id="3" name="Content Placeholder 2"/>
          <p:cNvSpPr>
            <a:spLocks noGrp="1"/>
          </p:cNvSpPr>
          <p:nvPr>
            <p:ph idx="1"/>
          </p:nvPr>
        </p:nvSpPr>
        <p:spPr>
          <a:xfrm>
            <a:off x="680321" y="2336872"/>
            <a:ext cx="10597279" cy="4234615"/>
          </a:xfrm>
        </p:spPr>
        <p:txBody>
          <a:bodyPr>
            <a:normAutofit/>
          </a:bodyPr>
          <a:lstStyle/>
          <a:p>
            <a:pPr marL="0" indent="0">
              <a:buNone/>
            </a:pPr>
            <a:r>
              <a:rPr lang="en-US" i="1" dirty="0"/>
              <a:t>any</a:t>
            </a:r>
            <a:r>
              <a:rPr lang="en-US" dirty="0"/>
              <a:t>: Iterates over a list/array and determines if at least one element is </a:t>
            </a:r>
            <a:r>
              <a:rPr lang="en-US" i="1" dirty="0"/>
              <a:t>True</a:t>
            </a:r>
            <a:r>
              <a:rPr lang="en-US" dirty="0"/>
              <a:t> </a:t>
            </a:r>
          </a:p>
          <a:p>
            <a:pPr marL="0" indent="0">
              <a:buNone/>
            </a:pPr>
            <a:r>
              <a:rPr lang="en-US" i="1" dirty="0"/>
              <a:t>all</a:t>
            </a:r>
            <a:r>
              <a:rPr lang="en-US" dirty="0"/>
              <a:t>: Iterates over a list/array and determines if all elements are </a:t>
            </a:r>
            <a:r>
              <a:rPr lang="en-US" i="1" dirty="0"/>
              <a:t>True</a:t>
            </a:r>
            <a:r>
              <a:rPr lang="en-US" dirty="0"/>
              <a:t> </a:t>
            </a:r>
            <a:endParaRPr lang="en-US" i="1" dirty="0"/>
          </a:p>
          <a:p>
            <a:pPr marL="0" indent="0">
              <a:buNone/>
            </a:pPr>
            <a:r>
              <a:rPr lang="en-US" i="1" dirty="0"/>
              <a:t>zip</a:t>
            </a:r>
            <a:r>
              <a:rPr lang="en-US" dirty="0"/>
              <a:t>: Combine lists/arrays into a 2-D list/array component-wise </a:t>
            </a:r>
            <a:endParaRPr lang="en-US" i="1" dirty="0"/>
          </a:p>
          <a:p>
            <a:pPr marL="0" indent="0">
              <a:buNone/>
            </a:pPr>
            <a:r>
              <a:rPr lang="en-US" i="1" dirty="0"/>
              <a:t>map</a:t>
            </a:r>
            <a:r>
              <a:rPr lang="en-US" dirty="0"/>
              <a:t>: Iterate a function over an array(s) of values </a:t>
            </a:r>
            <a:endParaRPr lang="en-US" i="1" dirty="0"/>
          </a:p>
          <a:p>
            <a:pPr marL="0" indent="0">
              <a:buNone/>
            </a:pPr>
            <a:r>
              <a:rPr lang="en-US" i="1" dirty="0"/>
              <a:t>filter</a:t>
            </a:r>
            <a:r>
              <a:rPr lang="en-US" dirty="0"/>
              <a:t>: Remove elements from a list/array which don’t meet specific criteria </a:t>
            </a:r>
          </a:p>
          <a:p>
            <a:pPr marL="0" indent="0">
              <a:buNone/>
            </a:pPr>
            <a:r>
              <a:rPr lang="en-US" i="1" dirty="0"/>
              <a:t>min</a:t>
            </a:r>
            <a:r>
              <a:rPr lang="en-US" dirty="0"/>
              <a:t>: Calculate minimum value of some set of numbers </a:t>
            </a:r>
            <a:endParaRPr lang="en-US" i="1" dirty="0"/>
          </a:p>
          <a:p>
            <a:pPr marL="0" indent="0">
              <a:buNone/>
            </a:pPr>
            <a:r>
              <a:rPr lang="en-US" i="1" dirty="0"/>
              <a:t>max</a:t>
            </a:r>
            <a:r>
              <a:rPr lang="en-US" dirty="0"/>
              <a:t>: Calculate maximum value of some set of numbers </a:t>
            </a:r>
            <a:endParaRPr lang="en-US" i="1" dirty="0"/>
          </a:p>
          <a:p>
            <a:pPr marL="0" indent="0">
              <a:buNone/>
            </a:pPr>
            <a:r>
              <a:rPr lang="en-US" dirty="0"/>
              <a:t>In python 3, </a:t>
            </a:r>
            <a:r>
              <a:rPr lang="en-US" i="1" dirty="0"/>
              <a:t>zip</a:t>
            </a:r>
            <a:r>
              <a:rPr lang="en-US" dirty="0"/>
              <a:t>, </a:t>
            </a:r>
            <a:r>
              <a:rPr lang="en-US" i="1" dirty="0"/>
              <a:t>map</a:t>
            </a:r>
            <a:r>
              <a:rPr lang="en-US" dirty="0"/>
              <a:t>, and </a:t>
            </a:r>
            <a:r>
              <a:rPr lang="en-US" i="1" dirty="0"/>
              <a:t>filter </a:t>
            </a:r>
            <a:r>
              <a:rPr lang="en-US" dirty="0"/>
              <a:t>return a special type of object which needs to be cast to a list, tuple, etc. </a:t>
            </a:r>
          </a:p>
          <a:p>
            <a:pPr marL="0" indent="0">
              <a:buNone/>
            </a:pPr>
            <a:endParaRPr lang="en-US" i="1" dirty="0"/>
          </a:p>
        </p:txBody>
      </p:sp>
    </p:spTree>
    <p:extLst>
      <p:ext uri="{BB962C8B-B14F-4D97-AF65-F5344CB8AC3E}">
        <p14:creationId xmlns:p14="http://schemas.microsoft.com/office/powerpoint/2010/main" val="59804263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946A97-EB7A-A620-DCC7-E0E3A0C022EB}"/>
              </a:ext>
            </a:extLst>
          </p:cNvPr>
          <p:cNvSpPr>
            <a:spLocks noGrp="1"/>
          </p:cNvSpPr>
          <p:nvPr>
            <p:ph type="title"/>
          </p:nvPr>
        </p:nvSpPr>
        <p:spPr/>
        <p:txBody>
          <a:bodyPr/>
          <a:lstStyle/>
          <a:p>
            <a:r>
              <a:rPr lang="en-US" dirty="0"/>
              <a:t>List Comprehension</a:t>
            </a:r>
          </a:p>
        </p:txBody>
      </p:sp>
      <p:sp>
        <p:nvSpPr>
          <p:cNvPr id="3" name="Content Placeholder 2">
            <a:extLst>
              <a:ext uri="{FF2B5EF4-FFF2-40B4-BE49-F238E27FC236}">
                <a16:creationId xmlns:a16="http://schemas.microsoft.com/office/drawing/2014/main" id="{A1E1E626-D204-37B7-6BE4-21F8C70393A8}"/>
              </a:ext>
            </a:extLst>
          </p:cNvPr>
          <p:cNvSpPr>
            <a:spLocks noGrp="1"/>
          </p:cNvSpPr>
          <p:nvPr>
            <p:ph idx="1"/>
          </p:nvPr>
        </p:nvSpPr>
        <p:spPr/>
        <p:txBody>
          <a:bodyPr/>
          <a:lstStyle/>
          <a:p>
            <a:pPr marL="0" indent="0">
              <a:buNone/>
            </a:pPr>
            <a:r>
              <a:rPr lang="en-US" dirty="0"/>
              <a:t>Let’s you create new lists from old lists in a more concise syntax. Very convenient for ‘trimming’ data in large datasets.</a:t>
            </a:r>
          </a:p>
          <a:p>
            <a:pPr marL="0" indent="0">
              <a:buNone/>
            </a:pPr>
            <a:endParaRPr lang="en-US" dirty="0"/>
          </a:p>
          <a:p>
            <a:pPr marL="0" indent="0">
              <a:buNone/>
            </a:pPr>
            <a:r>
              <a:rPr lang="en-US" dirty="0" err="1"/>
              <a:t>newlist</a:t>
            </a:r>
            <a:r>
              <a:rPr lang="en-US" dirty="0"/>
              <a:t> = [</a:t>
            </a:r>
            <a:r>
              <a:rPr lang="en-US" i="1" dirty="0"/>
              <a:t>expression</a:t>
            </a:r>
            <a:r>
              <a:rPr lang="en-US" dirty="0"/>
              <a:t> for </a:t>
            </a:r>
            <a:r>
              <a:rPr lang="en-US" i="1" dirty="0"/>
              <a:t>item</a:t>
            </a:r>
            <a:r>
              <a:rPr lang="en-US" dirty="0"/>
              <a:t> in </a:t>
            </a:r>
            <a:r>
              <a:rPr lang="en-US" i="1" dirty="0" err="1"/>
              <a:t>iterable</a:t>
            </a:r>
            <a:r>
              <a:rPr lang="en-US" dirty="0"/>
              <a:t> if </a:t>
            </a:r>
            <a:r>
              <a:rPr lang="en-US" i="1" dirty="0"/>
              <a:t>condition</a:t>
            </a:r>
            <a:r>
              <a:rPr lang="en-US" dirty="0"/>
              <a:t> == True]</a:t>
            </a:r>
          </a:p>
        </p:txBody>
      </p:sp>
      <p:pic>
        <p:nvPicPr>
          <p:cNvPr id="4" name="Picture 3">
            <a:extLst>
              <a:ext uri="{FF2B5EF4-FFF2-40B4-BE49-F238E27FC236}">
                <a16:creationId xmlns:a16="http://schemas.microsoft.com/office/drawing/2014/main" id="{4B452B28-08A0-D526-064C-055A0575141A}"/>
              </a:ext>
            </a:extLst>
          </p:cNvPr>
          <p:cNvPicPr>
            <a:picLocks noChangeAspect="1"/>
          </p:cNvPicPr>
          <p:nvPr/>
        </p:nvPicPr>
        <p:blipFill>
          <a:blip r:embed="rId2"/>
          <a:stretch>
            <a:fillRect/>
          </a:stretch>
        </p:blipFill>
        <p:spPr>
          <a:xfrm>
            <a:off x="1629363" y="4247257"/>
            <a:ext cx="8383465" cy="2519885"/>
          </a:xfrm>
          <a:prstGeom prst="rect">
            <a:avLst/>
          </a:prstGeom>
        </p:spPr>
      </p:pic>
    </p:spTree>
    <p:extLst>
      <p:ext uri="{BB962C8B-B14F-4D97-AF65-F5344CB8AC3E}">
        <p14:creationId xmlns:p14="http://schemas.microsoft.com/office/powerpoint/2010/main" val="34047170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6549F3-CF77-A129-6D9A-3E7BEE69495A}"/>
              </a:ext>
            </a:extLst>
          </p:cNvPr>
          <p:cNvSpPr>
            <a:spLocks noGrp="1"/>
          </p:cNvSpPr>
          <p:nvPr>
            <p:ph type="title"/>
          </p:nvPr>
        </p:nvSpPr>
        <p:spPr/>
        <p:txBody>
          <a:bodyPr/>
          <a:lstStyle/>
          <a:p>
            <a:r>
              <a:rPr lang="en-US" dirty="0"/>
              <a:t>Optimization</a:t>
            </a:r>
          </a:p>
        </p:txBody>
      </p:sp>
      <p:sp>
        <p:nvSpPr>
          <p:cNvPr id="3" name="Content Placeholder 2">
            <a:extLst>
              <a:ext uri="{FF2B5EF4-FFF2-40B4-BE49-F238E27FC236}">
                <a16:creationId xmlns:a16="http://schemas.microsoft.com/office/drawing/2014/main" id="{A44F3247-D350-27B4-738A-DA23DF8A1712}"/>
              </a:ext>
            </a:extLst>
          </p:cNvPr>
          <p:cNvSpPr>
            <a:spLocks noGrp="1"/>
          </p:cNvSpPr>
          <p:nvPr>
            <p:ph idx="1"/>
          </p:nvPr>
        </p:nvSpPr>
        <p:spPr/>
        <p:txBody>
          <a:bodyPr/>
          <a:lstStyle/>
          <a:p>
            <a:pPr marL="0" indent="0">
              <a:buNone/>
            </a:pPr>
            <a:r>
              <a:rPr lang="en-US" dirty="0"/>
              <a:t>Python is a high level programming language, so you need to use the features built into the language and its packages if you want your code to be fast.</a:t>
            </a:r>
          </a:p>
          <a:p>
            <a:pPr marL="0" indent="0">
              <a:buNone/>
            </a:pPr>
            <a:endParaRPr lang="en-US" dirty="0"/>
          </a:p>
          <a:p>
            <a:pPr marL="0" indent="0">
              <a:buNone/>
            </a:pPr>
            <a:r>
              <a:rPr lang="en-US" dirty="0"/>
              <a:t>Example: working with NumPy arrays. It is generally faster to use built in NumPy functions than to try to iterate over arrays yourself.</a:t>
            </a:r>
          </a:p>
          <a:p>
            <a:pPr marL="0" indent="0">
              <a:buNone/>
            </a:pPr>
            <a:endParaRPr lang="en-US" dirty="0"/>
          </a:p>
        </p:txBody>
      </p:sp>
    </p:spTree>
    <p:extLst>
      <p:ext uri="{BB962C8B-B14F-4D97-AF65-F5344CB8AC3E}">
        <p14:creationId xmlns:p14="http://schemas.microsoft.com/office/powerpoint/2010/main" val="16063707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D4E1C5-CFC6-FC0A-590E-11697D30FF2F}"/>
              </a:ext>
            </a:extLst>
          </p:cNvPr>
          <p:cNvSpPr>
            <a:spLocks noGrp="1"/>
          </p:cNvSpPr>
          <p:nvPr>
            <p:ph type="title"/>
          </p:nvPr>
        </p:nvSpPr>
        <p:spPr/>
        <p:txBody>
          <a:bodyPr/>
          <a:lstStyle/>
          <a:p>
            <a:r>
              <a:rPr lang="en-US" dirty="0"/>
              <a:t>Optimization</a:t>
            </a:r>
          </a:p>
        </p:txBody>
      </p:sp>
      <p:pic>
        <p:nvPicPr>
          <p:cNvPr id="4" name="Picture 3">
            <a:extLst>
              <a:ext uri="{FF2B5EF4-FFF2-40B4-BE49-F238E27FC236}">
                <a16:creationId xmlns:a16="http://schemas.microsoft.com/office/drawing/2014/main" id="{5382B612-E2AD-E928-AFA2-0621FFDAC9AE}"/>
              </a:ext>
            </a:extLst>
          </p:cNvPr>
          <p:cNvPicPr>
            <a:picLocks noChangeAspect="1"/>
          </p:cNvPicPr>
          <p:nvPr/>
        </p:nvPicPr>
        <p:blipFill>
          <a:blip r:embed="rId2"/>
          <a:stretch>
            <a:fillRect/>
          </a:stretch>
        </p:blipFill>
        <p:spPr>
          <a:xfrm>
            <a:off x="1693186" y="2073426"/>
            <a:ext cx="8805627" cy="4421158"/>
          </a:xfrm>
          <a:prstGeom prst="rect">
            <a:avLst/>
          </a:prstGeom>
        </p:spPr>
      </p:pic>
    </p:spTree>
    <p:extLst>
      <p:ext uri="{BB962C8B-B14F-4D97-AF65-F5344CB8AC3E}">
        <p14:creationId xmlns:p14="http://schemas.microsoft.com/office/powerpoint/2010/main" val="263879571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406BEF-E53E-5A11-AA75-B640B092E4D3}"/>
              </a:ext>
            </a:extLst>
          </p:cNvPr>
          <p:cNvSpPr>
            <a:spLocks noGrp="1"/>
          </p:cNvSpPr>
          <p:nvPr>
            <p:ph type="title"/>
          </p:nvPr>
        </p:nvSpPr>
        <p:spPr/>
        <p:txBody>
          <a:bodyPr/>
          <a:lstStyle/>
          <a:p>
            <a:r>
              <a:rPr lang="en-US" dirty="0"/>
              <a:t>Optimization</a:t>
            </a:r>
          </a:p>
        </p:txBody>
      </p:sp>
      <p:pic>
        <p:nvPicPr>
          <p:cNvPr id="4" name="Content Placeholder 3">
            <a:extLst>
              <a:ext uri="{FF2B5EF4-FFF2-40B4-BE49-F238E27FC236}">
                <a16:creationId xmlns:a16="http://schemas.microsoft.com/office/drawing/2014/main" id="{70F5EFCF-4245-1582-D1E5-721CC4F1D214}"/>
              </a:ext>
            </a:extLst>
          </p:cNvPr>
          <p:cNvPicPr>
            <a:picLocks noGrp="1" noChangeAspect="1"/>
          </p:cNvPicPr>
          <p:nvPr>
            <p:ph idx="1"/>
          </p:nvPr>
        </p:nvPicPr>
        <p:blipFill>
          <a:blip r:embed="rId3"/>
          <a:stretch>
            <a:fillRect/>
          </a:stretch>
        </p:blipFill>
        <p:spPr>
          <a:xfrm>
            <a:off x="4525084" y="2219570"/>
            <a:ext cx="6787685" cy="4356802"/>
          </a:xfrm>
          <a:prstGeom prst="rect">
            <a:avLst/>
          </a:prstGeom>
        </p:spPr>
      </p:pic>
      <p:sp>
        <p:nvSpPr>
          <p:cNvPr id="6" name="TextBox 5">
            <a:extLst>
              <a:ext uri="{FF2B5EF4-FFF2-40B4-BE49-F238E27FC236}">
                <a16:creationId xmlns:a16="http://schemas.microsoft.com/office/drawing/2014/main" id="{1461937A-1132-0E3B-F5DF-CB508BAE6B9F}"/>
              </a:ext>
            </a:extLst>
          </p:cNvPr>
          <p:cNvSpPr txBox="1"/>
          <p:nvPr/>
        </p:nvSpPr>
        <p:spPr>
          <a:xfrm>
            <a:off x="293076" y="2497015"/>
            <a:ext cx="4044461" cy="2677656"/>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Why is NumPy summation only faster when the array length gets huge?</a:t>
            </a:r>
          </a:p>
          <a:p>
            <a:endParaRPr lang="en-US" sz="2400" dirty="0">
              <a:latin typeface="Times New Roman" panose="02020603050405020304" pitchFamily="18" charset="0"/>
              <a:cs typeface="Times New Roman" panose="02020603050405020304" pitchFamily="18" charset="0"/>
            </a:endParaRPr>
          </a:p>
          <a:p>
            <a:r>
              <a:rPr lang="en-US" sz="2400" dirty="0">
                <a:latin typeface="Times New Roman" panose="02020603050405020304" pitchFamily="18" charset="0"/>
                <a:cs typeface="Times New Roman" panose="02020603050405020304" pitchFamily="18" charset="0"/>
              </a:rPr>
              <a:t>Hint: has nothing to do with the “size” of the numbers we are adding up.</a:t>
            </a:r>
          </a:p>
        </p:txBody>
      </p:sp>
    </p:spTree>
    <p:extLst>
      <p:ext uri="{BB962C8B-B14F-4D97-AF65-F5344CB8AC3E}">
        <p14:creationId xmlns:p14="http://schemas.microsoft.com/office/powerpoint/2010/main" val="190755063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D69442-5507-6F43-AA74-A3BBA99B5F91}"/>
              </a:ext>
            </a:extLst>
          </p:cNvPr>
          <p:cNvSpPr>
            <a:spLocks noGrp="1"/>
          </p:cNvSpPr>
          <p:nvPr>
            <p:ph type="title"/>
          </p:nvPr>
        </p:nvSpPr>
        <p:spPr/>
        <p:txBody>
          <a:bodyPr/>
          <a:lstStyle/>
          <a:p>
            <a:r>
              <a:rPr lang="en-US" dirty="0"/>
              <a:t>Optimization</a:t>
            </a:r>
          </a:p>
        </p:txBody>
      </p:sp>
      <p:sp>
        <p:nvSpPr>
          <p:cNvPr id="3" name="Content Placeholder 2">
            <a:extLst>
              <a:ext uri="{FF2B5EF4-FFF2-40B4-BE49-F238E27FC236}">
                <a16:creationId xmlns:a16="http://schemas.microsoft.com/office/drawing/2014/main" id="{21EEF4F3-CD9E-4FCA-DFC0-D63B8D2D3630}"/>
              </a:ext>
            </a:extLst>
          </p:cNvPr>
          <p:cNvSpPr>
            <a:spLocks noGrp="1"/>
          </p:cNvSpPr>
          <p:nvPr>
            <p:ph idx="1"/>
          </p:nvPr>
        </p:nvSpPr>
        <p:spPr>
          <a:xfrm>
            <a:off x="680321" y="2336872"/>
            <a:ext cx="9613861" cy="4239773"/>
          </a:xfrm>
        </p:spPr>
        <p:txBody>
          <a:bodyPr>
            <a:normAutofit/>
          </a:bodyPr>
          <a:lstStyle/>
          <a:p>
            <a:pPr marL="0" indent="0">
              <a:buNone/>
            </a:pPr>
            <a:r>
              <a:rPr lang="en-US" dirty="0"/>
              <a:t>A: NumPy is calling a function written in C when you run </a:t>
            </a:r>
            <a:r>
              <a:rPr lang="en-US" dirty="0" err="1"/>
              <a:t>np.sum</a:t>
            </a:r>
            <a:r>
              <a:rPr lang="en-US" dirty="0"/>
              <a:t>(). That function call has some overhead, which is causing the slow down for the smaller array sizes. However, that overhead is dwarfed in comparison to the gain in speed that C gives you once the array is big.</a:t>
            </a:r>
          </a:p>
          <a:p>
            <a:pPr marL="0" indent="0">
              <a:buNone/>
            </a:pPr>
            <a:endParaRPr lang="en-US" dirty="0"/>
          </a:p>
          <a:p>
            <a:pPr marL="0" indent="0">
              <a:buNone/>
            </a:pPr>
            <a:endParaRPr lang="en-US" dirty="0"/>
          </a:p>
          <a:p>
            <a:pPr marL="0" indent="0">
              <a:buNone/>
            </a:pPr>
            <a:r>
              <a:rPr lang="en-US" dirty="0"/>
              <a:t>LLMs are actually really good at making optimizations like this. You can paste a snippet of your code into Claude and ask something like: ”I am working with x type of data and want to optimize for y workload” and it will tell you what you need to change (or don’t) to get the best performance!</a:t>
            </a:r>
          </a:p>
        </p:txBody>
      </p:sp>
    </p:spTree>
    <p:extLst>
      <p:ext uri="{BB962C8B-B14F-4D97-AF65-F5344CB8AC3E}">
        <p14:creationId xmlns:p14="http://schemas.microsoft.com/office/powerpoint/2010/main" val="3339721735"/>
      </p:ext>
    </p:extLst>
  </p:cSld>
  <p:clrMapOvr>
    <a:masterClrMapping/>
  </p:clrMapOvr>
</p:sld>
</file>

<file path=ppt/theme/theme1.xml><?xml version="1.0" encoding="utf-8"?>
<a:theme xmlns:a="http://schemas.openxmlformats.org/drawingml/2006/main" name="Berlin">
  <a:themeElements>
    <a:clrScheme name="Berlin">
      <a:dk1>
        <a:sysClr val="windowText" lastClr="000000"/>
      </a:dk1>
      <a:lt1>
        <a:sysClr val="window" lastClr="FFFFFF"/>
      </a:lt1>
      <a:dk2>
        <a:srgbClr val="9D360E"/>
      </a:dk2>
      <a:lt2>
        <a:srgbClr val="E7E6E6"/>
      </a:lt2>
      <a:accent1>
        <a:srgbClr val="F09415"/>
      </a:accent1>
      <a:accent2>
        <a:srgbClr val="C1B56B"/>
      </a:accent2>
      <a:accent3>
        <a:srgbClr val="4BAF73"/>
      </a:accent3>
      <a:accent4>
        <a:srgbClr val="5AA6C0"/>
      </a:accent4>
      <a:accent5>
        <a:srgbClr val="D17DF9"/>
      </a:accent5>
      <a:accent6>
        <a:srgbClr val="FA7E5C"/>
      </a:accent6>
      <a:hlink>
        <a:srgbClr val="FFAE3E"/>
      </a:hlink>
      <a:folHlink>
        <a:srgbClr val="FCC77E"/>
      </a:folHlink>
    </a:clrScheme>
    <a:fontScheme name="Berlin">
      <a:majorFont>
        <a:latin typeface="Trebuchet MS" panose="020B060302020202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rebuchet MS" panose="020B0603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Berlin">
      <a:fillStyleLst>
        <a:solidFill>
          <a:schemeClr val="phClr"/>
        </a:solidFill>
        <a:gradFill rotWithShape="1">
          <a:gsLst>
            <a:gs pos="0">
              <a:schemeClr val="phClr">
                <a:tint val="60000"/>
                <a:satMod val="100000"/>
                <a:lumMod val="110000"/>
              </a:schemeClr>
            </a:gs>
            <a:gs pos="100000">
              <a:schemeClr val="phClr">
                <a:tint val="70000"/>
                <a:satMod val="100000"/>
                <a:lumMod val="100000"/>
              </a:schemeClr>
            </a:gs>
          </a:gsLst>
          <a:lin ang="5400000" scaled="0"/>
        </a:gradFill>
        <a:gradFill rotWithShape="1">
          <a:gsLst>
            <a:gs pos="0">
              <a:schemeClr val="phClr">
                <a:tint val="94000"/>
                <a:satMod val="103000"/>
                <a:lumMod val="102000"/>
              </a:schemeClr>
            </a:gs>
            <a:gs pos="50000">
              <a:schemeClr val="phClr">
                <a:shade val="100000"/>
                <a:satMod val="110000"/>
                <a:lumMod val="100000"/>
              </a:schemeClr>
            </a:gs>
            <a:gs pos="100000">
              <a:schemeClr val="phClr">
                <a:shade val="78000"/>
                <a:satMod val="120000"/>
                <a:lumMod val="99000"/>
              </a:schemeClr>
            </a:gs>
          </a:gsLst>
          <a:lin ang="54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6000"/>
                <a:shade val="100000"/>
                <a:hueMod val="270000"/>
                <a:satMod val="200000"/>
                <a:lumMod val="128000"/>
              </a:schemeClr>
            </a:gs>
            <a:gs pos="50000">
              <a:schemeClr val="phClr">
                <a:shade val="100000"/>
                <a:hueMod val="100000"/>
                <a:satMod val="110000"/>
                <a:lumMod val="130000"/>
              </a:schemeClr>
            </a:gs>
            <a:gs pos="100000">
              <a:schemeClr val="phClr">
                <a:shade val="78000"/>
                <a:hueMod val="44000"/>
                <a:satMod val="200000"/>
                <a:lumMod val="69000"/>
              </a:schemeClr>
            </a:gs>
          </a:gsLst>
          <a:lin ang="2520000" scaled="0"/>
        </a:gradFill>
      </a:bgFillStyleLst>
    </a:fmtScheme>
  </a:themeElements>
  <a:objectDefaults/>
  <a:extraClrSchemeLst/>
  <a:extLst>
    <a:ext uri="{05A4C25C-085E-4340-85A3-A5531E510DB2}">
      <thm15:themeFamily xmlns:thm15="http://schemas.microsoft.com/office/thememl/2012/main" name="Berlin" id="{7B5DBA9E-B069-418E-9360-A61BDD0615A4}" vid="{C0CBE056-4EF4-4D92-969E-947779DA7AA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Berlin</Template>
  <TotalTime>1054</TotalTime>
  <Words>3192</Words>
  <Application>Microsoft Macintosh PowerPoint</Application>
  <PresentationFormat>Widescreen</PresentationFormat>
  <Paragraphs>297</Paragraphs>
  <Slides>36</Slides>
  <Notes>22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36</vt:i4>
      </vt:variant>
    </vt:vector>
  </HeadingPairs>
  <TitlesOfParts>
    <vt:vector size="40" baseType="lpstr">
      <vt:lpstr>Arial</vt:lpstr>
      <vt:lpstr>Calibri</vt:lpstr>
      <vt:lpstr>Times New Roman</vt:lpstr>
      <vt:lpstr>Berlin</vt:lpstr>
      <vt:lpstr>Review</vt:lpstr>
      <vt:lpstr>Objectives</vt:lpstr>
      <vt:lpstr>Numeric Types </vt:lpstr>
      <vt:lpstr>Strings </vt:lpstr>
      <vt:lpstr>The Print Function</vt:lpstr>
      <vt:lpstr>Type Casting </vt:lpstr>
      <vt:lpstr>Import Statements </vt:lpstr>
      <vt:lpstr>List</vt:lpstr>
      <vt:lpstr>Tuple</vt:lpstr>
      <vt:lpstr>Set</vt:lpstr>
      <vt:lpstr>Dictionary</vt:lpstr>
      <vt:lpstr>Which Data Type Should I Use? </vt:lpstr>
      <vt:lpstr>Arrays </vt:lpstr>
      <vt:lpstr>Lists vs. Arrays </vt:lpstr>
      <vt:lpstr>Lists vs. Arrays </vt:lpstr>
      <vt:lpstr>Slicing</vt:lpstr>
      <vt:lpstr>Conditions</vt:lpstr>
      <vt:lpstr>Conditions</vt:lpstr>
      <vt:lpstr>Loops </vt:lpstr>
      <vt:lpstr>For-loops </vt:lpstr>
      <vt:lpstr>While-loops </vt:lpstr>
      <vt:lpstr>Functions </vt:lpstr>
      <vt:lpstr>Functions: The Implicit Return </vt:lpstr>
      <vt:lpstr>Functions: An Alternative for One-Liners </vt:lpstr>
      <vt:lpstr>Catching Exceptions: try-except</vt:lpstr>
      <vt:lpstr>Catching Exceptions: try-except-finally </vt:lpstr>
      <vt:lpstr>Pattern-Matching: Python 3.10</vt:lpstr>
      <vt:lpstr>Pattern-Matching: Python 3.10</vt:lpstr>
      <vt:lpstr>Pattern-Matching: Python 3.10</vt:lpstr>
      <vt:lpstr>Pattern-Matching: Python 3.10</vt:lpstr>
      <vt:lpstr>Useful Built-In Functions </vt:lpstr>
      <vt:lpstr>List Comprehension</vt:lpstr>
      <vt:lpstr>Optimization</vt:lpstr>
      <vt:lpstr>Optimization</vt:lpstr>
      <vt:lpstr>Optimization</vt:lpstr>
      <vt:lpstr>Optimization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Johnson, James William</dc:creator>
  <cp:lastModifiedBy>Datkuliak, Jackson</cp:lastModifiedBy>
  <cp:revision>365</cp:revision>
  <dcterms:created xsi:type="dcterms:W3CDTF">2020-02-27T18:08:37Z</dcterms:created>
  <dcterms:modified xsi:type="dcterms:W3CDTF">2026-05-11T00:35:52Z</dcterms:modified>
</cp:coreProperties>
</file>